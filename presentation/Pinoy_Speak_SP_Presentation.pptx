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6" d="100"/>
          <a:sy n="106" d="100"/>
        </p:scale>
        <p:origin x="79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710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I am Carl Timothy Clemente, and I will be presenting Pinoy Speak: A Trend Analysis and Contextual Lexicon System for Informal Filipino Text. This project focuses on informal Filipino and Taglish expressions that emerge online, especially slang words that are difficult to capture using static dictionaries. The main idea is to treat Filipino internet slang as dynamic linguistic data that can be collected, analyzed, validated, and presented through an educational web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Filipino users online frequently mix Filipino, English, and localized internet expressions. This produces Taglish and other informal forms that can be meaningful within a community but difficult for traditional NLP tools to understand. A static dictionary can define established words, but it cannot easily answer questions such as: when did a word start trending, how is it being used in context, and did its meaning shift? This is the gap that Pinoy Speak addresses.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this study is to develop and evaluate a dynamic lexicon and trend-analysis system for informal Filipino text. In practical terms, the system collects public informal text, detects candidate slang using lexical novelty, burstiness, and semantic shift indicators, reduces false positives through contextual checks, enriches accepted entries, and makes the results usable through a deployed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implementation uses public online text only. The corpus contains 175,481 archived records: 163,372 from Reddit, 12,075 from YouTube comments, and 34 chat interaction records from the deployed system. The Reddit collection focuses on 15 high-slang-density communities that represent university life, gaming, entertainment, programming, workplace experiences, and youth-oriented discourse.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Pinoy Speak follows a modular full-stack architecture. Public text enters through Reddit, YouTube, and chat sources. The backend preprocesses the text, applies filtering and detection, enriches accepted terms, and then exposes the results through user-facing features such as the dashboard, dictionary, translator, concordance, and Kuya Slang tutor.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detection pipeline does not depend on a single rule. It combines dictionary gating, subword novelty signals, FastText nearest-neighbor support, burstiness scores, and semantic-shift monitoring. For novel words, the system checks whether the term looks unfamiliar and whether it is rising in use. For known words, it checks whether the word shows unusual usage patterns that may indicate a shifted meaning.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major challenge is that not every unfamiliar word is slang, and not every dictionary word is non-slang. The system therefore uses morphological filtering and a context-window gate. Filipino affixes such as naka-, napaka-, nag-, and pinaka- are filtered to avoid treating ordinary Tagalog conjugations as slang. Ambiguous words are checked against surrounding Filipino particles and intensifiers before being accepted as slang.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deployed system is not only a backend pipeline. It is also a usable learning interface. The main modules include a dashboard for live statistics and trends, a searchable dictionary, the Kuya Slang tutoring chatbot, a translator or analyzer, a top slang view, a concordance search, and an about page.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used two instruments. First, a lexicon validation form was used to check whether 79 dictionary entries were actually used as Filipino or Taglish slang, correctly defined, naturally exemplified, and properly classified. Each item received three ratings. Second, a web application usability and bug tracking form was used to evaluate six modules of the deployed system. This produced 36 consented usability responses from 39 submissions.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lexicon validation results were positive. Out of 237 item-level judgments, 95.78 percent marked the entries as actually used in Filipino or Taglish slang. Definition correctness averaged 4.83 out of 5, and example naturalness averaged 4.75 out of 5. The final judgment showed that 87.76 percent were correct or acceptable, while a smaller portion needed minor revision or was marked as a possible false positive.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usability evaluation, the Dictionary had the highest module usability score at 9.36 out of 10, followed closely by the Tutor at 9.33. Navigation, Analyzer or Translator, Top Slang, and Dashboard also received high scores. These results suggest that users found the learning-oriented features useful and understandable.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show that Pinoy Speak is useful, but it should be understood as a semi-automated dynamic lexicon rather than a fully automatic authority. The system can collect, prioritize, and explain candidate slang, but human validation remains important because Filipino slang is context-sensitive and culturally grounded.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still limitations. The corpus is based on selected public online communities, so it does not represent all Filipino speakers or all regions. The usability sample is also an initial user feedback sample. For future work, the system should expand regional coverage, add more validators, improve ambiguous-word handling, add pronunciation support, improve chart interactions, and compute formal metrics such as precision, recall, false-positive rate, and inter-annotator agreement.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Pinoy Speak shows that informal Filipino and Taglish slang can be documented through a combination of computational detection, validation, and interactive presentation. The project contributes a deployed full-stack system, a dynamic lexicon workflow, a validation-backed evaluation, and an educational tool for understanding slang in context.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references and backup slide. If asked, I can explain that the study is grounded in literature on code-switching, FastText subword embeddings, semantic shift, retrieval-augmented generation, usability evaluation, and prior Filipino NLP work using human annotation.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411480" y="6537960"/>
            <a:ext cx="11384280" cy="0"/>
          </a:xfrm>
          <a:prstGeom prst="line">
            <a:avLst/>
          </a:prstGeom>
          <a:noFill/>
          <a:ln w="12700">
            <a:solidFill>
              <a:srgbClr val="123B52">
                <a:alpha val="55000"/>
              </a:srgbClr>
            </a:solidFill>
            <a:prstDash val="solid"/>
          </a:ln>
        </p:spPr>
        <p:txBody>
          <a:bodyPr/>
          <a:lstStyle/>
          <a:p>
            <a:endParaRPr lang="en-PH"/>
          </a:p>
        </p:txBody>
      </p:sp>
      <p:sp>
        <p:nvSpPr>
          <p:cNvPr id="3" name="Text 1"/>
          <p:cNvSpPr/>
          <p:nvPr/>
        </p:nvSpPr>
        <p:spPr>
          <a:xfrm>
            <a:off x="502920" y="6583680"/>
            <a:ext cx="4206240" cy="164592"/>
          </a:xfrm>
          <a:prstGeom prst="rect">
            <a:avLst/>
          </a:prstGeom>
          <a:noFill/>
          <a:ln/>
        </p:spPr>
        <p:txBody>
          <a:bodyPr wrap="square" lIns="0" tIns="0" rIns="0" bIns="0" rtlCol="0" anchor="ctr"/>
          <a:lstStyle/>
          <a:p>
            <a:pPr marL="0" indent="0">
              <a:buNone/>
            </a:pPr>
            <a:r>
              <a:rPr lang="en-US" sz="650" dirty="0">
                <a:solidFill>
                  <a:srgbClr val="8CB8C7"/>
                </a:solidFill>
                <a:latin typeface="Aptos" pitchFamily="34" charset="0"/>
                <a:ea typeface="Aptos" pitchFamily="34" charset="-122"/>
                <a:cs typeface="Aptos" pitchFamily="34" charset="-120"/>
              </a:rPr>
              <a:t>Pinoy Speak | Informal Filipino NLP</a:t>
            </a:r>
            <a:endParaRPr lang="en-US" sz="650" dirty="0"/>
          </a:p>
        </p:txBody>
      </p:sp>
      <p:sp>
        <p:nvSpPr>
          <p:cNvPr id="4" name="Text 2"/>
          <p:cNvSpPr/>
          <p:nvPr/>
        </p:nvSpPr>
        <p:spPr>
          <a:xfrm>
            <a:off x="10744200" y="6583680"/>
            <a:ext cx="914400" cy="164592"/>
          </a:xfrm>
          <a:prstGeom prst="rect">
            <a:avLst/>
          </a:prstGeom>
          <a:noFill/>
          <a:ln/>
        </p:spPr>
        <p:txBody>
          <a:bodyPr wrap="square" lIns="0" tIns="0" rIns="0" bIns="0" rtlCol="0" anchor="ctr"/>
          <a:lstStyle/>
          <a:p>
            <a:pPr marL="0" indent="0" algn="r">
              <a:buNone/>
            </a:pPr>
            <a:r>
              <a:rPr lang="en-US" sz="650" dirty="0">
                <a:solidFill>
                  <a:srgbClr val="8CB8C7"/>
                </a:solidFill>
                <a:latin typeface="Aptos" pitchFamily="34" charset="0"/>
                <a:ea typeface="Aptos" pitchFamily="34" charset="-122"/>
                <a:cs typeface="Aptos" pitchFamily="34" charset="-120"/>
              </a:rPr>
              <a:t>UPLB ICS</a:t>
            </a:r>
            <a:endParaRPr lang="en-US" sz="650" dirty="0"/>
          </a:p>
        </p:txBody>
      </p:sp>
      <p:sp>
        <p:nvSpPr>
          <p:cNvPr id="25"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6"/>
        </a:solidFill>
        <a:effectLst/>
      </p:bgPr>
    </p:bg>
    <p:spTree>
      <p:nvGrpSpPr>
        <p:cNvPr id="1" name=""/>
        <p:cNvGrpSpPr/>
        <p:nvPr/>
      </p:nvGrpSpPr>
      <p:grpSpPr>
        <a:xfrm>
          <a:off x="0" y="0"/>
          <a:ext cx="0" cy="0"/>
          <a:chOff x="0" y="0"/>
          <a:chExt cx="0" cy="0"/>
        </a:xfrm>
      </p:grpSpPr>
      <p:pic>
        <p:nvPicPr>
          <p:cNvPr id="2" name="Image 0" descr="/mnt/data/a_wide_dark_futuristic_digital_abstract_scene.png"/>
          <p:cNvPicPr>
            <a:picLocks noChangeAspect="1"/>
          </p:cNvPicPr>
          <p:nvPr/>
        </p:nvPicPr>
        <p:blipFill>
          <a:blip r:embed="rId3">
            <a:alphaModFix amt="98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426">
              <a:alpha val="84000"/>
            </a:srgbClr>
          </a:solidFill>
          <a:ln w="12700">
            <a:solidFill>
              <a:srgbClr val="333333">
                <a:alpha val="0"/>
              </a:srgbClr>
            </a:solidFill>
            <a:prstDash val="solid"/>
          </a:ln>
        </p:spPr>
        <p:txBody>
          <a:bodyPr/>
          <a:lstStyle/>
          <a:p>
            <a:endParaRPr lang="en-PH"/>
          </a:p>
        </p:txBody>
      </p:sp>
      <p:sp>
        <p:nvSpPr>
          <p:cNvPr id="4" name="Shape 1"/>
          <p:cNvSpPr/>
          <p:nvPr/>
        </p:nvSpPr>
        <p:spPr>
          <a:xfrm>
            <a:off x="0" y="0"/>
            <a:ext cx="12191695" cy="6858000"/>
          </a:xfrm>
          <a:prstGeom prst="rect">
            <a:avLst/>
          </a:prstGeom>
          <a:solidFill>
            <a:srgbClr val="071426">
              <a:alpha val="80000"/>
            </a:srgbClr>
          </a:solidFill>
          <a:ln w="12700">
            <a:solidFill>
              <a:srgbClr val="333333">
                <a:alpha val="0"/>
              </a:srgbClr>
            </a:solidFill>
            <a:prstDash val="solid"/>
          </a:ln>
        </p:spPr>
        <p:txBody>
          <a:bodyPr/>
          <a:lstStyle/>
          <a:p>
            <a:endParaRPr lang="en-PH"/>
          </a:p>
        </p:txBody>
      </p:sp>
      <p:sp>
        <p:nvSpPr>
          <p:cNvPr id="5" name="Text 2"/>
          <p:cNvSpPr/>
          <p:nvPr/>
        </p:nvSpPr>
        <p:spPr>
          <a:xfrm>
            <a:off x="658368" y="1051560"/>
            <a:ext cx="5760720" cy="685800"/>
          </a:xfrm>
          <a:prstGeom prst="rect">
            <a:avLst/>
          </a:prstGeom>
          <a:noFill/>
          <a:ln/>
        </p:spPr>
        <p:txBody>
          <a:bodyPr wrap="square" lIns="0" tIns="0" rIns="0" bIns="0" rtlCol="0" anchor="ctr"/>
          <a:lstStyle/>
          <a:p>
            <a:pPr marL="0" indent="0">
              <a:buNone/>
            </a:pPr>
            <a:r>
              <a:rPr lang="en-US" sz="4600" b="1" dirty="0">
                <a:solidFill>
                  <a:srgbClr val="F4FBFF"/>
                </a:solidFill>
                <a:latin typeface="Aptos Display" pitchFamily="34" charset="0"/>
                <a:ea typeface="Aptos Display" pitchFamily="34" charset="-122"/>
                <a:cs typeface="Aptos Display" pitchFamily="34" charset="-120"/>
              </a:rPr>
              <a:t>Pinoy Speak</a:t>
            </a:r>
            <a:endParaRPr lang="en-US" sz="4600" dirty="0"/>
          </a:p>
        </p:txBody>
      </p:sp>
      <p:sp>
        <p:nvSpPr>
          <p:cNvPr id="6" name="Text 3"/>
          <p:cNvSpPr/>
          <p:nvPr/>
        </p:nvSpPr>
        <p:spPr>
          <a:xfrm>
            <a:off x="694944" y="1847088"/>
            <a:ext cx="6126480" cy="749808"/>
          </a:xfrm>
          <a:prstGeom prst="rect">
            <a:avLst/>
          </a:prstGeom>
          <a:noFill/>
          <a:ln/>
        </p:spPr>
        <p:txBody>
          <a:bodyPr wrap="square" lIns="254" tIns="254" rIns="254" bIns="254" rtlCol="0" anchor="ctr">
            <a:normAutofit/>
          </a:bodyPr>
          <a:lstStyle/>
          <a:p>
            <a:pPr marL="0" indent="0">
              <a:buNone/>
            </a:pPr>
            <a:r>
              <a:rPr lang="en-US" sz="2000" dirty="0">
                <a:solidFill>
                  <a:srgbClr val="6CE5FF"/>
                </a:solidFill>
                <a:latin typeface="Aptos" pitchFamily="34" charset="0"/>
                <a:ea typeface="Aptos" pitchFamily="34" charset="-122"/>
                <a:cs typeface="Aptos" pitchFamily="34" charset="-120"/>
              </a:rPr>
              <a:t>A Trend Analysis and Contextual Lexicon System</a:t>
            </a:r>
            <a:endParaRPr lang="en-US" sz="2000" dirty="0"/>
          </a:p>
          <a:p>
            <a:pPr marL="0" indent="0">
              <a:buNone/>
            </a:pPr>
            <a:r>
              <a:rPr lang="en-US" sz="2000" dirty="0">
                <a:solidFill>
                  <a:srgbClr val="6CE5FF"/>
                </a:solidFill>
                <a:latin typeface="Aptos" pitchFamily="34" charset="0"/>
                <a:ea typeface="Aptos" pitchFamily="34" charset="-122"/>
                <a:cs typeface="Aptos" pitchFamily="34" charset="-120"/>
              </a:rPr>
              <a:t>for Informal Filipino Text</a:t>
            </a:r>
            <a:endParaRPr lang="en-US" sz="2000" dirty="0"/>
          </a:p>
        </p:txBody>
      </p:sp>
      <p:sp>
        <p:nvSpPr>
          <p:cNvPr id="7" name="Shape 4"/>
          <p:cNvSpPr/>
          <p:nvPr/>
        </p:nvSpPr>
        <p:spPr>
          <a:xfrm>
            <a:off x="713232" y="2788920"/>
            <a:ext cx="2834640" cy="0"/>
          </a:xfrm>
          <a:prstGeom prst="line">
            <a:avLst/>
          </a:prstGeom>
          <a:noFill/>
          <a:ln w="38100">
            <a:solidFill>
              <a:srgbClr val="7EF29D"/>
            </a:solidFill>
            <a:prstDash val="solid"/>
          </a:ln>
        </p:spPr>
        <p:txBody>
          <a:bodyPr/>
          <a:lstStyle/>
          <a:p>
            <a:endParaRPr lang="en-PH"/>
          </a:p>
        </p:txBody>
      </p:sp>
      <p:sp>
        <p:nvSpPr>
          <p:cNvPr id="8" name="Text 5"/>
          <p:cNvSpPr/>
          <p:nvPr/>
        </p:nvSpPr>
        <p:spPr>
          <a:xfrm>
            <a:off x="713232" y="2971800"/>
            <a:ext cx="5394960" cy="548640"/>
          </a:xfrm>
          <a:prstGeom prst="rect">
            <a:avLst/>
          </a:prstGeom>
          <a:noFill/>
          <a:ln/>
        </p:spPr>
        <p:txBody>
          <a:bodyPr wrap="square" lIns="254" tIns="254" rIns="254" bIns="254" rtlCol="0" anchor="ctr"/>
          <a:lstStyle/>
          <a:p>
            <a:pPr marL="0" indent="0">
              <a:buNone/>
            </a:pPr>
            <a:r>
              <a:rPr lang="en-US" sz="1200" dirty="0">
                <a:solidFill>
                  <a:srgbClr val="A7C3D4"/>
                </a:solidFill>
                <a:latin typeface="Aptos" pitchFamily="34" charset="0"/>
                <a:ea typeface="Aptos" pitchFamily="34" charset="-122"/>
                <a:cs typeface="Aptos" pitchFamily="34" charset="-120"/>
              </a:rPr>
              <a:t>Carl Timothy E. Clemente  |  Concepcion L. Khan</a:t>
            </a:r>
            <a:endParaRPr lang="en-US" sz="1200" dirty="0"/>
          </a:p>
          <a:p>
            <a:pPr marL="0" indent="0">
              <a:buNone/>
            </a:pPr>
            <a:r>
              <a:rPr lang="en-US" sz="1200" dirty="0">
                <a:solidFill>
                  <a:srgbClr val="A7C3D4"/>
                </a:solidFill>
                <a:latin typeface="Aptos" pitchFamily="34" charset="0"/>
                <a:ea typeface="Aptos" pitchFamily="34" charset="-122"/>
                <a:cs typeface="Aptos" pitchFamily="34" charset="-120"/>
              </a:rPr>
              <a:t>2026 ICS Undergraduate Research Symposium</a:t>
            </a:r>
            <a:endParaRPr lang="en-US" sz="1200" dirty="0"/>
          </a:p>
        </p:txBody>
      </p:sp>
      <p:sp>
        <p:nvSpPr>
          <p:cNvPr id="9" name="Shape 6"/>
          <p:cNvSpPr/>
          <p:nvPr/>
        </p:nvSpPr>
        <p:spPr>
          <a:xfrm>
            <a:off x="713232" y="3840480"/>
            <a:ext cx="1783080" cy="329184"/>
          </a:xfrm>
          <a:prstGeom prst="roundRect">
            <a:avLst>
              <a:gd name="adj" fmla="val 22222"/>
            </a:avLst>
          </a:prstGeom>
          <a:solidFill>
            <a:srgbClr val="2EE8E1">
              <a:alpha val="14000"/>
            </a:srgbClr>
          </a:solidFill>
          <a:ln w="12700">
            <a:solidFill>
              <a:srgbClr val="2EE8E1">
                <a:alpha val="70000"/>
              </a:srgbClr>
            </a:solidFill>
            <a:prstDash val="solid"/>
          </a:ln>
        </p:spPr>
        <p:txBody>
          <a:bodyPr/>
          <a:lstStyle/>
          <a:p>
            <a:endParaRPr lang="en-PH"/>
          </a:p>
        </p:txBody>
      </p:sp>
      <p:sp>
        <p:nvSpPr>
          <p:cNvPr id="10" name="Text 7"/>
          <p:cNvSpPr/>
          <p:nvPr/>
        </p:nvSpPr>
        <p:spPr>
          <a:xfrm>
            <a:off x="786384" y="3909060"/>
            <a:ext cx="163677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Informal Filipino NLP</a:t>
            </a:r>
            <a:endParaRPr lang="en-US" sz="880" dirty="0"/>
          </a:p>
        </p:txBody>
      </p:sp>
      <p:sp>
        <p:nvSpPr>
          <p:cNvPr id="11" name="Shape 8"/>
          <p:cNvSpPr/>
          <p:nvPr/>
        </p:nvSpPr>
        <p:spPr>
          <a:xfrm>
            <a:off x="2697480" y="3840480"/>
            <a:ext cx="1874520" cy="329184"/>
          </a:xfrm>
          <a:prstGeom prst="roundRect">
            <a:avLst>
              <a:gd name="adj" fmla="val 22222"/>
            </a:avLst>
          </a:prstGeom>
          <a:solidFill>
            <a:srgbClr val="7EF29D">
              <a:alpha val="14000"/>
            </a:srgbClr>
          </a:solidFill>
          <a:ln w="12700">
            <a:solidFill>
              <a:srgbClr val="7EF29D">
                <a:alpha val="70000"/>
              </a:srgbClr>
            </a:solidFill>
            <a:prstDash val="solid"/>
          </a:ln>
        </p:spPr>
        <p:txBody>
          <a:bodyPr/>
          <a:lstStyle/>
          <a:p>
            <a:endParaRPr lang="en-PH"/>
          </a:p>
        </p:txBody>
      </p:sp>
      <p:sp>
        <p:nvSpPr>
          <p:cNvPr id="12" name="Text 9"/>
          <p:cNvSpPr/>
          <p:nvPr/>
        </p:nvSpPr>
        <p:spPr>
          <a:xfrm>
            <a:off x="2770632" y="3909060"/>
            <a:ext cx="17282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FastText + Burstiness</a:t>
            </a:r>
            <a:endParaRPr lang="en-US" sz="880" dirty="0"/>
          </a:p>
        </p:txBody>
      </p:sp>
      <p:sp>
        <p:nvSpPr>
          <p:cNvPr id="13" name="Shape 10"/>
          <p:cNvSpPr/>
          <p:nvPr/>
        </p:nvSpPr>
        <p:spPr>
          <a:xfrm>
            <a:off x="4736592" y="3840480"/>
            <a:ext cx="16002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14" name="Text 11"/>
          <p:cNvSpPr/>
          <p:nvPr/>
        </p:nvSpPr>
        <p:spPr>
          <a:xfrm>
            <a:off x="4809744" y="3909060"/>
            <a:ext cx="14538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Human Validation</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Filipino internet slang changes fast</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Problem Context</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Problem Context</a:t>
            </a:r>
            <a:endParaRPr lang="en-US" sz="880" dirty="0"/>
          </a:p>
        </p:txBody>
      </p:sp>
      <p:sp>
        <p:nvSpPr>
          <p:cNvPr id="31" name="Shape 28"/>
          <p:cNvSpPr/>
          <p:nvPr/>
        </p:nvSpPr>
        <p:spPr>
          <a:xfrm>
            <a:off x="685800" y="1417320"/>
            <a:ext cx="3246120" cy="1325880"/>
          </a:xfrm>
          <a:prstGeom prst="roundRect">
            <a:avLst>
              <a:gd name="adj" fmla="val 9655"/>
            </a:avLst>
          </a:prstGeom>
          <a:solidFill>
            <a:srgbClr val="0E2638">
              <a:alpha val="95000"/>
            </a:srgbClr>
          </a:solidFill>
          <a:ln w="13970">
            <a:solidFill>
              <a:srgbClr val="FF6B7A">
                <a:alpha val="55000"/>
              </a:srgbClr>
            </a:solidFill>
            <a:prstDash val="solid"/>
          </a:ln>
        </p:spPr>
        <p:txBody>
          <a:bodyPr/>
          <a:lstStyle/>
          <a:p>
            <a:endParaRPr lang="en-PH"/>
          </a:p>
        </p:txBody>
      </p:sp>
      <p:sp>
        <p:nvSpPr>
          <p:cNvPr id="32" name="Shape 29"/>
          <p:cNvSpPr/>
          <p:nvPr/>
        </p:nvSpPr>
        <p:spPr>
          <a:xfrm>
            <a:off x="822960" y="1874520"/>
            <a:ext cx="2971800" cy="0"/>
          </a:xfrm>
          <a:prstGeom prst="line">
            <a:avLst/>
          </a:prstGeom>
          <a:noFill/>
          <a:ln w="15240">
            <a:solidFill>
              <a:srgbClr val="FF6B7A">
                <a:alpha val="70000"/>
              </a:srgbClr>
            </a:solidFill>
            <a:prstDash val="solid"/>
          </a:ln>
        </p:spPr>
        <p:txBody>
          <a:bodyPr/>
          <a:lstStyle/>
          <a:p>
            <a:endParaRPr lang="en-PH"/>
          </a:p>
        </p:txBody>
      </p:sp>
      <p:sp>
        <p:nvSpPr>
          <p:cNvPr id="33" name="Text 30"/>
          <p:cNvSpPr/>
          <p:nvPr/>
        </p:nvSpPr>
        <p:spPr>
          <a:xfrm>
            <a:off x="886968" y="1554480"/>
            <a:ext cx="2843784" cy="256032"/>
          </a:xfrm>
          <a:prstGeom prst="rect">
            <a:avLst/>
          </a:prstGeom>
          <a:noFill/>
          <a:ln/>
        </p:spPr>
        <p:txBody>
          <a:bodyPr wrap="square" lIns="0" tIns="0" rIns="0" bIns="0" rtlCol="0" anchor="ctr">
            <a:normAutofit/>
          </a:bodyPr>
          <a:lstStyle/>
          <a:p>
            <a:pPr marL="0" indent="0">
              <a:buNone/>
            </a:pPr>
            <a:r>
              <a:rPr lang="en-US" sz="1300" b="1" dirty="0">
                <a:solidFill>
                  <a:srgbClr val="FF6B7A"/>
                </a:solidFill>
                <a:latin typeface="Aptos Display" pitchFamily="34" charset="0"/>
                <a:ea typeface="Aptos Display" pitchFamily="34" charset="-122"/>
                <a:cs typeface="Aptos Display" pitchFamily="34" charset="-120"/>
              </a:rPr>
              <a:t>Static resources</a:t>
            </a:r>
            <a:endParaRPr lang="en-US" sz="1300" dirty="0"/>
          </a:p>
        </p:txBody>
      </p:sp>
      <p:sp>
        <p:nvSpPr>
          <p:cNvPr id="34" name="Text 31"/>
          <p:cNvSpPr/>
          <p:nvPr/>
        </p:nvSpPr>
        <p:spPr>
          <a:xfrm>
            <a:off x="886968" y="2011680"/>
            <a:ext cx="2843784" cy="61264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Traditional dictionaries are slow to reflect emerging online terms.</a:t>
            </a:r>
            <a:endParaRPr lang="en-US" sz="1100" dirty="0"/>
          </a:p>
        </p:txBody>
      </p:sp>
      <p:sp>
        <p:nvSpPr>
          <p:cNvPr id="35" name="Shape 32"/>
          <p:cNvSpPr/>
          <p:nvPr/>
        </p:nvSpPr>
        <p:spPr>
          <a:xfrm>
            <a:off x="4462272" y="1417320"/>
            <a:ext cx="3246120" cy="1325880"/>
          </a:xfrm>
          <a:prstGeom prst="roundRect">
            <a:avLst>
              <a:gd name="adj" fmla="val 9655"/>
            </a:avLst>
          </a:prstGeom>
          <a:solidFill>
            <a:srgbClr val="0E2638">
              <a:alpha val="95000"/>
            </a:srgbClr>
          </a:solidFill>
          <a:ln w="13970">
            <a:solidFill>
              <a:srgbClr val="2EE8E1">
                <a:alpha val="55000"/>
              </a:srgbClr>
            </a:solidFill>
            <a:prstDash val="solid"/>
          </a:ln>
        </p:spPr>
        <p:txBody>
          <a:bodyPr/>
          <a:lstStyle/>
          <a:p>
            <a:endParaRPr lang="en-PH"/>
          </a:p>
        </p:txBody>
      </p:sp>
      <p:sp>
        <p:nvSpPr>
          <p:cNvPr id="36" name="Shape 33"/>
          <p:cNvSpPr/>
          <p:nvPr/>
        </p:nvSpPr>
        <p:spPr>
          <a:xfrm>
            <a:off x="4599432" y="1874520"/>
            <a:ext cx="2971800" cy="0"/>
          </a:xfrm>
          <a:prstGeom prst="line">
            <a:avLst/>
          </a:prstGeom>
          <a:noFill/>
          <a:ln w="15240">
            <a:solidFill>
              <a:srgbClr val="2EE8E1">
                <a:alpha val="70000"/>
              </a:srgbClr>
            </a:solidFill>
            <a:prstDash val="solid"/>
          </a:ln>
        </p:spPr>
        <p:txBody>
          <a:bodyPr/>
          <a:lstStyle/>
          <a:p>
            <a:endParaRPr lang="en-PH"/>
          </a:p>
        </p:txBody>
      </p:sp>
      <p:sp>
        <p:nvSpPr>
          <p:cNvPr id="37" name="Text 34"/>
          <p:cNvSpPr/>
          <p:nvPr/>
        </p:nvSpPr>
        <p:spPr>
          <a:xfrm>
            <a:off x="4663440" y="1554480"/>
            <a:ext cx="284378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Context-sensitive meaning</a:t>
            </a:r>
            <a:endParaRPr lang="en-US" sz="1300" dirty="0"/>
          </a:p>
        </p:txBody>
      </p:sp>
      <p:sp>
        <p:nvSpPr>
          <p:cNvPr id="38" name="Text 35"/>
          <p:cNvSpPr/>
          <p:nvPr/>
        </p:nvSpPr>
        <p:spPr>
          <a:xfrm>
            <a:off x="4663440" y="2011680"/>
            <a:ext cx="2843784" cy="61264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Words like bet, solid, and awit may be ordinary or slang depending on the sentence.</a:t>
            </a:r>
            <a:endParaRPr lang="en-US" sz="1100" dirty="0"/>
          </a:p>
        </p:txBody>
      </p:sp>
      <p:sp>
        <p:nvSpPr>
          <p:cNvPr id="39" name="Shape 36"/>
          <p:cNvSpPr/>
          <p:nvPr/>
        </p:nvSpPr>
        <p:spPr>
          <a:xfrm>
            <a:off x="8229600" y="1417320"/>
            <a:ext cx="3246120" cy="1325880"/>
          </a:xfrm>
          <a:prstGeom prst="roundRect">
            <a:avLst>
              <a:gd name="adj" fmla="val 9655"/>
            </a:avLst>
          </a:prstGeom>
          <a:solidFill>
            <a:srgbClr val="0E2638">
              <a:alpha val="95000"/>
            </a:srgbClr>
          </a:solidFill>
          <a:ln w="13970">
            <a:solidFill>
              <a:srgbClr val="7EF29D">
                <a:alpha val="55000"/>
              </a:srgbClr>
            </a:solidFill>
            <a:prstDash val="solid"/>
          </a:ln>
        </p:spPr>
        <p:txBody>
          <a:bodyPr/>
          <a:lstStyle/>
          <a:p>
            <a:endParaRPr lang="en-PH"/>
          </a:p>
        </p:txBody>
      </p:sp>
      <p:sp>
        <p:nvSpPr>
          <p:cNvPr id="40" name="Shape 37"/>
          <p:cNvSpPr/>
          <p:nvPr/>
        </p:nvSpPr>
        <p:spPr>
          <a:xfrm>
            <a:off x="8366760" y="1874520"/>
            <a:ext cx="2971800" cy="0"/>
          </a:xfrm>
          <a:prstGeom prst="line">
            <a:avLst/>
          </a:prstGeom>
          <a:noFill/>
          <a:ln w="15240">
            <a:solidFill>
              <a:srgbClr val="7EF29D">
                <a:alpha val="70000"/>
              </a:srgbClr>
            </a:solidFill>
            <a:prstDash val="solid"/>
          </a:ln>
        </p:spPr>
        <p:txBody>
          <a:bodyPr/>
          <a:lstStyle/>
          <a:p>
            <a:endParaRPr lang="en-PH"/>
          </a:p>
        </p:txBody>
      </p:sp>
      <p:sp>
        <p:nvSpPr>
          <p:cNvPr id="41" name="Text 38"/>
          <p:cNvSpPr/>
          <p:nvPr/>
        </p:nvSpPr>
        <p:spPr>
          <a:xfrm>
            <a:off x="8430768" y="1554480"/>
            <a:ext cx="284378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Fast trend cycles</a:t>
            </a:r>
            <a:endParaRPr lang="en-US" sz="1300" dirty="0"/>
          </a:p>
        </p:txBody>
      </p:sp>
      <p:sp>
        <p:nvSpPr>
          <p:cNvPr id="42" name="Text 39"/>
          <p:cNvSpPr/>
          <p:nvPr/>
        </p:nvSpPr>
        <p:spPr>
          <a:xfrm>
            <a:off x="8430768" y="2011680"/>
            <a:ext cx="2843784" cy="61264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Slang may emerge, peak, shift meaning, and decline quickly.</a:t>
            </a:r>
            <a:endParaRPr lang="en-US" sz="1100" dirty="0"/>
          </a:p>
        </p:txBody>
      </p:sp>
      <p:sp>
        <p:nvSpPr>
          <p:cNvPr id="43" name="Text 40"/>
          <p:cNvSpPr/>
          <p:nvPr/>
        </p:nvSpPr>
        <p:spPr>
          <a:xfrm>
            <a:off x="713232" y="3182112"/>
            <a:ext cx="3840480" cy="237744"/>
          </a:xfrm>
          <a:prstGeom prst="rect">
            <a:avLst/>
          </a:prstGeom>
          <a:noFill/>
          <a:ln/>
        </p:spPr>
        <p:txBody>
          <a:bodyPr wrap="square" lIns="0" tIns="0" rIns="0" bIns="0" rtlCol="0" anchor="ctr"/>
          <a:lstStyle/>
          <a:p>
            <a:pPr marL="0" indent="0">
              <a:buNone/>
            </a:pPr>
            <a:r>
              <a:rPr lang="en-US" sz="1500" b="1" dirty="0">
                <a:solidFill>
                  <a:srgbClr val="F4FBFF"/>
                </a:solidFill>
                <a:latin typeface="Aptos Display" pitchFamily="34" charset="0"/>
                <a:ea typeface="Aptos Display" pitchFamily="34" charset="-122"/>
                <a:cs typeface="Aptos Display" pitchFamily="34" charset="-120"/>
              </a:rPr>
              <a:t>Examples of the target phenomenon</a:t>
            </a:r>
            <a:endParaRPr lang="en-US" sz="1500" dirty="0"/>
          </a:p>
        </p:txBody>
      </p:sp>
      <p:sp>
        <p:nvSpPr>
          <p:cNvPr id="44" name="Shape 41"/>
          <p:cNvSpPr/>
          <p:nvPr/>
        </p:nvSpPr>
        <p:spPr>
          <a:xfrm>
            <a:off x="749808" y="3657600"/>
            <a:ext cx="1417320" cy="329184"/>
          </a:xfrm>
          <a:prstGeom prst="roundRect">
            <a:avLst>
              <a:gd name="adj" fmla="val 22222"/>
            </a:avLst>
          </a:prstGeom>
          <a:solidFill>
            <a:srgbClr val="2EE8E1">
              <a:alpha val="14000"/>
            </a:srgbClr>
          </a:solidFill>
          <a:ln w="12700">
            <a:solidFill>
              <a:srgbClr val="2EE8E1">
                <a:alpha val="70000"/>
              </a:srgbClr>
            </a:solidFill>
            <a:prstDash val="solid"/>
          </a:ln>
        </p:spPr>
        <p:txBody>
          <a:bodyPr/>
          <a:lstStyle/>
          <a:p>
            <a:endParaRPr lang="en-PH"/>
          </a:p>
        </p:txBody>
      </p:sp>
      <p:sp>
        <p:nvSpPr>
          <p:cNvPr id="45" name="Text 42"/>
          <p:cNvSpPr/>
          <p:nvPr/>
        </p:nvSpPr>
        <p:spPr>
          <a:xfrm>
            <a:off x="822960" y="372618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omsim</a:t>
            </a:r>
            <a:endParaRPr lang="en-US" sz="880" dirty="0"/>
          </a:p>
        </p:txBody>
      </p:sp>
      <p:sp>
        <p:nvSpPr>
          <p:cNvPr id="46" name="Shape 43"/>
          <p:cNvSpPr/>
          <p:nvPr/>
        </p:nvSpPr>
        <p:spPr>
          <a:xfrm>
            <a:off x="2761488" y="3657600"/>
            <a:ext cx="1417320" cy="329184"/>
          </a:xfrm>
          <a:prstGeom prst="roundRect">
            <a:avLst>
              <a:gd name="adj" fmla="val 22222"/>
            </a:avLst>
          </a:prstGeom>
          <a:solidFill>
            <a:srgbClr val="7EF29D">
              <a:alpha val="14000"/>
            </a:srgbClr>
          </a:solidFill>
          <a:ln w="12700">
            <a:solidFill>
              <a:srgbClr val="7EF29D">
                <a:alpha val="70000"/>
              </a:srgbClr>
            </a:solidFill>
            <a:prstDash val="solid"/>
          </a:ln>
        </p:spPr>
        <p:txBody>
          <a:bodyPr/>
          <a:lstStyle/>
          <a:p>
            <a:endParaRPr lang="en-PH"/>
          </a:p>
        </p:txBody>
      </p:sp>
      <p:sp>
        <p:nvSpPr>
          <p:cNvPr id="47" name="Text 44"/>
          <p:cNvSpPr/>
          <p:nvPr/>
        </p:nvSpPr>
        <p:spPr>
          <a:xfrm>
            <a:off x="2834640" y="372618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forda</a:t>
            </a:r>
            <a:endParaRPr lang="en-US" sz="880" dirty="0"/>
          </a:p>
        </p:txBody>
      </p:sp>
      <p:sp>
        <p:nvSpPr>
          <p:cNvPr id="48" name="Shape 45"/>
          <p:cNvSpPr/>
          <p:nvPr/>
        </p:nvSpPr>
        <p:spPr>
          <a:xfrm>
            <a:off x="4773168" y="3657600"/>
            <a:ext cx="141732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49" name="Text 46"/>
          <p:cNvSpPr/>
          <p:nvPr/>
        </p:nvSpPr>
        <p:spPr>
          <a:xfrm>
            <a:off x="4846320" y="372618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lodi</a:t>
            </a:r>
            <a:endParaRPr lang="en-US" sz="880" dirty="0"/>
          </a:p>
        </p:txBody>
      </p:sp>
      <p:sp>
        <p:nvSpPr>
          <p:cNvPr id="50" name="Shape 47"/>
          <p:cNvSpPr/>
          <p:nvPr/>
        </p:nvSpPr>
        <p:spPr>
          <a:xfrm>
            <a:off x="6784848" y="3657600"/>
            <a:ext cx="1417320" cy="329184"/>
          </a:xfrm>
          <a:prstGeom prst="roundRect">
            <a:avLst>
              <a:gd name="adj" fmla="val 22222"/>
            </a:avLst>
          </a:prstGeom>
          <a:solidFill>
            <a:srgbClr val="FFD166">
              <a:alpha val="14000"/>
            </a:srgbClr>
          </a:solidFill>
          <a:ln w="12700">
            <a:solidFill>
              <a:srgbClr val="FFD166">
                <a:alpha val="70000"/>
              </a:srgbClr>
            </a:solidFill>
            <a:prstDash val="solid"/>
          </a:ln>
        </p:spPr>
        <p:txBody>
          <a:bodyPr/>
          <a:lstStyle/>
          <a:p>
            <a:endParaRPr lang="en-PH"/>
          </a:p>
        </p:txBody>
      </p:sp>
      <p:sp>
        <p:nvSpPr>
          <p:cNvPr id="51" name="Text 48"/>
          <p:cNvSpPr/>
          <p:nvPr/>
        </p:nvSpPr>
        <p:spPr>
          <a:xfrm>
            <a:off x="6858000" y="372618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dogshow</a:t>
            </a:r>
            <a:endParaRPr lang="en-US" sz="880" dirty="0"/>
          </a:p>
        </p:txBody>
      </p:sp>
      <p:sp>
        <p:nvSpPr>
          <p:cNvPr id="52" name="Shape 49"/>
          <p:cNvSpPr/>
          <p:nvPr/>
        </p:nvSpPr>
        <p:spPr>
          <a:xfrm>
            <a:off x="749808" y="4160520"/>
            <a:ext cx="1417320" cy="329184"/>
          </a:xfrm>
          <a:prstGeom prst="roundRect">
            <a:avLst>
              <a:gd name="adj" fmla="val 22222"/>
            </a:avLst>
          </a:prstGeom>
          <a:solidFill>
            <a:srgbClr val="2EE8E1">
              <a:alpha val="14000"/>
            </a:srgbClr>
          </a:solidFill>
          <a:ln w="12700">
            <a:solidFill>
              <a:srgbClr val="2EE8E1">
                <a:alpha val="70000"/>
              </a:srgbClr>
            </a:solidFill>
            <a:prstDash val="solid"/>
          </a:ln>
        </p:spPr>
        <p:txBody>
          <a:bodyPr/>
          <a:lstStyle/>
          <a:p>
            <a:endParaRPr lang="en-PH"/>
          </a:p>
        </p:txBody>
      </p:sp>
      <p:sp>
        <p:nvSpPr>
          <p:cNvPr id="53" name="Text 50"/>
          <p:cNvSpPr/>
          <p:nvPr/>
        </p:nvSpPr>
        <p:spPr>
          <a:xfrm>
            <a:off x="822960" y="422910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yarn</a:t>
            </a:r>
            <a:endParaRPr lang="en-US" sz="880" dirty="0"/>
          </a:p>
        </p:txBody>
      </p:sp>
      <p:sp>
        <p:nvSpPr>
          <p:cNvPr id="54" name="Shape 51"/>
          <p:cNvSpPr/>
          <p:nvPr/>
        </p:nvSpPr>
        <p:spPr>
          <a:xfrm>
            <a:off x="2761488" y="4160520"/>
            <a:ext cx="1417320" cy="329184"/>
          </a:xfrm>
          <a:prstGeom prst="roundRect">
            <a:avLst>
              <a:gd name="adj" fmla="val 22222"/>
            </a:avLst>
          </a:prstGeom>
          <a:solidFill>
            <a:srgbClr val="7EF29D">
              <a:alpha val="14000"/>
            </a:srgbClr>
          </a:solidFill>
          <a:ln w="12700">
            <a:solidFill>
              <a:srgbClr val="7EF29D">
                <a:alpha val="70000"/>
              </a:srgbClr>
            </a:solidFill>
            <a:prstDash val="solid"/>
          </a:ln>
        </p:spPr>
        <p:txBody>
          <a:bodyPr/>
          <a:lstStyle/>
          <a:p>
            <a:endParaRPr lang="en-PH"/>
          </a:p>
        </p:txBody>
      </p:sp>
      <p:sp>
        <p:nvSpPr>
          <p:cNvPr id="55" name="Text 52"/>
          <p:cNvSpPr/>
          <p:nvPr/>
        </p:nvSpPr>
        <p:spPr>
          <a:xfrm>
            <a:off x="2834640" y="422910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bet</a:t>
            </a:r>
            <a:endParaRPr lang="en-US" sz="880" dirty="0"/>
          </a:p>
        </p:txBody>
      </p:sp>
      <p:sp>
        <p:nvSpPr>
          <p:cNvPr id="56" name="Shape 53"/>
          <p:cNvSpPr/>
          <p:nvPr/>
        </p:nvSpPr>
        <p:spPr>
          <a:xfrm>
            <a:off x="4773168" y="4160520"/>
            <a:ext cx="141732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57" name="Text 54"/>
          <p:cNvSpPr/>
          <p:nvPr/>
        </p:nvSpPr>
        <p:spPr>
          <a:xfrm>
            <a:off x="4846320" y="422910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solid</a:t>
            </a:r>
            <a:endParaRPr lang="en-US" sz="880" dirty="0"/>
          </a:p>
        </p:txBody>
      </p:sp>
      <p:sp>
        <p:nvSpPr>
          <p:cNvPr id="58" name="Shape 55"/>
          <p:cNvSpPr/>
          <p:nvPr/>
        </p:nvSpPr>
        <p:spPr>
          <a:xfrm>
            <a:off x="6784848" y="4160520"/>
            <a:ext cx="1417320" cy="329184"/>
          </a:xfrm>
          <a:prstGeom prst="roundRect">
            <a:avLst>
              <a:gd name="adj" fmla="val 22222"/>
            </a:avLst>
          </a:prstGeom>
          <a:solidFill>
            <a:srgbClr val="FFD166">
              <a:alpha val="14000"/>
            </a:srgbClr>
          </a:solidFill>
          <a:ln w="12700">
            <a:solidFill>
              <a:srgbClr val="FFD166">
                <a:alpha val="70000"/>
              </a:srgbClr>
            </a:solidFill>
            <a:prstDash val="solid"/>
          </a:ln>
        </p:spPr>
        <p:txBody>
          <a:bodyPr/>
          <a:lstStyle/>
          <a:p>
            <a:endParaRPr lang="en-PH"/>
          </a:p>
        </p:txBody>
      </p:sp>
      <p:sp>
        <p:nvSpPr>
          <p:cNvPr id="59" name="Text 56"/>
          <p:cNvSpPr/>
          <p:nvPr/>
        </p:nvSpPr>
        <p:spPr>
          <a:xfrm>
            <a:off x="6858000" y="4229100"/>
            <a:ext cx="127101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awit</a:t>
            </a:r>
            <a:endParaRPr lang="en-US" sz="880" dirty="0"/>
          </a:p>
        </p:txBody>
      </p:sp>
      <p:sp>
        <p:nvSpPr>
          <p:cNvPr id="60" name="Text 57"/>
          <p:cNvSpPr/>
          <p:nvPr/>
        </p:nvSpPr>
        <p:spPr>
          <a:xfrm>
            <a:off x="777240" y="5074920"/>
            <a:ext cx="10515600" cy="502920"/>
          </a:xfrm>
          <a:prstGeom prst="rect">
            <a:avLst/>
          </a:prstGeom>
          <a:noFill/>
          <a:ln/>
        </p:spPr>
        <p:txBody>
          <a:bodyPr wrap="square" lIns="0" tIns="0" rIns="0" bIns="0" rtlCol="0" anchor="ctr"/>
          <a:lstStyle/>
          <a:p>
            <a:pPr marL="0" indent="0" algn="ctr">
              <a:buNone/>
            </a:pPr>
            <a:r>
              <a:rPr lang="en-US" sz="2200" b="1" dirty="0">
                <a:solidFill>
                  <a:srgbClr val="6CE5FF"/>
                </a:solidFill>
                <a:latin typeface="Aptos Display" pitchFamily="34" charset="0"/>
                <a:ea typeface="Aptos Display" pitchFamily="34" charset="-122"/>
                <a:cs typeface="Aptos Display" pitchFamily="34" charset="-120"/>
              </a:rPr>
              <a:t>Key issue: form alone is not enough; meaning depends on usage and context.</a:t>
            </a:r>
            <a:endParaRPr lang="en-US" sz="22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What this study builds</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Research Aim</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Research Aim</a:t>
            </a:r>
            <a:endParaRPr lang="en-US" sz="880" dirty="0"/>
          </a:p>
        </p:txBody>
      </p:sp>
      <p:sp>
        <p:nvSpPr>
          <p:cNvPr id="31" name="Shape 28"/>
          <p:cNvSpPr/>
          <p:nvPr/>
        </p:nvSpPr>
        <p:spPr>
          <a:xfrm>
            <a:off x="731520" y="1417320"/>
            <a:ext cx="3246120" cy="1097280"/>
          </a:xfrm>
          <a:prstGeom prst="roundRect">
            <a:avLst>
              <a:gd name="adj" fmla="val 11667"/>
            </a:avLst>
          </a:prstGeom>
          <a:solidFill>
            <a:srgbClr val="0E2638">
              <a:alpha val="95000"/>
            </a:srgbClr>
          </a:solidFill>
          <a:ln w="13970">
            <a:solidFill>
              <a:srgbClr val="2EE8E1">
                <a:alpha val="55000"/>
              </a:srgbClr>
            </a:solidFill>
            <a:prstDash val="solid"/>
          </a:ln>
        </p:spPr>
        <p:txBody>
          <a:bodyPr/>
          <a:lstStyle/>
          <a:p>
            <a:endParaRPr lang="en-PH"/>
          </a:p>
        </p:txBody>
      </p:sp>
      <p:sp>
        <p:nvSpPr>
          <p:cNvPr id="32" name="Shape 29"/>
          <p:cNvSpPr/>
          <p:nvPr/>
        </p:nvSpPr>
        <p:spPr>
          <a:xfrm>
            <a:off x="868680" y="1874520"/>
            <a:ext cx="2971800" cy="0"/>
          </a:xfrm>
          <a:prstGeom prst="line">
            <a:avLst/>
          </a:prstGeom>
          <a:noFill/>
          <a:ln w="15240">
            <a:solidFill>
              <a:srgbClr val="2EE8E1">
                <a:alpha val="70000"/>
              </a:srgbClr>
            </a:solidFill>
            <a:prstDash val="solid"/>
          </a:ln>
        </p:spPr>
        <p:txBody>
          <a:bodyPr/>
          <a:lstStyle/>
          <a:p>
            <a:endParaRPr lang="en-PH"/>
          </a:p>
        </p:txBody>
      </p:sp>
      <p:sp>
        <p:nvSpPr>
          <p:cNvPr id="33" name="Text 30"/>
          <p:cNvSpPr/>
          <p:nvPr/>
        </p:nvSpPr>
        <p:spPr>
          <a:xfrm>
            <a:off x="932688" y="1554480"/>
            <a:ext cx="284378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Collect</a:t>
            </a:r>
            <a:endParaRPr lang="en-US" sz="1300" dirty="0"/>
          </a:p>
        </p:txBody>
      </p:sp>
      <p:sp>
        <p:nvSpPr>
          <p:cNvPr id="34" name="Text 31"/>
          <p:cNvSpPr/>
          <p:nvPr/>
        </p:nvSpPr>
        <p:spPr>
          <a:xfrm>
            <a:off x="932688" y="2011680"/>
            <a:ext cx="2843784" cy="38404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public informal Filipino and Taglish text</a:t>
            </a:r>
            <a:endParaRPr lang="en-US" sz="1050" dirty="0"/>
          </a:p>
        </p:txBody>
      </p:sp>
      <p:sp>
        <p:nvSpPr>
          <p:cNvPr id="35" name="Shape 32"/>
          <p:cNvSpPr/>
          <p:nvPr/>
        </p:nvSpPr>
        <p:spPr>
          <a:xfrm>
            <a:off x="4526280" y="1417320"/>
            <a:ext cx="3246120" cy="1097280"/>
          </a:xfrm>
          <a:prstGeom prst="roundRect">
            <a:avLst>
              <a:gd name="adj" fmla="val 11667"/>
            </a:avLst>
          </a:prstGeom>
          <a:solidFill>
            <a:srgbClr val="0E2638">
              <a:alpha val="95000"/>
            </a:srgbClr>
          </a:solidFill>
          <a:ln w="13970">
            <a:solidFill>
              <a:srgbClr val="7EF29D">
                <a:alpha val="55000"/>
              </a:srgbClr>
            </a:solidFill>
            <a:prstDash val="solid"/>
          </a:ln>
        </p:spPr>
        <p:txBody>
          <a:bodyPr/>
          <a:lstStyle/>
          <a:p>
            <a:endParaRPr lang="en-PH"/>
          </a:p>
        </p:txBody>
      </p:sp>
      <p:sp>
        <p:nvSpPr>
          <p:cNvPr id="36" name="Shape 33"/>
          <p:cNvSpPr/>
          <p:nvPr/>
        </p:nvSpPr>
        <p:spPr>
          <a:xfrm>
            <a:off x="4663440" y="1874520"/>
            <a:ext cx="2971800" cy="0"/>
          </a:xfrm>
          <a:prstGeom prst="line">
            <a:avLst/>
          </a:prstGeom>
          <a:noFill/>
          <a:ln w="15240">
            <a:solidFill>
              <a:srgbClr val="7EF29D">
                <a:alpha val="70000"/>
              </a:srgbClr>
            </a:solidFill>
            <a:prstDash val="solid"/>
          </a:ln>
        </p:spPr>
        <p:txBody>
          <a:bodyPr/>
          <a:lstStyle/>
          <a:p>
            <a:endParaRPr lang="en-PH"/>
          </a:p>
        </p:txBody>
      </p:sp>
      <p:sp>
        <p:nvSpPr>
          <p:cNvPr id="37" name="Text 34"/>
          <p:cNvSpPr/>
          <p:nvPr/>
        </p:nvSpPr>
        <p:spPr>
          <a:xfrm>
            <a:off x="4727448" y="1554480"/>
            <a:ext cx="284378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Detect</a:t>
            </a:r>
            <a:endParaRPr lang="en-US" sz="1300" dirty="0"/>
          </a:p>
        </p:txBody>
      </p:sp>
      <p:sp>
        <p:nvSpPr>
          <p:cNvPr id="38" name="Text 35"/>
          <p:cNvSpPr/>
          <p:nvPr/>
        </p:nvSpPr>
        <p:spPr>
          <a:xfrm>
            <a:off x="4727448" y="2011680"/>
            <a:ext cx="2843784" cy="38404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emerging slang candidates and semantic shifts</a:t>
            </a:r>
            <a:endParaRPr lang="en-US" sz="1050" dirty="0"/>
          </a:p>
        </p:txBody>
      </p:sp>
      <p:sp>
        <p:nvSpPr>
          <p:cNvPr id="39" name="Shape 36"/>
          <p:cNvSpPr/>
          <p:nvPr/>
        </p:nvSpPr>
        <p:spPr>
          <a:xfrm>
            <a:off x="8321040" y="1417320"/>
            <a:ext cx="3246120" cy="1097280"/>
          </a:xfrm>
          <a:prstGeom prst="roundRect">
            <a:avLst>
              <a:gd name="adj" fmla="val 11667"/>
            </a:avLst>
          </a:prstGeom>
          <a:solidFill>
            <a:srgbClr val="0E2638">
              <a:alpha val="95000"/>
            </a:srgbClr>
          </a:solidFill>
          <a:ln w="13970">
            <a:solidFill>
              <a:srgbClr val="B884FF">
                <a:alpha val="55000"/>
              </a:srgbClr>
            </a:solidFill>
            <a:prstDash val="solid"/>
          </a:ln>
        </p:spPr>
        <p:txBody>
          <a:bodyPr/>
          <a:lstStyle/>
          <a:p>
            <a:endParaRPr lang="en-PH"/>
          </a:p>
        </p:txBody>
      </p:sp>
      <p:sp>
        <p:nvSpPr>
          <p:cNvPr id="40" name="Shape 37"/>
          <p:cNvSpPr/>
          <p:nvPr/>
        </p:nvSpPr>
        <p:spPr>
          <a:xfrm>
            <a:off x="8458200" y="1874520"/>
            <a:ext cx="2971800" cy="0"/>
          </a:xfrm>
          <a:prstGeom prst="line">
            <a:avLst/>
          </a:prstGeom>
          <a:noFill/>
          <a:ln w="15240">
            <a:solidFill>
              <a:srgbClr val="B884FF">
                <a:alpha val="70000"/>
              </a:srgbClr>
            </a:solidFill>
            <a:prstDash val="solid"/>
          </a:ln>
        </p:spPr>
        <p:txBody>
          <a:bodyPr/>
          <a:lstStyle/>
          <a:p>
            <a:endParaRPr lang="en-PH"/>
          </a:p>
        </p:txBody>
      </p:sp>
      <p:sp>
        <p:nvSpPr>
          <p:cNvPr id="41" name="Text 38"/>
          <p:cNvSpPr/>
          <p:nvPr/>
        </p:nvSpPr>
        <p:spPr>
          <a:xfrm>
            <a:off x="8522208" y="1554480"/>
            <a:ext cx="284378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Filter</a:t>
            </a:r>
            <a:endParaRPr lang="en-US" sz="1300" dirty="0"/>
          </a:p>
        </p:txBody>
      </p:sp>
      <p:sp>
        <p:nvSpPr>
          <p:cNvPr id="42" name="Text 39"/>
          <p:cNvSpPr/>
          <p:nvPr/>
        </p:nvSpPr>
        <p:spPr>
          <a:xfrm>
            <a:off x="8522208" y="2011680"/>
            <a:ext cx="2843784" cy="38404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false positives using morphology and context</a:t>
            </a:r>
            <a:endParaRPr lang="en-US" sz="1050" dirty="0"/>
          </a:p>
        </p:txBody>
      </p:sp>
      <p:sp>
        <p:nvSpPr>
          <p:cNvPr id="43" name="Shape 40"/>
          <p:cNvSpPr/>
          <p:nvPr/>
        </p:nvSpPr>
        <p:spPr>
          <a:xfrm>
            <a:off x="731520" y="2971800"/>
            <a:ext cx="3246120" cy="1097280"/>
          </a:xfrm>
          <a:prstGeom prst="roundRect">
            <a:avLst>
              <a:gd name="adj" fmla="val 11667"/>
            </a:avLst>
          </a:prstGeom>
          <a:solidFill>
            <a:srgbClr val="0E2638">
              <a:alpha val="95000"/>
            </a:srgbClr>
          </a:solidFill>
          <a:ln w="13970">
            <a:solidFill>
              <a:srgbClr val="2EE8E1">
                <a:alpha val="55000"/>
              </a:srgbClr>
            </a:solidFill>
            <a:prstDash val="solid"/>
          </a:ln>
        </p:spPr>
        <p:txBody>
          <a:bodyPr/>
          <a:lstStyle/>
          <a:p>
            <a:endParaRPr lang="en-PH"/>
          </a:p>
        </p:txBody>
      </p:sp>
      <p:sp>
        <p:nvSpPr>
          <p:cNvPr id="44" name="Shape 41"/>
          <p:cNvSpPr/>
          <p:nvPr/>
        </p:nvSpPr>
        <p:spPr>
          <a:xfrm>
            <a:off x="868680" y="3429000"/>
            <a:ext cx="2971800" cy="0"/>
          </a:xfrm>
          <a:prstGeom prst="line">
            <a:avLst/>
          </a:prstGeom>
          <a:noFill/>
          <a:ln w="15240">
            <a:solidFill>
              <a:srgbClr val="2EE8E1">
                <a:alpha val="70000"/>
              </a:srgbClr>
            </a:solidFill>
            <a:prstDash val="solid"/>
          </a:ln>
        </p:spPr>
        <p:txBody>
          <a:bodyPr/>
          <a:lstStyle/>
          <a:p>
            <a:endParaRPr lang="en-PH"/>
          </a:p>
        </p:txBody>
      </p:sp>
      <p:sp>
        <p:nvSpPr>
          <p:cNvPr id="45" name="Text 42"/>
          <p:cNvSpPr/>
          <p:nvPr/>
        </p:nvSpPr>
        <p:spPr>
          <a:xfrm>
            <a:off x="932688" y="3108960"/>
            <a:ext cx="284378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Enrich</a:t>
            </a:r>
            <a:endParaRPr lang="en-US" sz="1300" dirty="0"/>
          </a:p>
        </p:txBody>
      </p:sp>
      <p:sp>
        <p:nvSpPr>
          <p:cNvPr id="46" name="Text 43"/>
          <p:cNvSpPr/>
          <p:nvPr/>
        </p:nvSpPr>
        <p:spPr>
          <a:xfrm>
            <a:off x="932688" y="3566160"/>
            <a:ext cx="2843784" cy="38404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definitions, examples, origins, and formation types</a:t>
            </a:r>
            <a:endParaRPr lang="en-US" sz="1050" dirty="0"/>
          </a:p>
        </p:txBody>
      </p:sp>
      <p:sp>
        <p:nvSpPr>
          <p:cNvPr id="47" name="Shape 44"/>
          <p:cNvSpPr/>
          <p:nvPr/>
        </p:nvSpPr>
        <p:spPr>
          <a:xfrm>
            <a:off x="4526280" y="2971800"/>
            <a:ext cx="3246120" cy="1097280"/>
          </a:xfrm>
          <a:prstGeom prst="roundRect">
            <a:avLst>
              <a:gd name="adj" fmla="val 11667"/>
            </a:avLst>
          </a:prstGeom>
          <a:solidFill>
            <a:srgbClr val="0E2638">
              <a:alpha val="95000"/>
            </a:srgbClr>
          </a:solidFill>
          <a:ln w="13970">
            <a:solidFill>
              <a:srgbClr val="7EF29D">
                <a:alpha val="55000"/>
              </a:srgbClr>
            </a:solidFill>
            <a:prstDash val="solid"/>
          </a:ln>
        </p:spPr>
        <p:txBody>
          <a:bodyPr/>
          <a:lstStyle/>
          <a:p>
            <a:endParaRPr lang="en-PH"/>
          </a:p>
        </p:txBody>
      </p:sp>
      <p:sp>
        <p:nvSpPr>
          <p:cNvPr id="48" name="Shape 45"/>
          <p:cNvSpPr/>
          <p:nvPr/>
        </p:nvSpPr>
        <p:spPr>
          <a:xfrm>
            <a:off x="4663440" y="3429000"/>
            <a:ext cx="2971800" cy="0"/>
          </a:xfrm>
          <a:prstGeom prst="line">
            <a:avLst/>
          </a:prstGeom>
          <a:noFill/>
          <a:ln w="15240">
            <a:solidFill>
              <a:srgbClr val="7EF29D">
                <a:alpha val="70000"/>
              </a:srgbClr>
            </a:solidFill>
            <a:prstDash val="solid"/>
          </a:ln>
        </p:spPr>
        <p:txBody>
          <a:bodyPr/>
          <a:lstStyle/>
          <a:p>
            <a:endParaRPr lang="en-PH"/>
          </a:p>
        </p:txBody>
      </p:sp>
      <p:sp>
        <p:nvSpPr>
          <p:cNvPr id="49" name="Text 46"/>
          <p:cNvSpPr/>
          <p:nvPr/>
        </p:nvSpPr>
        <p:spPr>
          <a:xfrm>
            <a:off x="4727448" y="3108960"/>
            <a:ext cx="284378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Present</a:t>
            </a:r>
            <a:endParaRPr lang="en-US" sz="1300" dirty="0"/>
          </a:p>
        </p:txBody>
      </p:sp>
      <p:sp>
        <p:nvSpPr>
          <p:cNvPr id="50" name="Text 47"/>
          <p:cNvSpPr/>
          <p:nvPr/>
        </p:nvSpPr>
        <p:spPr>
          <a:xfrm>
            <a:off x="4727448" y="3566160"/>
            <a:ext cx="2843784" cy="38404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dictionary, trends, analyzer, concordance, and tutor</a:t>
            </a:r>
            <a:endParaRPr lang="en-US" sz="1050" dirty="0"/>
          </a:p>
        </p:txBody>
      </p:sp>
      <p:sp>
        <p:nvSpPr>
          <p:cNvPr id="51" name="Shape 48"/>
          <p:cNvSpPr/>
          <p:nvPr/>
        </p:nvSpPr>
        <p:spPr>
          <a:xfrm>
            <a:off x="8321040" y="2971800"/>
            <a:ext cx="3246120" cy="1097280"/>
          </a:xfrm>
          <a:prstGeom prst="roundRect">
            <a:avLst>
              <a:gd name="adj" fmla="val 11667"/>
            </a:avLst>
          </a:prstGeom>
          <a:solidFill>
            <a:srgbClr val="0E2638">
              <a:alpha val="95000"/>
            </a:srgbClr>
          </a:solidFill>
          <a:ln w="13970">
            <a:solidFill>
              <a:srgbClr val="B884FF">
                <a:alpha val="55000"/>
              </a:srgbClr>
            </a:solidFill>
            <a:prstDash val="solid"/>
          </a:ln>
        </p:spPr>
        <p:txBody>
          <a:bodyPr/>
          <a:lstStyle/>
          <a:p>
            <a:endParaRPr lang="en-PH"/>
          </a:p>
        </p:txBody>
      </p:sp>
      <p:sp>
        <p:nvSpPr>
          <p:cNvPr id="52" name="Shape 49"/>
          <p:cNvSpPr/>
          <p:nvPr/>
        </p:nvSpPr>
        <p:spPr>
          <a:xfrm>
            <a:off x="8458200" y="3429000"/>
            <a:ext cx="2971800" cy="0"/>
          </a:xfrm>
          <a:prstGeom prst="line">
            <a:avLst/>
          </a:prstGeom>
          <a:noFill/>
          <a:ln w="15240">
            <a:solidFill>
              <a:srgbClr val="B884FF">
                <a:alpha val="70000"/>
              </a:srgbClr>
            </a:solidFill>
            <a:prstDash val="solid"/>
          </a:ln>
        </p:spPr>
        <p:txBody>
          <a:bodyPr/>
          <a:lstStyle/>
          <a:p>
            <a:endParaRPr lang="en-PH"/>
          </a:p>
        </p:txBody>
      </p:sp>
      <p:sp>
        <p:nvSpPr>
          <p:cNvPr id="53" name="Text 50"/>
          <p:cNvSpPr/>
          <p:nvPr/>
        </p:nvSpPr>
        <p:spPr>
          <a:xfrm>
            <a:off x="8522208" y="3108960"/>
            <a:ext cx="284378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Evaluate</a:t>
            </a:r>
            <a:endParaRPr lang="en-US" sz="1300" dirty="0"/>
          </a:p>
        </p:txBody>
      </p:sp>
      <p:sp>
        <p:nvSpPr>
          <p:cNvPr id="54" name="Text 51"/>
          <p:cNvSpPr/>
          <p:nvPr/>
        </p:nvSpPr>
        <p:spPr>
          <a:xfrm>
            <a:off x="8522208" y="3566160"/>
            <a:ext cx="2843784" cy="38404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lexicon quality and web-app usability</a:t>
            </a:r>
            <a:endParaRPr lang="en-US" sz="1050" dirty="0"/>
          </a:p>
        </p:txBody>
      </p:sp>
      <p:sp>
        <p:nvSpPr>
          <p:cNvPr id="55" name="Text 52"/>
          <p:cNvSpPr/>
          <p:nvPr/>
        </p:nvSpPr>
        <p:spPr>
          <a:xfrm>
            <a:off x="1143000" y="5102352"/>
            <a:ext cx="9875520" cy="411480"/>
          </a:xfrm>
          <a:prstGeom prst="rect">
            <a:avLst/>
          </a:prstGeom>
          <a:noFill/>
          <a:ln/>
        </p:spPr>
        <p:txBody>
          <a:bodyPr wrap="square" lIns="0" tIns="0" rIns="0" bIns="0" rtlCol="0" anchor="ctr"/>
          <a:lstStyle/>
          <a:p>
            <a:pPr marL="0" indent="0" algn="ctr">
              <a:buNone/>
            </a:pPr>
            <a:r>
              <a:rPr lang="en-US" sz="2100" b="1" dirty="0">
                <a:solidFill>
                  <a:srgbClr val="7EF29D"/>
                </a:solidFill>
                <a:latin typeface="Aptos Display" pitchFamily="34" charset="0"/>
                <a:ea typeface="Aptos Display" pitchFamily="34" charset="-122"/>
                <a:cs typeface="Aptos Display" pitchFamily="34" charset="-120"/>
              </a:rPr>
              <a:t>Output: a deployed, application-oriented Filipino NLP system</a:t>
            </a:r>
            <a:endParaRPr lang="en-US" sz="21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426"/>
        </a:solidFill>
        <a:effectLst/>
      </p:bgPr>
    </p:bg>
    <p:spTree>
      <p:nvGrpSpPr>
        <p:cNvPr id="1" name=""/>
        <p:cNvGrpSpPr/>
        <p:nvPr/>
      </p:nvGrpSpPr>
      <p:grpSpPr>
        <a:xfrm>
          <a:off x="0" y="0"/>
          <a:ext cx="0" cy="0"/>
          <a:chOff x="0" y="0"/>
          <a:chExt cx="0" cy="0"/>
        </a:xfrm>
      </p:grpSpPr>
      <p:pic>
        <p:nvPicPr>
          <p:cNvPr id="2" name="Image 0" descr="/mnt/data/wide_dark_tech_ui_style_conceptual_illustration_s.png"/>
          <p:cNvPicPr>
            <a:picLocks noChangeAspect="1"/>
          </p:cNvPicPr>
          <p:nvPr/>
        </p:nvPicPr>
        <p:blipFill>
          <a:blip r:embed="rId3">
            <a:alphaModFix amt="7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426">
              <a:alpha val="84000"/>
            </a:srgbClr>
          </a:solidFill>
          <a:ln w="12700">
            <a:solidFill>
              <a:srgbClr val="333333">
                <a:alpha val="0"/>
              </a:srgbClr>
            </a:solidFill>
            <a:prstDash val="solid"/>
          </a:ln>
        </p:spPr>
        <p:txBody>
          <a:bodyPr/>
          <a:lstStyle/>
          <a:p>
            <a:endParaRPr lang="en-PH"/>
          </a:p>
        </p:txBody>
      </p:sp>
      <p:sp>
        <p:nvSpPr>
          <p:cNvPr id="4" name="Text 1"/>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Corpus and online sources</a:t>
            </a:r>
            <a:endParaRPr lang="en-US" sz="2600" dirty="0"/>
          </a:p>
        </p:txBody>
      </p:sp>
      <p:sp>
        <p:nvSpPr>
          <p:cNvPr id="5" name="Shape 2"/>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6" name="Text 3"/>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Data Scope</a:t>
            </a:r>
            <a:endParaRPr lang="en-US" sz="950" dirty="0"/>
          </a:p>
        </p:txBody>
      </p:sp>
      <p:sp>
        <p:nvSpPr>
          <p:cNvPr id="7" name="Shape 4"/>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8" name="Text 5"/>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Data Scope</a:t>
            </a:r>
            <a:endParaRPr lang="en-US" sz="880" dirty="0"/>
          </a:p>
        </p:txBody>
      </p:sp>
      <p:sp>
        <p:nvSpPr>
          <p:cNvPr id="10" name="Shape 6"/>
          <p:cNvSpPr/>
          <p:nvPr/>
        </p:nvSpPr>
        <p:spPr>
          <a:xfrm>
            <a:off x="713232" y="1325880"/>
            <a:ext cx="2331720" cy="987552"/>
          </a:xfrm>
          <a:prstGeom prst="roundRect">
            <a:avLst>
              <a:gd name="adj" fmla="val 12037"/>
            </a:avLst>
          </a:prstGeom>
          <a:solidFill>
            <a:srgbClr val="0E2638">
              <a:alpha val="96000"/>
            </a:srgbClr>
          </a:solidFill>
          <a:ln w="15240">
            <a:solidFill>
              <a:srgbClr val="2EE8E1">
                <a:alpha val="75000"/>
              </a:srgbClr>
            </a:solidFill>
            <a:prstDash val="solid"/>
          </a:ln>
        </p:spPr>
        <p:txBody>
          <a:bodyPr/>
          <a:lstStyle/>
          <a:p>
            <a:endParaRPr lang="en-PH"/>
          </a:p>
        </p:txBody>
      </p:sp>
      <p:sp>
        <p:nvSpPr>
          <p:cNvPr id="11" name="Text 7"/>
          <p:cNvSpPr/>
          <p:nvPr/>
        </p:nvSpPr>
        <p:spPr>
          <a:xfrm>
            <a:off x="850392" y="1453896"/>
            <a:ext cx="2057400" cy="384048"/>
          </a:xfrm>
          <a:prstGeom prst="rect">
            <a:avLst/>
          </a:prstGeom>
          <a:noFill/>
          <a:ln/>
        </p:spPr>
        <p:txBody>
          <a:bodyPr wrap="square" lIns="0" tIns="0" rIns="0" bIns="0" rtlCol="0" anchor="ctr"/>
          <a:lstStyle/>
          <a:p>
            <a:pPr marL="0" indent="0" algn="ctr">
              <a:buNone/>
            </a:pPr>
            <a:r>
              <a:rPr lang="en-US" sz="2100" b="1" dirty="0">
                <a:solidFill>
                  <a:srgbClr val="2EE8E1"/>
                </a:solidFill>
                <a:latin typeface="Aptos Display" pitchFamily="34" charset="0"/>
                <a:ea typeface="Aptos Display" pitchFamily="34" charset="-122"/>
                <a:cs typeface="Aptos Display" pitchFamily="34" charset="-120"/>
              </a:rPr>
              <a:t>175,481</a:t>
            </a:r>
            <a:endParaRPr lang="en-US" sz="2100" dirty="0"/>
          </a:p>
        </p:txBody>
      </p:sp>
      <p:sp>
        <p:nvSpPr>
          <p:cNvPr id="12" name="Text 8"/>
          <p:cNvSpPr/>
          <p:nvPr/>
        </p:nvSpPr>
        <p:spPr>
          <a:xfrm>
            <a:off x="859536" y="1892808"/>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archived corpus records</a:t>
            </a:r>
            <a:endParaRPr lang="en-US" sz="880" dirty="0"/>
          </a:p>
        </p:txBody>
      </p:sp>
      <p:sp>
        <p:nvSpPr>
          <p:cNvPr id="13" name="Shape 9"/>
          <p:cNvSpPr/>
          <p:nvPr/>
        </p:nvSpPr>
        <p:spPr>
          <a:xfrm>
            <a:off x="3337560" y="1325880"/>
            <a:ext cx="2331720" cy="987552"/>
          </a:xfrm>
          <a:prstGeom prst="roundRect">
            <a:avLst>
              <a:gd name="adj" fmla="val 12037"/>
            </a:avLst>
          </a:prstGeom>
          <a:solidFill>
            <a:srgbClr val="0E2638">
              <a:alpha val="96000"/>
            </a:srgbClr>
          </a:solidFill>
          <a:ln w="15240">
            <a:solidFill>
              <a:srgbClr val="7EF29D">
                <a:alpha val="75000"/>
              </a:srgbClr>
            </a:solidFill>
            <a:prstDash val="solid"/>
          </a:ln>
        </p:spPr>
        <p:txBody>
          <a:bodyPr/>
          <a:lstStyle/>
          <a:p>
            <a:endParaRPr lang="en-PH"/>
          </a:p>
        </p:txBody>
      </p:sp>
      <p:sp>
        <p:nvSpPr>
          <p:cNvPr id="14" name="Text 10"/>
          <p:cNvSpPr/>
          <p:nvPr/>
        </p:nvSpPr>
        <p:spPr>
          <a:xfrm>
            <a:off x="3474720" y="1453896"/>
            <a:ext cx="2057400" cy="384048"/>
          </a:xfrm>
          <a:prstGeom prst="rect">
            <a:avLst/>
          </a:prstGeom>
          <a:noFill/>
          <a:ln/>
        </p:spPr>
        <p:txBody>
          <a:bodyPr wrap="square" lIns="0" tIns="0" rIns="0" bIns="0" rtlCol="0" anchor="ctr"/>
          <a:lstStyle/>
          <a:p>
            <a:pPr marL="0" indent="0" algn="ctr">
              <a:buNone/>
            </a:pPr>
            <a:r>
              <a:rPr lang="en-US" sz="2100" b="1" dirty="0">
                <a:solidFill>
                  <a:srgbClr val="7EF29D"/>
                </a:solidFill>
                <a:latin typeface="Aptos Display" pitchFamily="34" charset="0"/>
                <a:ea typeface="Aptos Display" pitchFamily="34" charset="-122"/>
                <a:cs typeface="Aptos Display" pitchFamily="34" charset="-120"/>
              </a:rPr>
              <a:t>163,372</a:t>
            </a:r>
            <a:endParaRPr lang="en-US" sz="2100" dirty="0"/>
          </a:p>
        </p:txBody>
      </p:sp>
      <p:sp>
        <p:nvSpPr>
          <p:cNvPr id="15" name="Text 11"/>
          <p:cNvSpPr/>
          <p:nvPr/>
        </p:nvSpPr>
        <p:spPr>
          <a:xfrm>
            <a:off x="3483864" y="1892808"/>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Reddit records</a:t>
            </a:r>
            <a:endParaRPr lang="en-US" sz="880" dirty="0"/>
          </a:p>
        </p:txBody>
      </p:sp>
      <p:sp>
        <p:nvSpPr>
          <p:cNvPr id="16" name="Shape 12"/>
          <p:cNvSpPr/>
          <p:nvPr/>
        </p:nvSpPr>
        <p:spPr>
          <a:xfrm>
            <a:off x="5961888" y="1325880"/>
            <a:ext cx="2331720" cy="987552"/>
          </a:xfrm>
          <a:prstGeom prst="roundRect">
            <a:avLst>
              <a:gd name="adj" fmla="val 12037"/>
            </a:avLst>
          </a:prstGeom>
          <a:solidFill>
            <a:srgbClr val="0E2638">
              <a:alpha val="96000"/>
            </a:srgbClr>
          </a:solidFill>
          <a:ln w="15240">
            <a:solidFill>
              <a:srgbClr val="B884FF">
                <a:alpha val="75000"/>
              </a:srgbClr>
            </a:solidFill>
            <a:prstDash val="solid"/>
          </a:ln>
        </p:spPr>
        <p:txBody>
          <a:bodyPr/>
          <a:lstStyle/>
          <a:p>
            <a:endParaRPr lang="en-PH"/>
          </a:p>
        </p:txBody>
      </p:sp>
      <p:sp>
        <p:nvSpPr>
          <p:cNvPr id="17" name="Text 13"/>
          <p:cNvSpPr/>
          <p:nvPr/>
        </p:nvSpPr>
        <p:spPr>
          <a:xfrm>
            <a:off x="6099048" y="1453896"/>
            <a:ext cx="2057400" cy="384048"/>
          </a:xfrm>
          <a:prstGeom prst="rect">
            <a:avLst/>
          </a:prstGeom>
          <a:noFill/>
          <a:ln/>
        </p:spPr>
        <p:txBody>
          <a:bodyPr wrap="square" lIns="0" tIns="0" rIns="0" bIns="0" rtlCol="0" anchor="ctr"/>
          <a:lstStyle/>
          <a:p>
            <a:pPr marL="0" indent="0" algn="ctr">
              <a:buNone/>
            </a:pPr>
            <a:r>
              <a:rPr lang="en-US" sz="2100" b="1" dirty="0">
                <a:solidFill>
                  <a:srgbClr val="B884FF"/>
                </a:solidFill>
                <a:latin typeface="Aptos Display" pitchFamily="34" charset="0"/>
                <a:ea typeface="Aptos Display" pitchFamily="34" charset="-122"/>
                <a:cs typeface="Aptos Display" pitchFamily="34" charset="-120"/>
              </a:rPr>
              <a:t>12,075</a:t>
            </a:r>
            <a:endParaRPr lang="en-US" sz="2100" dirty="0"/>
          </a:p>
        </p:txBody>
      </p:sp>
      <p:sp>
        <p:nvSpPr>
          <p:cNvPr id="18" name="Text 14"/>
          <p:cNvSpPr/>
          <p:nvPr/>
        </p:nvSpPr>
        <p:spPr>
          <a:xfrm>
            <a:off x="6108192" y="1892808"/>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YouTube comments</a:t>
            </a:r>
            <a:endParaRPr lang="en-US" sz="880" dirty="0"/>
          </a:p>
        </p:txBody>
      </p:sp>
      <p:sp>
        <p:nvSpPr>
          <p:cNvPr id="19" name="Shape 15"/>
          <p:cNvSpPr/>
          <p:nvPr/>
        </p:nvSpPr>
        <p:spPr>
          <a:xfrm>
            <a:off x="8586216" y="1325880"/>
            <a:ext cx="2331720" cy="987552"/>
          </a:xfrm>
          <a:prstGeom prst="roundRect">
            <a:avLst>
              <a:gd name="adj" fmla="val 12037"/>
            </a:avLst>
          </a:prstGeom>
          <a:solidFill>
            <a:srgbClr val="0E2638">
              <a:alpha val="96000"/>
            </a:srgbClr>
          </a:solidFill>
          <a:ln w="15240">
            <a:solidFill>
              <a:srgbClr val="FFD166">
                <a:alpha val="75000"/>
              </a:srgbClr>
            </a:solidFill>
            <a:prstDash val="solid"/>
          </a:ln>
        </p:spPr>
        <p:txBody>
          <a:bodyPr/>
          <a:lstStyle/>
          <a:p>
            <a:endParaRPr lang="en-PH"/>
          </a:p>
        </p:txBody>
      </p:sp>
      <p:sp>
        <p:nvSpPr>
          <p:cNvPr id="20" name="Text 16"/>
          <p:cNvSpPr/>
          <p:nvPr/>
        </p:nvSpPr>
        <p:spPr>
          <a:xfrm>
            <a:off x="8723376" y="1453896"/>
            <a:ext cx="2057400" cy="384048"/>
          </a:xfrm>
          <a:prstGeom prst="rect">
            <a:avLst/>
          </a:prstGeom>
          <a:noFill/>
          <a:ln/>
        </p:spPr>
        <p:txBody>
          <a:bodyPr wrap="square" lIns="0" tIns="0" rIns="0" bIns="0" rtlCol="0" anchor="ctr"/>
          <a:lstStyle/>
          <a:p>
            <a:pPr marL="0" indent="0" algn="ctr">
              <a:buNone/>
            </a:pPr>
            <a:r>
              <a:rPr lang="en-US" sz="2100" b="1" dirty="0">
                <a:solidFill>
                  <a:srgbClr val="FFD166"/>
                </a:solidFill>
                <a:latin typeface="Aptos Display" pitchFamily="34" charset="0"/>
                <a:ea typeface="Aptos Display" pitchFamily="34" charset="-122"/>
                <a:cs typeface="Aptos Display" pitchFamily="34" charset="-120"/>
              </a:rPr>
              <a:t>34</a:t>
            </a:r>
            <a:endParaRPr lang="en-US" sz="2100" dirty="0"/>
          </a:p>
        </p:txBody>
      </p:sp>
      <p:sp>
        <p:nvSpPr>
          <p:cNvPr id="21" name="Text 17"/>
          <p:cNvSpPr/>
          <p:nvPr/>
        </p:nvSpPr>
        <p:spPr>
          <a:xfrm>
            <a:off x="8732520" y="1892808"/>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chat interactions</a:t>
            </a:r>
            <a:endParaRPr lang="en-US" sz="880" dirty="0"/>
          </a:p>
        </p:txBody>
      </p:sp>
      <p:sp>
        <p:nvSpPr>
          <p:cNvPr id="22" name="Shape 18"/>
          <p:cNvSpPr/>
          <p:nvPr/>
        </p:nvSpPr>
        <p:spPr>
          <a:xfrm>
            <a:off x="749808" y="2788920"/>
            <a:ext cx="5166360" cy="1719072"/>
          </a:xfrm>
          <a:prstGeom prst="roundRect">
            <a:avLst>
              <a:gd name="adj" fmla="val 7447"/>
            </a:avLst>
          </a:prstGeom>
          <a:solidFill>
            <a:srgbClr val="0E2638">
              <a:alpha val="95000"/>
            </a:srgbClr>
          </a:solidFill>
          <a:ln w="13970">
            <a:solidFill>
              <a:srgbClr val="2EE8E1">
                <a:alpha val="55000"/>
              </a:srgbClr>
            </a:solidFill>
            <a:prstDash val="solid"/>
          </a:ln>
        </p:spPr>
        <p:txBody>
          <a:bodyPr/>
          <a:lstStyle/>
          <a:p>
            <a:endParaRPr lang="en-PH"/>
          </a:p>
        </p:txBody>
      </p:sp>
      <p:sp>
        <p:nvSpPr>
          <p:cNvPr id="23" name="Shape 19"/>
          <p:cNvSpPr/>
          <p:nvPr/>
        </p:nvSpPr>
        <p:spPr>
          <a:xfrm>
            <a:off x="886968" y="3246120"/>
            <a:ext cx="4892040" cy="0"/>
          </a:xfrm>
          <a:prstGeom prst="line">
            <a:avLst/>
          </a:prstGeom>
          <a:noFill/>
          <a:ln w="15240">
            <a:solidFill>
              <a:srgbClr val="2EE8E1">
                <a:alpha val="70000"/>
              </a:srgbClr>
            </a:solidFill>
            <a:prstDash val="solid"/>
          </a:ln>
        </p:spPr>
        <p:txBody>
          <a:bodyPr/>
          <a:lstStyle/>
          <a:p>
            <a:endParaRPr lang="en-PH"/>
          </a:p>
        </p:txBody>
      </p:sp>
      <p:sp>
        <p:nvSpPr>
          <p:cNvPr id="24" name="Text 20"/>
          <p:cNvSpPr/>
          <p:nvPr/>
        </p:nvSpPr>
        <p:spPr>
          <a:xfrm>
            <a:off x="950976" y="2926080"/>
            <a:ext cx="476402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Selected Reddit communities</a:t>
            </a:r>
            <a:endParaRPr lang="en-US" sz="1300" dirty="0"/>
          </a:p>
        </p:txBody>
      </p:sp>
      <p:sp>
        <p:nvSpPr>
          <p:cNvPr id="25" name="Text 21"/>
          <p:cNvSpPr/>
          <p:nvPr/>
        </p:nvSpPr>
        <p:spPr>
          <a:xfrm>
            <a:off x="950976" y="3383280"/>
            <a:ext cx="4764024" cy="1005840"/>
          </a:xfrm>
          <a:prstGeom prst="rect">
            <a:avLst/>
          </a:prstGeom>
          <a:noFill/>
          <a:ln/>
        </p:spPr>
        <p:txBody>
          <a:bodyPr wrap="square" lIns="254" tIns="254" rIns="254" bIns="254" rtlCol="0" anchor="ctr">
            <a:normAutofit/>
          </a:bodyPr>
          <a:lstStyle/>
          <a:p>
            <a:pPr marL="0" indent="0">
              <a:buNone/>
            </a:pPr>
            <a:r>
              <a:rPr lang="en-US" sz="1020" dirty="0">
                <a:solidFill>
                  <a:srgbClr val="F4FBFF"/>
                </a:solidFill>
                <a:latin typeface="Aptos" pitchFamily="34" charset="0"/>
                <a:ea typeface="Aptos" pitchFamily="34" charset="-122"/>
                <a:cs typeface="Aptos" pitchFamily="34" charset="-120"/>
              </a:rPr>
              <a:t>r/peyups, r/ADMU, r/dlsu, r/Tomasino, r/studentsph, r/CasualPH, r/ChikaPH, r/TiktokPH, r/BPOinPH, and others</a:t>
            </a:r>
            <a:endParaRPr lang="en-US" sz="1020" dirty="0"/>
          </a:p>
        </p:txBody>
      </p:sp>
      <p:sp>
        <p:nvSpPr>
          <p:cNvPr id="26" name="Shape 22"/>
          <p:cNvSpPr/>
          <p:nvPr/>
        </p:nvSpPr>
        <p:spPr>
          <a:xfrm>
            <a:off x="6263640" y="2788920"/>
            <a:ext cx="5166360" cy="1719072"/>
          </a:xfrm>
          <a:prstGeom prst="roundRect">
            <a:avLst>
              <a:gd name="adj" fmla="val 7447"/>
            </a:avLst>
          </a:prstGeom>
          <a:solidFill>
            <a:srgbClr val="0E2638">
              <a:alpha val="95000"/>
            </a:srgbClr>
          </a:solidFill>
          <a:ln w="13970">
            <a:solidFill>
              <a:srgbClr val="7EF29D">
                <a:alpha val="55000"/>
              </a:srgbClr>
            </a:solidFill>
            <a:prstDash val="solid"/>
          </a:ln>
        </p:spPr>
        <p:txBody>
          <a:bodyPr/>
          <a:lstStyle/>
          <a:p>
            <a:endParaRPr lang="en-PH"/>
          </a:p>
        </p:txBody>
      </p:sp>
      <p:sp>
        <p:nvSpPr>
          <p:cNvPr id="27" name="Shape 23"/>
          <p:cNvSpPr/>
          <p:nvPr/>
        </p:nvSpPr>
        <p:spPr>
          <a:xfrm>
            <a:off x="6400800" y="3246120"/>
            <a:ext cx="4892040" cy="0"/>
          </a:xfrm>
          <a:prstGeom prst="line">
            <a:avLst/>
          </a:prstGeom>
          <a:noFill/>
          <a:ln w="15240">
            <a:solidFill>
              <a:srgbClr val="7EF29D">
                <a:alpha val="70000"/>
              </a:srgbClr>
            </a:solidFill>
            <a:prstDash val="solid"/>
          </a:ln>
        </p:spPr>
        <p:txBody>
          <a:bodyPr/>
          <a:lstStyle/>
          <a:p>
            <a:endParaRPr lang="en-PH"/>
          </a:p>
        </p:txBody>
      </p:sp>
      <p:sp>
        <p:nvSpPr>
          <p:cNvPr id="28" name="Text 24"/>
          <p:cNvSpPr/>
          <p:nvPr/>
        </p:nvSpPr>
        <p:spPr>
          <a:xfrm>
            <a:off x="6464808" y="2926080"/>
            <a:ext cx="476402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Ethical boundary</a:t>
            </a:r>
            <a:endParaRPr lang="en-US" sz="1300" dirty="0"/>
          </a:p>
        </p:txBody>
      </p:sp>
      <p:sp>
        <p:nvSpPr>
          <p:cNvPr id="29" name="Text 25"/>
          <p:cNvSpPr/>
          <p:nvPr/>
        </p:nvSpPr>
        <p:spPr>
          <a:xfrm>
            <a:off x="6464808" y="3383280"/>
            <a:ext cx="4764024" cy="1005840"/>
          </a:xfrm>
          <a:prstGeom prst="rect">
            <a:avLst/>
          </a:prstGeom>
          <a:noFill/>
          <a:ln/>
        </p:spPr>
        <p:txBody>
          <a:bodyPr wrap="square" lIns="254" tIns="254" rIns="254" bIns="254" rtlCol="0" anchor="ctr">
            <a:normAutofit/>
          </a:bodyPr>
          <a:lstStyle/>
          <a:p>
            <a:pPr marL="0" indent="0">
              <a:buNone/>
            </a:pPr>
            <a:r>
              <a:rPr lang="en-US" sz="1020" dirty="0">
                <a:solidFill>
                  <a:srgbClr val="F4FBFF"/>
                </a:solidFill>
                <a:latin typeface="Aptos" pitchFamily="34" charset="0"/>
                <a:ea typeface="Aptos" pitchFamily="34" charset="-122"/>
                <a:cs typeface="Aptos" pitchFamily="34" charset="-120"/>
              </a:rPr>
              <a:t>The study excludes private messages, private groups, images, audio, and video. User-identifying metadata are not displayed in dictionary entries.</a:t>
            </a:r>
            <a:endParaRPr lang="en-US" sz="1020" dirty="0"/>
          </a:p>
        </p:txBody>
      </p:sp>
      <p:sp>
        <p:nvSpPr>
          <p:cNvPr id="9"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End-to-end architecture</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System Design</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System Design</a:t>
            </a:r>
            <a:endParaRPr lang="en-US" sz="880" dirty="0"/>
          </a:p>
        </p:txBody>
      </p:sp>
      <p:sp>
        <p:nvSpPr>
          <p:cNvPr id="31" name="Shape 28"/>
          <p:cNvSpPr/>
          <p:nvPr/>
        </p:nvSpPr>
        <p:spPr>
          <a:xfrm>
            <a:off x="594360" y="1874520"/>
            <a:ext cx="1874520" cy="2057400"/>
          </a:xfrm>
          <a:prstGeom prst="roundRect">
            <a:avLst>
              <a:gd name="adj" fmla="val 7805"/>
            </a:avLst>
          </a:prstGeom>
          <a:solidFill>
            <a:srgbClr val="0E2638">
              <a:alpha val="95000"/>
            </a:srgbClr>
          </a:solidFill>
          <a:ln w="17780">
            <a:solidFill>
              <a:srgbClr val="2EE8E1">
                <a:alpha val="82000"/>
              </a:srgbClr>
            </a:solidFill>
            <a:prstDash val="solid"/>
          </a:ln>
        </p:spPr>
        <p:txBody>
          <a:bodyPr/>
          <a:lstStyle/>
          <a:p>
            <a:endParaRPr lang="en-PH"/>
          </a:p>
        </p:txBody>
      </p:sp>
      <p:sp>
        <p:nvSpPr>
          <p:cNvPr id="32" name="Text 29"/>
          <p:cNvSpPr/>
          <p:nvPr/>
        </p:nvSpPr>
        <p:spPr>
          <a:xfrm>
            <a:off x="1216152" y="2011680"/>
            <a:ext cx="640080" cy="502920"/>
          </a:xfrm>
          <a:prstGeom prst="rect">
            <a:avLst/>
          </a:prstGeom>
          <a:noFill/>
          <a:ln/>
        </p:spPr>
        <p:txBody>
          <a:bodyPr wrap="square" lIns="0" tIns="0" rIns="0" bIns="0" rtlCol="0" anchor="ctr"/>
          <a:lstStyle/>
          <a:p>
            <a:pPr marL="0" indent="0" algn="ctr">
              <a:buNone/>
            </a:pPr>
            <a:r>
              <a:rPr lang="en-US" sz="2400" b="1" dirty="0">
                <a:solidFill>
                  <a:srgbClr val="2EE8E1"/>
                </a:solidFill>
                <a:latin typeface="Aptos Display" pitchFamily="34" charset="0"/>
                <a:ea typeface="Aptos Display" pitchFamily="34" charset="-122"/>
                <a:cs typeface="Aptos Display" pitchFamily="34" charset="-120"/>
              </a:rPr>
              <a:t>1</a:t>
            </a:r>
            <a:endParaRPr lang="en-US" sz="2400" dirty="0"/>
          </a:p>
        </p:txBody>
      </p:sp>
      <p:sp>
        <p:nvSpPr>
          <p:cNvPr id="33" name="Text 30"/>
          <p:cNvSpPr/>
          <p:nvPr/>
        </p:nvSpPr>
        <p:spPr>
          <a:xfrm>
            <a:off x="731520" y="2633472"/>
            <a:ext cx="1600200" cy="256032"/>
          </a:xfrm>
          <a:prstGeom prst="rect">
            <a:avLst/>
          </a:prstGeom>
          <a:noFill/>
          <a:ln/>
        </p:spPr>
        <p:txBody>
          <a:bodyPr wrap="square" lIns="0" tIns="0" rIns="0" bIns="0" rtlCol="0" anchor="ctr"/>
          <a:lstStyle/>
          <a:p>
            <a:pPr marL="0" indent="0" algn="ctr">
              <a:buNone/>
            </a:pPr>
            <a:r>
              <a:rPr lang="en-US" sz="1500" b="1" dirty="0">
                <a:solidFill>
                  <a:srgbClr val="F4FBFF"/>
                </a:solidFill>
                <a:latin typeface="Aptos Display" pitchFamily="34" charset="0"/>
                <a:ea typeface="Aptos Display" pitchFamily="34" charset="-122"/>
                <a:cs typeface="Aptos Display" pitchFamily="34" charset="-120"/>
              </a:rPr>
              <a:t>Ingest</a:t>
            </a:r>
            <a:endParaRPr lang="en-US" sz="1500" dirty="0"/>
          </a:p>
        </p:txBody>
      </p:sp>
      <p:sp>
        <p:nvSpPr>
          <p:cNvPr id="34" name="Text 31"/>
          <p:cNvSpPr/>
          <p:nvPr/>
        </p:nvSpPr>
        <p:spPr>
          <a:xfrm>
            <a:off x="777240" y="3063240"/>
            <a:ext cx="1508760" cy="594360"/>
          </a:xfrm>
          <a:prstGeom prst="rect">
            <a:avLst/>
          </a:prstGeom>
          <a:noFill/>
          <a:ln/>
        </p:spPr>
        <p:txBody>
          <a:bodyPr wrap="square" lIns="254" tIns="254" rIns="254" bIns="254" rtlCol="0" anchor="ctr"/>
          <a:lstStyle/>
          <a:p>
            <a:pPr marL="0" indent="0" algn="ctr">
              <a:buNone/>
            </a:pPr>
            <a:r>
              <a:rPr lang="en-US" sz="1050" dirty="0">
                <a:solidFill>
                  <a:srgbClr val="A7C3D4"/>
                </a:solidFill>
                <a:latin typeface="Aptos" pitchFamily="34" charset="0"/>
                <a:ea typeface="Aptos" pitchFamily="34" charset="-122"/>
                <a:cs typeface="Aptos" pitchFamily="34" charset="-120"/>
              </a:rPr>
              <a:t>Reddit</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YouTube</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Chat</a:t>
            </a:r>
            <a:endParaRPr lang="en-US" sz="1050" dirty="0"/>
          </a:p>
        </p:txBody>
      </p:sp>
      <p:sp>
        <p:nvSpPr>
          <p:cNvPr id="35" name="Shape 32"/>
          <p:cNvSpPr/>
          <p:nvPr/>
        </p:nvSpPr>
        <p:spPr>
          <a:xfrm>
            <a:off x="2468880" y="2587752"/>
            <a:ext cx="411480" cy="502920"/>
          </a:xfrm>
          <a:prstGeom prst="chevron">
            <a:avLst/>
          </a:prstGeom>
          <a:solidFill>
            <a:srgbClr val="1C5870">
              <a:alpha val="75000"/>
            </a:srgbClr>
          </a:solidFill>
          <a:ln w="12700">
            <a:solidFill>
              <a:srgbClr val="333333">
                <a:alpha val="0"/>
              </a:srgbClr>
            </a:solidFill>
            <a:prstDash val="solid"/>
          </a:ln>
        </p:spPr>
        <p:txBody>
          <a:bodyPr/>
          <a:lstStyle/>
          <a:p>
            <a:endParaRPr lang="en-PH"/>
          </a:p>
        </p:txBody>
      </p:sp>
      <p:sp>
        <p:nvSpPr>
          <p:cNvPr id="36" name="Shape 33"/>
          <p:cNvSpPr/>
          <p:nvPr/>
        </p:nvSpPr>
        <p:spPr>
          <a:xfrm>
            <a:off x="2862072" y="1874520"/>
            <a:ext cx="1874520" cy="2057400"/>
          </a:xfrm>
          <a:prstGeom prst="roundRect">
            <a:avLst>
              <a:gd name="adj" fmla="val 7805"/>
            </a:avLst>
          </a:prstGeom>
          <a:solidFill>
            <a:srgbClr val="0E2638">
              <a:alpha val="95000"/>
            </a:srgbClr>
          </a:solidFill>
          <a:ln w="17780">
            <a:solidFill>
              <a:srgbClr val="7EF29D">
                <a:alpha val="82000"/>
              </a:srgbClr>
            </a:solidFill>
            <a:prstDash val="solid"/>
          </a:ln>
        </p:spPr>
        <p:txBody>
          <a:bodyPr/>
          <a:lstStyle/>
          <a:p>
            <a:endParaRPr lang="en-PH"/>
          </a:p>
        </p:txBody>
      </p:sp>
      <p:sp>
        <p:nvSpPr>
          <p:cNvPr id="37" name="Text 34"/>
          <p:cNvSpPr/>
          <p:nvPr/>
        </p:nvSpPr>
        <p:spPr>
          <a:xfrm>
            <a:off x="3483864" y="2011680"/>
            <a:ext cx="640080" cy="502920"/>
          </a:xfrm>
          <a:prstGeom prst="rect">
            <a:avLst/>
          </a:prstGeom>
          <a:noFill/>
          <a:ln/>
        </p:spPr>
        <p:txBody>
          <a:bodyPr wrap="square" lIns="0" tIns="0" rIns="0" bIns="0" rtlCol="0" anchor="ctr"/>
          <a:lstStyle/>
          <a:p>
            <a:pPr marL="0" indent="0" algn="ctr">
              <a:buNone/>
            </a:pPr>
            <a:r>
              <a:rPr lang="en-US" sz="2400" b="1" dirty="0">
                <a:solidFill>
                  <a:srgbClr val="7EF29D"/>
                </a:solidFill>
                <a:latin typeface="Aptos Display" pitchFamily="34" charset="0"/>
                <a:ea typeface="Aptos Display" pitchFamily="34" charset="-122"/>
                <a:cs typeface="Aptos Display" pitchFamily="34" charset="-120"/>
              </a:rPr>
              <a:t>2</a:t>
            </a:r>
            <a:endParaRPr lang="en-US" sz="2400" dirty="0"/>
          </a:p>
        </p:txBody>
      </p:sp>
      <p:sp>
        <p:nvSpPr>
          <p:cNvPr id="38" name="Text 35"/>
          <p:cNvSpPr/>
          <p:nvPr/>
        </p:nvSpPr>
        <p:spPr>
          <a:xfrm>
            <a:off x="2999232" y="2633472"/>
            <a:ext cx="1600200" cy="256032"/>
          </a:xfrm>
          <a:prstGeom prst="rect">
            <a:avLst/>
          </a:prstGeom>
          <a:noFill/>
          <a:ln/>
        </p:spPr>
        <p:txBody>
          <a:bodyPr wrap="square" lIns="0" tIns="0" rIns="0" bIns="0" rtlCol="0" anchor="ctr"/>
          <a:lstStyle/>
          <a:p>
            <a:pPr marL="0" indent="0" algn="ctr">
              <a:buNone/>
            </a:pPr>
            <a:r>
              <a:rPr lang="en-US" sz="1500" b="1" dirty="0">
                <a:solidFill>
                  <a:srgbClr val="F4FBFF"/>
                </a:solidFill>
                <a:latin typeface="Aptos Display" pitchFamily="34" charset="0"/>
                <a:ea typeface="Aptos Display" pitchFamily="34" charset="-122"/>
                <a:cs typeface="Aptos Display" pitchFamily="34" charset="-120"/>
              </a:rPr>
              <a:t>Preprocess</a:t>
            </a:r>
            <a:endParaRPr lang="en-US" sz="1500" dirty="0"/>
          </a:p>
        </p:txBody>
      </p:sp>
      <p:sp>
        <p:nvSpPr>
          <p:cNvPr id="39" name="Text 36"/>
          <p:cNvSpPr/>
          <p:nvPr/>
        </p:nvSpPr>
        <p:spPr>
          <a:xfrm>
            <a:off x="3044952" y="3063240"/>
            <a:ext cx="1508760" cy="594360"/>
          </a:xfrm>
          <a:prstGeom prst="rect">
            <a:avLst/>
          </a:prstGeom>
          <a:noFill/>
          <a:ln/>
        </p:spPr>
        <p:txBody>
          <a:bodyPr wrap="square" lIns="254" tIns="254" rIns="254" bIns="254" rtlCol="0" anchor="ctr"/>
          <a:lstStyle/>
          <a:p>
            <a:pPr marL="0" indent="0" algn="ctr">
              <a:buNone/>
            </a:pPr>
            <a:r>
              <a:rPr lang="en-US" sz="1050" dirty="0">
                <a:solidFill>
                  <a:srgbClr val="A7C3D4"/>
                </a:solidFill>
                <a:latin typeface="Aptos" pitchFamily="34" charset="0"/>
                <a:ea typeface="Aptos" pitchFamily="34" charset="-122"/>
                <a:cs typeface="Aptos" pitchFamily="34" charset="-120"/>
              </a:rPr>
              <a:t>Tokenize</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Normalize</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Filter</a:t>
            </a:r>
            <a:endParaRPr lang="en-US" sz="1050" dirty="0"/>
          </a:p>
        </p:txBody>
      </p:sp>
      <p:sp>
        <p:nvSpPr>
          <p:cNvPr id="40" name="Shape 37"/>
          <p:cNvSpPr/>
          <p:nvPr/>
        </p:nvSpPr>
        <p:spPr>
          <a:xfrm>
            <a:off x="4736592" y="2587752"/>
            <a:ext cx="411480" cy="502920"/>
          </a:xfrm>
          <a:prstGeom prst="chevron">
            <a:avLst/>
          </a:prstGeom>
          <a:solidFill>
            <a:srgbClr val="1C5870">
              <a:alpha val="75000"/>
            </a:srgbClr>
          </a:solidFill>
          <a:ln w="12700">
            <a:solidFill>
              <a:srgbClr val="333333">
                <a:alpha val="0"/>
              </a:srgbClr>
            </a:solidFill>
            <a:prstDash val="solid"/>
          </a:ln>
        </p:spPr>
        <p:txBody>
          <a:bodyPr/>
          <a:lstStyle/>
          <a:p>
            <a:endParaRPr lang="en-PH"/>
          </a:p>
        </p:txBody>
      </p:sp>
      <p:sp>
        <p:nvSpPr>
          <p:cNvPr id="41" name="Shape 38"/>
          <p:cNvSpPr/>
          <p:nvPr/>
        </p:nvSpPr>
        <p:spPr>
          <a:xfrm>
            <a:off x="5129784" y="1874520"/>
            <a:ext cx="1874520" cy="2057400"/>
          </a:xfrm>
          <a:prstGeom prst="roundRect">
            <a:avLst>
              <a:gd name="adj" fmla="val 7805"/>
            </a:avLst>
          </a:prstGeom>
          <a:solidFill>
            <a:srgbClr val="0E2638">
              <a:alpha val="95000"/>
            </a:srgbClr>
          </a:solidFill>
          <a:ln w="17780">
            <a:solidFill>
              <a:srgbClr val="B884FF">
                <a:alpha val="82000"/>
              </a:srgbClr>
            </a:solidFill>
            <a:prstDash val="solid"/>
          </a:ln>
        </p:spPr>
        <p:txBody>
          <a:bodyPr/>
          <a:lstStyle/>
          <a:p>
            <a:endParaRPr lang="en-PH"/>
          </a:p>
        </p:txBody>
      </p:sp>
      <p:sp>
        <p:nvSpPr>
          <p:cNvPr id="42" name="Text 39"/>
          <p:cNvSpPr/>
          <p:nvPr/>
        </p:nvSpPr>
        <p:spPr>
          <a:xfrm>
            <a:off x="5751576" y="2011680"/>
            <a:ext cx="640080" cy="502920"/>
          </a:xfrm>
          <a:prstGeom prst="rect">
            <a:avLst/>
          </a:prstGeom>
          <a:noFill/>
          <a:ln/>
        </p:spPr>
        <p:txBody>
          <a:bodyPr wrap="square" lIns="0" tIns="0" rIns="0" bIns="0" rtlCol="0" anchor="ctr"/>
          <a:lstStyle/>
          <a:p>
            <a:pPr marL="0" indent="0" algn="ctr">
              <a:buNone/>
            </a:pPr>
            <a:r>
              <a:rPr lang="en-US" sz="2400" b="1" dirty="0">
                <a:solidFill>
                  <a:srgbClr val="B884FF"/>
                </a:solidFill>
                <a:latin typeface="Aptos Display" pitchFamily="34" charset="0"/>
                <a:ea typeface="Aptos Display" pitchFamily="34" charset="-122"/>
                <a:cs typeface="Aptos Display" pitchFamily="34" charset="-120"/>
              </a:rPr>
              <a:t>3</a:t>
            </a:r>
            <a:endParaRPr lang="en-US" sz="2400" dirty="0"/>
          </a:p>
        </p:txBody>
      </p:sp>
      <p:sp>
        <p:nvSpPr>
          <p:cNvPr id="43" name="Text 40"/>
          <p:cNvSpPr/>
          <p:nvPr/>
        </p:nvSpPr>
        <p:spPr>
          <a:xfrm>
            <a:off x="5266944" y="2633472"/>
            <a:ext cx="1600200" cy="256032"/>
          </a:xfrm>
          <a:prstGeom prst="rect">
            <a:avLst/>
          </a:prstGeom>
          <a:noFill/>
          <a:ln/>
        </p:spPr>
        <p:txBody>
          <a:bodyPr wrap="square" lIns="0" tIns="0" rIns="0" bIns="0" rtlCol="0" anchor="ctr"/>
          <a:lstStyle/>
          <a:p>
            <a:pPr marL="0" indent="0" algn="ctr">
              <a:buNone/>
            </a:pPr>
            <a:r>
              <a:rPr lang="en-US" sz="1500" b="1" dirty="0">
                <a:solidFill>
                  <a:srgbClr val="F4FBFF"/>
                </a:solidFill>
                <a:latin typeface="Aptos Display" pitchFamily="34" charset="0"/>
                <a:ea typeface="Aptos Display" pitchFamily="34" charset="-122"/>
                <a:cs typeface="Aptos Display" pitchFamily="34" charset="-120"/>
              </a:rPr>
              <a:t>Detect</a:t>
            </a:r>
            <a:endParaRPr lang="en-US" sz="1500" dirty="0"/>
          </a:p>
        </p:txBody>
      </p:sp>
      <p:sp>
        <p:nvSpPr>
          <p:cNvPr id="44" name="Text 41"/>
          <p:cNvSpPr/>
          <p:nvPr/>
        </p:nvSpPr>
        <p:spPr>
          <a:xfrm>
            <a:off x="5312664" y="3063240"/>
            <a:ext cx="1508760" cy="594360"/>
          </a:xfrm>
          <a:prstGeom prst="rect">
            <a:avLst/>
          </a:prstGeom>
          <a:noFill/>
          <a:ln/>
        </p:spPr>
        <p:txBody>
          <a:bodyPr wrap="square" lIns="254" tIns="254" rIns="254" bIns="254" rtlCol="0" anchor="ctr"/>
          <a:lstStyle/>
          <a:p>
            <a:pPr marL="0" indent="0" algn="ctr">
              <a:buNone/>
            </a:pPr>
            <a:r>
              <a:rPr lang="en-US" sz="1050" dirty="0">
                <a:solidFill>
                  <a:srgbClr val="A7C3D4"/>
                </a:solidFill>
                <a:latin typeface="Aptos" pitchFamily="34" charset="0"/>
                <a:ea typeface="Aptos" pitchFamily="34" charset="-122"/>
                <a:cs typeface="Aptos" pitchFamily="34" charset="-120"/>
              </a:rPr>
              <a:t>Burstiness</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Novelty</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Shift</a:t>
            </a:r>
            <a:endParaRPr lang="en-US" sz="1050" dirty="0"/>
          </a:p>
        </p:txBody>
      </p:sp>
      <p:sp>
        <p:nvSpPr>
          <p:cNvPr id="45" name="Shape 42"/>
          <p:cNvSpPr/>
          <p:nvPr/>
        </p:nvSpPr>
        <p:spPr>
          <a:xfrm>
            <a:off x="7004304" y="2587752"/>
            <a:ext cx="411480" cy="502920"/>
          </a:xfrm>
          <a:prstGeom prst="chevron">
            <a:avLst/>
          </a:prstGeom>
          <a:solidFill>
            <a:srgbClr val="1C5870">
              <a:alpha val="75000"/>
            </a:srgbClr>
          </a:solidFill>
          <a:ln w="12700">
            <a:solidFill>
              <a:srgbClr val="333333">
                <a:alpha val="0"/>
              </a:srgbClr>
            </a:solidFill>
            <a:prstDash val="solid"/>
          </a:ln>
        </p:spPr>
        <p:txBody>
          <a:bodyPr/>
          <a:lstStyle/>
          <a:p>
            <a:endParaRPr lang="en-PH"/>
          </a:p>
        </p:txBody>
      </p:sp>
      <p:sp>
        <p:nvSpPr>
          <p:cNvPr id="46" name="Shape 43"/>
          <p:cNvSpPr/>
          <p:nvPr/>
        </p:nvSpPr>
        <p:spPr>
          <a:xfrm>
            <a:off x="7397496" y="1874520"/>
            <a:ext cx="1874520" cy="2057400"/>
          </a:xfrm>
          <a:prstGeom prst="roundRect">
            <a:avLst>
              <a:gd name="adj" fmla="val 7805"/>
            </a:avLst>
          </a:prstGeom>
          <a:solidFill>
            <a:srgbClr val="0E2638">
              <a:alpha val="95000"/>
            </a:srgbClr>
          </a:solidFill>
          <a:ln w="17780">
            <a:solidFill>
              <a:srgbClr val="FFD166">
                <a:alpha val="82000"/>
              </a:srgbClr>
            </a:solidFill>
            <a:prstDash val="solid"/>
          </a:ln>
        </p:spPr>
        <p:txBody>
          <a:bodyPr/>
          <a:lstStyle/>
          <a:p>
            <a:endParaRPr lang="en-PH"/>
          </a:p>
        </p:txBody>
      </p:sp>
      <p:sp>
        <p:nvSpPr>
          <p:cNvPr id="47" name="Text 44"/>
          <p:cNvSpPr/>
          <p:nvPr/>
        </p:nvSpPr>
        <p:spPr>
          <a:xfrm>
            <a:off x="8019288" y="2011680"/>
            <a:ext cx="640080" cy="502920"/>
          </a:xfrm>
          <a:prstGeom prst="rect">
            <a:avLst/>
          </a:prstGeom>
          <a:noFill/>
          <a:ln/>
        </p:spPr>
        <p:txBody>
          <a:bodyPr wrap="square" lIns="0" tIns="0" rIns="0" bIns="0" rtlCol="0" anchor="ctr"/>
          <a:lstStyle/>
          <a:p>
            <a:pPr marL="0" indent="0" algn="ctr">
              <a:buNone/>
            </a:pPr>
            <a:r>
              <a:rPr lang="en-US" sz="2400" b="1" dirty="0">
                <a:solidFill>
                  <a:srgbClr val="FFD166"/>
                </a:solidFill>
                <a:latin typeface="Aptos Display" pitchFamily="34" charset="0"/>
                <a:ea typeface="Aptos Display" pitchFamily="34" charset="-122"/>
                <a:cs typeface="Aptos Display" pitchFamily="34" charset="-120"/>
              </a:rPr>
              <a:t>4</a:t>
            </a:r>
            <a:endParaRPr lang="en-US" sz="2400" dirty="0"/>
          </a:p>
        </p:txBody>
      </p:sp>
      <p:sp>
        <p:nvSpPr>
          <p:cNvPr id="48" name="Text 45"/>
          <p:cNvSpPr/>
          <p:nvPr/>
        </p:nvSpPr>
        <p:spPr>
          <a:xfrm>
            <a:off x="7534656" y="2633472"/>
            <a:ext cx="1600200" cy="256032"/>
          </a:xfrm>
          <a:prstGeom prst="rect">
            <a:avLst/>
          </a:prstGeom>
          <a:noFill/>
          <a:ln/>
        </p:spPr>
        <p:txBody>
          <a:bodyPr wrap="square" lIns="0" tIns="0" rIns="0" bIns="0" rtlCol="0" anchor="ctr"/>
          <a:lstStyle/>
          <a:p>
            <a:pPr marL="0" indent="0" algn="ctr">
              <a:buNone/>
            </a:pPr>
            <a:r>
              <a:rPr lang="en-US" sz="1500" b="1" dirty="0">
                <a:solidFill>
                  <a:srgbClr val="F4FBFF"/>
                </a:solidFill>
                <a:latin typeface="Aptos Display" pitchFamily="34" charset="0"/>
                <a:ea typeface="Aptos Display" pitchFamily="34" charset="-122"/>
                <a:cs typeface="Aptos Display" pitchFamily="34" charset="-120"/>
              </a:rPr>
              <a:t>Enrich</a:t>
            </a:r>
            <a:endParaRPr lang="en-US" sz="1500" dirty="0"/>
          </a:p>
        </p:txBody>
      </p:sp>
      <p:sp>
        <p:nvSpPr>
          <p:cNvPr id="49" name="Text 46"/>
          <p:cNvSpPr/>
          <p:nvPr/>
        </p:nvSpPr>
        <p:spPr>
          <a:xfrm>
            <a:off x="7580376" y="3063240"/>
            <a:ext cx="1508760" cy="594360"/>
          </a:xfrm>
          <a:prstGeom prst="rect">
            <a:avLst/>
          </a:prstGeom>
          <a:noFill/>
          <a:ln/>
        </p:spPr>
        <p:txBody>
          <a:bodyPr wrap="square" lIns="254" tIns="254" rIns="254" bIns="254" rtlCol="0" anchor="ctr"/>
          <a:lstStyle/>
          <a:p>
            <a:pPr marL="0" indent="0" algn="ctr">
              <a:buNone/>
            </a:pPr>
            <a:r>
              <a:rPr lang="en-US" sz="1050" dirty="0">
                <a:solidFill>
                  <a:srgbClr val="A7C3D4"/>
                </a:solidFill>
                <a:latin typeface="Aptos" pitchFamily="34" charset="0"/>
                <a:ea typeface="Aptos" pitchFamily="34" charset="-122"/>
                <a:cs typeface="Aptos" pitchFamily="34" charset="-120"/>
              </a:rPr>
              <a:t>Definition</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Example</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Origin</a:t>
            </a:r>
            <a:endParaRPr lang="en-US" sz="1050" dirty="0"/>
          </a:p>
        </p:txBody>
      </p:sp>
      <p:sp>
        <p:nvSpPr>
          <p:cNvPr id="50" name="Shape 47"/>
          <p:cNvSpPr/>
          <p:nvPr/>
        </p:nvSpPr>
        <p:spPr>
          <a:xfrm>
            <a:off x="9272016" y="2587752"/>
            <a:ext cx="411480" cy="502920"/>
          </a:xfrm>
          <a:prstGeom prst="chevron">
            <a:avLst/>
          </a:prstGeom>
          <a:solidFill>
            <a:srgbClr val="1C5870">
              <a:alpha val="75000"/>
            </a:srgbClr>
          </a:solidFill>
          <a:ln w="12700">
            <a:solidFill>
              <a:srgbClr val="333333">
                <a:alpha val="0"/>
              </a:srgbClr>
            </a:solidFill>
            <a:prstDash val="solid"/>
          </a:ln>
        </p:spPr>
        <p:txBody>
          <a:bodyPr/>
          <a:lstStyle/>
          <a:p>
            <a:endParaRPr lang="en-PH"/>
          </a:p>
        </p:txBody>
      </p:sp>
      <p:sp>
        <p:nvSpPr>
          <p:cNvPr id="51" name="Shape 48"/>
          <p:cNvSpPr/>
          <p:nvPr/>
        </p:nvSpPr>
        <p:spPr>
          <a:xfrm>
            <a:off x="9665208" y="1874520"/>
            <a:ext cx="1874520" cy="2057400"/>
          </a:xfrm>
          <a:prstGeom prst="roundRect">
            <a:avLst>
              <a:gd name="adj" fmla="val 7805"/>
            </a:avLst>
          </a:prstGeom>
          <a:solidFill>
            <a:srgbClr val="0E2638">
              <a:alpha val="95000"/>
            </a:srgbClr>
          </a:solidFill>
          <a:ln w="17780">
            <a:solidFill>
              <a:srgbClr val="6CE5FF">
                <a:alpha val="82000"/>
              </a:srgbClr>
            </a:solidFill>
            <a:prstDash val="solid"/>
          </a:ln>
        </p:spPr>
        <p:txBody>
          <a:bodyPr/>
          <a:lstStyle/>
          <a:p>
            <a:endParaRPr lang="en-PH"/>
          </a:p>
        </p:txBody>
      </p:sp>
      <p:sp>
        <p:nvSpPr>
          <p:cNvPr id="52" name="Text 49"/>
          <p:cNvSpPr/>
          <p:nvPr/>
        </p:nvSpPr>
        <p:spPr>
          <a:xfrm>
            <a:off x="10287000" y="2011680"/>
            <a:ext cx="640080" cy="502920"/>
          </a:xfrm>
          <a:prstGeom prst="rect">
            <a:avLst/>
          </a:prstGeom>
          <a:noFill/>
          <a:ln/>
        </p:spPr>
        <p:txBody>
          <a:bodyPr wrap="square" lIns="0" tIns="0" rIns="0" bIns="0" rtlCol="0" anchor="ctr"/>
          <a:lstStyle/>
          <a:p>
            <a:pPr marL="0" indent="0" algn="ctr">
              <a:buNone/>
            </a:pPr>
            <a:r>
              <a:rPr lang="en-US" sz="2400" b="1" dirty="0">
                <a:solidFill>
                  <a:srgbClr val="6CE5FF"/>
                </a:solidFill>
                <a:latin typeface="Aptos Display" pitchFamily="34" charset="0"/>
                <a:ea typeface="Aptos Display" pitchFamily="34" charset="-122"/>
                <a:cs typeface="Aptos Display" pitchFamily="34" charset="-120"/>
              </a:rPr>
              <a:t>5</a:t>
            </a:r>
            <a:endParaRPr lang="en-US" sz="2400" dirty="0"/>
          </a:p>
        </p:txBody>
      </p:sp>
      <p:sp>
        <p:nvSpPr>
          <p:cNvPr id="53" name="Text 50"/>
          <p:cNvSpPr/>
          <p:nvPr/>
        </p:nvSpPr>
        <p:spPr>
          <a:xfrm>
            <a:off x="9802368" y="2633472"/>
            <a:ext cx="1600200" cy="256032"/>
          </a:xfrm>
          <a:prstGeom prst="rect">
            <a:avLst/>
          </a:prstGeom>
          <a:noFill/>
          <a:ln/>
        </p:spPr>
        <p:txBody>
          <a:bodyPr wrap="square" lIns="0" tIns="0" rIns="0" bIns="0" rtlCol="0" anchor="ctr"/>
          <a:lstStyle/>
          <a:p>
            <a:pPr marL="0" indent="0" algn="ctr">
              <a:buNone/>
            </a:pPr>
            <a:r>
              <a:rPr lang="en-US" sz="1500" b="1" dirty="0">
                <a:solidFill>
                  <a:srgbClr val="F4FBFF"/>
                </a:solidFill>
                <a:latin typeface="Aptos Display" pitchFamily="34" charset="0"/>
                <a:ea typeface="Aptos Display" pitchFamily="34" charset="-122"/>
                <a:cs typeface="Aptos Display" pitchFamily="34" charset="-120"/>
              </a:rPr>
              <a:t>Interface</a:t>
            </a:r>
            <a:endParaRPr lang="en-US" sz="1500" dirty="0"/>
          </a:p>
        </p:txBody>
      </p:sp>
      <p:sp>
        <p:nvSpPr>
          <p:cNvPr id="54" name="Text 51"/>
          <p:cNvSpPr/>
          <p:nvPr/>
        </p:nvSpPr>
        <p:spPr>
          <a:xfrm>
            <a:off x="9848088" y="3063240"/>
            <a:ext cx="1508760" cy="594360"/>
          </a:xfrm>
          <a:prstGeom prst="rect">
            <a:avLst/>
          </a:prstGeom>
          <a:noFill/>
          <a:ln/>
        </p:spPr>
        <p:txBody>
          <a:bodyPr wrap="square" lIns="254" tIns="254" rIns="254" bIns="254" rtlCol="0" anchor="ctr"/>
          <a:lstStyle/>
          <a:p>
            <a:pPr marL="0" indent="0" algn="ctr">
              <a:buNone/>
            </a:pPr>
            <a:r>
              <a:rPr lang="en-US" sz="1050" dirty="0">
                <a:solidFill>
                  <a:srgbClr val="A7C3D4"/>
                </a:solidFill>
                <a:latin typeface="Aptos" pitchFamily="34" charset="0"/>
                <a:ea typeface="Aptos" pitchFamily="34" charset="-122"/>
                <a:cs typeface="Aptos" pitchFamily="34" charset="-120"/>
              </a:rPr>
              <a:t>Dictionary</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Tutor</a:t>
            </a:r>
            <a:endParaRPr lang="en-US" sz="1050" dirty="0"/>
          </a:p>
          <a:p>
            <a:pPr marL="0" indent="0" algn="ctr">
              <a:buNone/>
            </a:pPr>
            <a:r>
              <a:rPr lang="en-US" sz="1050" dirty="0">
                <a:solidFill>
                  <a:srgbClr val="A7C3D4"/>
                </a:solidFill>
                <a:latin typeface="Aptos" pitchFamily="34" charset="0"/>
                <a:ea typeface="Aptos" pitchFamily="34" charset="-122"/>
                <a:cs typeface="Aptos" pitchFamily="34" charset="-120"/>
              </a:rPr>
              <a:t>Trends</a:t>
            </a:r>
            <a:endParaRPr lang="en-US" sz="1050" dirty="0"/>
          </a:p>
        </p:txBody>
      </p:sp>
      <p:sp>
        <p:nvSpPr>
          <p:cNvPr id="55" name="Text 52"/>
          <p:cNvSpPr/>
          <p:nvPr/>
        </p:nvSpPr>
        <p:spPr>
          <a:xfrm>
            <a:off x="914400" y="4846320"/>
            <a:ext cx="10241280" cy="365760"/>
          </a:xfrm>
          <a:prstGeom prst="rect">
            <a:avLst/>
          </a:prstGeom>
          <a:noFill/>
          <a:ln/>
        </p:spPr>
        <p:txBody>
          <a:bodyPr wrap="square" lIns="0" tIns="0" rIns="0" bIns="0" rtlCol="0" anchor="ctr"/>
          <a:lstStyle/>
          <a:p>
            <a:pPr marL="0" indent="0" algn="ctr">
              <a:buNone/>
            </a:pPr>
            <a:r>
              <a:rPr lang="en-US" sz="1800" b="1" dirty="0">
                <a:solidFill>
                  <a:srgbClr val="6CE5FF"/>
                </a:solidFill>
                <a:latin typeface="Aptos Display" pitchFamily="34" charset="0"/>
                <a:ea typeface="Aptos Display" pitchFamily="34" charset="-122"/>
                <a:cs typeface="Aptos Display" pitchFamily="34" charset="-120"/>
              </a:rPr>
              <a:t>Backend: FastAPI + SQLite + NLP/LLM services     |     Frontend: Next.js + Tailwind-style responsive UI</a:t>
            </a:r>
            <a:endParaRPr lang="en-US" sz="18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How candidate slang is identified</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Detection Method</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Detection Method</a:t>
            </a:r>
            <a:endParaRPr lang="en-US" sz="880" dirty="0"/>
          </a:p>
        </p:txBody>
      </p:sp>
      <p:sp>
        <p:nvSpPr>
          <p:cNvPr id="31" name="Shape 28"/>
          <p:cNvSpPr/>
          <p:nvPr/>
        </p:nvSpPr>
        <p:spPr>
          <a:xfrm>
            <a:off x="685800" y="1353312"/>
            <a:ext cx="3200400" cy="1143000"/>
          </a:xfrm>
          <a:prstGeom prst="roundRect">
            <a:avLst>
              <a:gd name="adj" fmla="val 11200"/>
            </a:avLst>
          </a:prstGeom>
          <a:solidFill>
            <a:srgbClr val="0E2638">
              <a:alpha val="95000"/>
            </a:srgbClr>
          </a:solidFill>
          <a:ln w="13970">
            <a:solidFill>
              <a:srgbClr val="2EE8E1">
                <a:alpha val="55000"/>
              </a:srgbClr>
            </a:solidFill>
            <a:prstDash val="solid"/>
          </a:ln>
        </p:spPr>
        <p:txBody>
          <a:bodyPr/>
          <a:lstStyle/>
          <a:p>
            <a:endParaRPr lang="en-PH"/>
          </a:p>
        </p:txBody>
      </p:sp>
      <p:sp>
        <p:nvSpPr>
          <p:cNvPr id="32" name="Shape 29"/>
          <p:cNvSpPr/>
          <p:nvPr/>
        </p:nvSpPr>
        <p:spPr>
          <a:xfrm>
            <a:off x="822960" y="1810512"/>
            <a:ext cx="2926080" cy="0"/>
          </a:xfrm>
          <a:prstGeom prst="line">
            <a:avLst/>
          </a:prstGeom>
          <a:noFill/>
          <a:ln w="15240">
            <a:solidFill>
              <a:srgbClr val="2EE8E1">
                <a:alpha val="70000"/>
              </a:srgbClr>
            </a:solidFill>
            <a:prstDash val="solid"/>
          </a:ln>
        </p:spPr>
        <p:txBody>
          <a:bodyPr/>
          <a:lstStyle/>
          <a:p>
            <a:endParaRPr lang="en-PH"/>
          </a:p>
        </p:txBody>
      </p:sp>
      <p:sp>
        <p:nvSpPr>
          <p:cNvPr id="33" name="Text 30"/>
          <p:cNvSpPr/>
          <p:nvPr/>
        </p:nvSpPr>
        <p:spPr>
          <a:xfrm>
            <a:off x="886968" y="1490472"/>
            <a:ext cx="279806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Dictionary gating</a:t>
            </a:r>
            <a:endParaRPr lang="en-US" sz="1300" dirty="0"/>
          </a:p>
        </p:txBody>
      </p:sp>
      <p:sp>
        <p:nvSpPr>
          <p:cNvPr id="34" name="Text 31"/>
          <p:cNvSpPr/>
          <p:nvPr/>
        </p:nvSpPr>
        <p:spPr>
          <a:xfrm>
            <a:off x="886968" y="1947672"/>
            <a:ext cx="2798064" cy="42976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Separate ordinary known words from possible OOV candidates.</a:t>
            </a:r>
            <a:endParaRPr lang="en-US" sz="1100" dirty="0"/>
          </a:p>
        </p:txBody>
      </p:sp>
      <p:sp>
        <p:nvSpPr>
          <p:cNvPr id="35" name="Shape 32"/>
          <p:cNvSpPr/>
          <p:nvPr/>
        </p:nvSpPr>
        <p:spPr>
          <a:xfrm>
            <a:off x="4498848" y="1353312"/>
            <a:ext cx="3200400" cy="1143000"/>
          </a:xfrm>
          <a:prstGeom prst="roundRect">
            <a:avLst>
              <a:gd name="adj" fmla="val 11200"/>
            </a:avLst>
          </a:prstGeom>
          <a:solidFill>
            <a:srgbClr val="0E2638">
              <a:alpha val="95000"/>
            </a:srgbClr>
          </a:solidFill>
          <a:ln w="13970">
            <a:solidFill>
              <a:srgbClr val="7EF29D">
                <a:alpha val="55000"/>
              </a:srgbClr>
            </a:solidFill>
            <a:prstDash val="solid"/>
          </a:ln>
        </p:spPr>
        <p:txBody>
          <a:bodyPr/>
          <a:lstStyle/>
          <a:p>
            <a:endParaRPr lang="en-PH"/>
          </a:p>
        </p:txBody>
      </p:sp>
      <p:sp>
        <p:nvSpPr>
          <p:cNvPr id="36" name="Shape 33"/>
          <p:cNvSpPr/>
          <p:nvPr/>
        </p:nvSpPr>
        <p:spPr>
          <a:xfrm>
            <a:off x="4636008" y="1810512"/>
            <a:ext cx="2926080" cy="0"/>
          </a:xfrm>
          <a:prstGeom prst="line">
            <a:avLst/>
          </a:prstGeom>
          <a:noFill/>
          <a:ln w="15240">
            <a:solidFill>
              <a:srgbClr val="7EF29D">
                <a:alpha val="70000"/>
              </a:srgbClr>
            </a:solidFill>
            <a:prstDash val="solid"/>
          </a:ln>
        </p:spPr>
        <p:txBody>
          <a:bodyPr/>
          <a:lstStyle/>
          <a:p>
            <a:endParaRPr lang="en-PH"/>
          </a:p>
        </p:txBody>
      </p:sp>
      <p:sp>
        <p:nvSpPr>
          <p:cNvPr id="37" name="Text 34"/>
          <p:cNvSpPr/>
          <p:nvPr/>
        </p:nvSpPr>
        <p:spPr>
          <a:xfrm>
            <a:off x="4700016" y="1490472"/>
            <a:ext cx="279806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Subword novelty</a:t>
            </a:r>
            <a:endParaRPr lang="en-US" sz="1300" dirty="0"/>
          </a:p>
        </p:txBody>
      </p:sp>
      <p:sp>
        <p:nvSpPr>
          <p:cNvPr id="38" name="Text 35"/>
          <p:cNvSpPr/>
          <p:nvPr/>
        </p:nvSpPr>
        <p:spPr>
          <a:xfrm>
            <a:off x="4700016" y="1947672"/>
            <a:ext cx="2798064" cy="42976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Tagalog RoBERTa tokenizer helps flag unfamiliar forms.</a:t>
            </a:r>
            <a:endParaRPr lang="en-US" sz="1100" dirty="0"/>
          </a:p>
        </p:txBody>
      </p:sp>
      <p:sp>
        <p:nvSpPr>
          <p:cNvPr id="39" name="Shape 36"/>
          <p:cNvSpPr/>
          <p:nvPr/>
        </p:nvSpPr>
        <p:spPr>
          <a:xfrm>
            <a:off x="8321040" y="1353312"/>
            <a:ext cx="3200400" cy="1143000"/>
          </a:xfrm>
          <a:prstGeom prst="roundRect">
            <a:avLst>
              <a:gd name="adj" fmla="val 11200"/>
            </a:avLst>
          </a:prstGeom>
          <a:solidFill>
            <a:srgbClr val="0E2638">
              <a:alpha val="95000"/>
            </a:srgbClr>
          </a:solidFill>
          <a:ln w="13970">
            <a:solidFill>
              <a:srgbClr val="B884FF">
                <a:alpha val="55000"/>
              </a:srgbClr>
            </a:solidFill>
            <a:prstDash val="solid"/>
          </a:ln>
        </p:spPr>
        <p:txBody>
          <a:bodyPr/>
          <a:lstStyle/>
          <a:p>
            <a:endParaRPr lang="en-PH"/>
          </a:p>
        </p:txBody>
      </p:sp>
      <p:sp>
        <p:nvSpPr>
          <p:cNvPr id="40" name="Shape 37"/>
          <p:cNvSpPr/>
          <p:nvPr/>
        </p:nvSpPr>
        <p:spPr>
          <a:xfrm>
            <a:off x="8458200" y="1810512"/>
            <a:ext cx="2926080" cy="0"/>
          </a:xfrm>
          <a:prstGeom prst="line">
            <a:avLst/>
          </a:prstGeom>
          <a:noFill/>
          <a:ln w="15240">
            <a:solidFill>
              <a:srgbClr val="B884FF">
                <a:alpha val="70000"/>
              </a:srgbClr>
            </a:solidFill>
            <a:prstDash val="solid"/>
          </a:ln>
        </p:spPr>
        <p:txBody>
          <a:bodyPr/>
          <a:lstStyle/>
          <a:p>
            <a:endParaRPr lang="en-PH"/>
          </a:p>
        </p:txBody>
      </p:sp>
      <p:sp>
        <p:nvSpPr>
          <p:cNvPr id="41" name="Text 38"/>
          <p:cNvSpPr/>
          <p:nvPr/>
        </p:nvSpPr>
        <p:spPr>
          <a:xfrm>
            <a:off x="8522208" y="1490472"/>
            <a:ext cx="279806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FastText support</a:t>
            </a:r>
            <a:endParaRPr lang="en-US" sz="1300" dirty="0"/>
          </a:p>
        </p:txBody>
      </p:sp>
      <p:sp>
        <p:nvSpPr>
          <p:cNvPr id="42" name="Text 39"/>
          <p:cNvSpPr/>
          <p:nvPr/>
        </p:nvSpPr>
        <p:spPr>
          <a:xfrm>
            <a:off x="8522208" y="1947672"/>
            <a:ext cx="2798064" cy="42976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Character n-grams help with rare and creative spellings.</a:t>
            </a:r>
            <a:endParaRPr lang="en-US" sz="1100" dirty="0"/>
          </a:p>
        </p:txBody>
      </p:sp>
      <p:sp>
        <p:nvSpPr>
          <p:cNvPr id="43" name="Shape 40"/>
          <p:cNvSpPr/>
          <p:nvPr/>
        </p:nvSpPr>
        <p:spPr>
          <a:xfrm>
            <a:off x="1828800" y="3063240"/>
            <a:ext cx="3520440" cy="1280160"/>
          </a:xfrm>
          <a:prstGeom prst="roundRect">
            <a:avLst>
              <a:gd name="adj" fmla="val 10000"/>
            </a:avLst>
          </a:prstGeom>
          <a:solidFill>
            <a:srgbClr val="0E2638">
              <a:alpha val="95000"/>
            </a:srgbClr>
          </a:solidFill>
          <a:ln w="13970">
            <a:solidFill>
              <a:srgbClr val="FFD166">
                <a:alpha val="55000"/>
              </a:srgbClr>
            </a:solidFill>
            <a:prstDash val="solid"/>
          </a:ln>
        </p:spPr>
        <p:txBody>
          <a:bodyPr/>
          <a:lstStyle/>
          <a:p>
            <a:endParaRPr lang="en-PH"/>
          </a:p>
        </p:txBody>
      </p:sp>
      <p:sp>
        <p:nvSpPr>
          <p:cNvPr id="44" name="Shape 41"/>
          <p:cNvSpPr/>
          <p:nvPr/>
        </p:nvSpPr>
        <p:spPr>
          <a:xfrm>
            <a:off x="1965960" y="3520440"/>
            <a:ext cx="3246120" cy="0"/>
          </a:xfrm>
          <a:prstGeom prst="line">
            <a:avLst/>
          </a:prstGeom>
          <a:noFill/>
          <a:ln w="15240">
            <a:solidFill>
              <a:srgbClr val="FFD166">
                <a:alpha val="70000"/>
              </a:srgbClr>
            </a:solidFill>
            <a:prstDash val="solid"/>
          </a:ln>
        </p:spPr>
        <p:txBody>
          <a:bodyPr/>
          <a:lstStyle/>
          <a:p>
            <a:endParaRPr lang="en-PH"/>
          </a:p>
        </p:txBody>
      </p:sp>
      <p:sp>
        <p:nvSpPr>
          <p:cNvPr id="45" name="Text 42"/>
          <p:cNvSpPr/>
          <p:nvPr/>
        </p:nvSpPr>
        <p:spPr>
          <a:xfrm>
            <a:off x="2029968" y="3200400"/>
            <a:ext cx="3118104" cy="256032"/>
          </a:xfrm>
          <a:prstGeom prst="rect">
            <a:avLst/>
          </a:prstGeom>
          <a:noFill/>
          <a:ln/>
        </p:spPr>
        <p:txBody>
          <a:bodyPr wrap="square" lIns="0" tIns="0" rIns="0" bIns="0" rtlCol="0" anchor="ctr">
            <a:normAutofit/>
          </a:bodyPr>
          <a:lstStyle/>
          <a:p>
            <a:pPr marL="0" indent="0">
              <a:buNone/>
            </a:pPr>
            <a:r>
              <a:rPr lang="en-US" sz="1300" b="1" dirty="0">
                <a:solidFill>
                  <a:srgbClr val="FFD166"/>
                </a:solidFill>
                <a:latin typeface="Aptos Display" pitchFamily="34" charset="0"/>
                <a:ea typeface="Aptos Display" pitchFamily="34" charset="-122"/>
                <a:cs typeface="Aptos Display" pitchFamily="34" charset="-120"/>
              </a:rPr>
              <a:t>Burstiness</a:t>
            </a:r>
            <a:endParaRPr lang="en-US" sz="1300" dirty="0"/>
          </a:p>
        </p:txBody>
      </p:sp>
      <p:sp>
        <p:nvSpPr>
          <p:cNvPr id="46" name="Text 43"/>
          <p:cNvSpPr/>
          <p:nvPr/>
        </p:nvSpPr>
        <p:spPr>
          <a:xfrm>
            <a:off x="2029968" y="3657600"/>
            <a:ext cx="3118104" cy="56692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Z(t) = frequency spike compared with historical baseline.</a:t>
            </a:r>
            <a:endParaRPr lang="en-US" sz="1050" dirty="0"/>
          </a:p>
        </p:txBody>
      </p:sp>
      <p:sp>
        <p:nvSpPr>
          <p:cNvPr id="47" name="Shape 44"/>
          <p:cNvSpPr/>
          <p:nvPr/>
        </p:nvSpPr>
        <p:spPr>
          <a:xfrm>
            <a:off x="6839712" y="3063240"/>
            <a:ext cx="3520440" cy="1280160"/>
          </a:xfrm>
          <a:prstGeom prst="roundRect">
            <a:avLst>
              <a:gd name="adj" fmla="val 10000"/>
            </a:avLst>
          </a:prstGeom>
          <a:solidFill>
            <a:srgbClr val="0E2638">
              <a:alpha val="95000"/>
            </a:srgbClr>
          </a:solidFill>
          <a:ln w="13970">
            <a:solidFill>
              <a:srgbClr val="6CE5FF">
                <a:alpha val="55000"/>
              </a:srgbClr>
            </a:solidFill>
            <a:prstDash val="solid"/>
          </a:ln>
        </p:spPr>
        <p:txBody>
          <a:bodyPr/>
          <a:lstStyle/>
          <a:p>
            <a:endParaRPr lang="en-PH"/>
          </a:p>
        </p:txBody>
      </p:sp>
      <p:sp>
        <p:nvSpPr>
          <p:cNvPr id="48" name="Shape 45"/>
          <p:cNvSpPr/>
          <p:nvPr/>
        </p:nvSpPr>
        <p:spPr>
          <a:xfrm>
            <a:off x="6976872" y="3520440"/>
            <a:ext cx="3246120" cy="0"/>
          </a:xfrm>
          <a:prstGeom prst="line">
            <a:avLst/>
          </a:prstGeom>
          <a:noFill/>
          <a:ln w="15240">
            <a:solidFill>
              <a:srgbClr val="6CE5FF">
                <a:alpha val="70000"/>
              </a:srgbClr>
            </a:solidFill>
            <a:prstDash val="solid"/>
          </a:ln>
        </p:spPr>
        <p:txBody>
          <a:bodyPr/>
          <a:lstStyle/>
          <a:p>
            <a:endParaRPr lang="en-PH"/>
          </a:p>
        </p:txBody>
      </p:sp>
      <p:sp>
        <p:nvSpPr>
          <p:cNvPr id="49" name="Text 46"/>
          <p:cNvSpPr/>
          <p:nvPr/>
        </p:nvSpPr>
        <p:spPr>
          <a:xfrm>
            <a:off x="7040880" y="3200400"/>
            <a:ext cx="3118104" cy="256032"/>
          </a:xfrm>
          <a:prstGeom prst="rect">
            <a:avLst/>
          </a:prstGeom>
          <a:noFill/>
          <a:ln/>
        </p:spPr>
        <p:txBody>
          <a:bodyPr wrap="square" lIns="0" tIns="0" rIns="0" bIns="0" rtlCol="0" anchor="ctr">
            <a:normAutofit/>
          </a:bodyPr>
          <a:lstStyle/>
          <a:p>
            <a:pPr marL="0" indent="0">
              <a:buNone/>
            </a:pPr>
            <a:r>
              <a:rPr lang="en-US" sz="1300" b="1" dirty="0">
                <a:solidFill>
                  <a:srgbClr val="6CE5FF"/>
                </a:solidFill>
                <a:latin typeface="Aptos Display" pitchFamily="34" charset="0"/>
                <a:ea typeface="Aptos Display" pitchFamily="34" charset="-122"/>
                <a:cs typeface="Aptos Display" pitchFamily="34" charset="-120"/>
              </a:rPr>
              <a:t>Semantic shift</a:t>
            </a:r>
            <a:endParaRPr lang="en-US" sz="1300" dirty="0"/>
          </a:p>
        </p:txBody>
      </p:sp>
      <p:sp>
        <p:nvSpPr>
          <p:cNvPr id="50" name="Text 47"/>
          <p:cNvSpPr/>
          <p:nvPr/>
        </p:nvSpPr>
        <p:spPr>
          <a:xfrm>
            <a:off x="7040880" y="3657600"/>
            <a:ext cx="3118104" cy="566928"/>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Known words can still be flagged when usage changes.</a:t>
            </a:r>
            <a:endParaRPr lang="en-US" sz="1050" dirty="0"/>
          </a:p>
        </p:txBody>
      </p:sp>
      <p:sp>
        <p:nvSpPr>
          <p:cNvPr id="51" name="Text 48"/>
          <p:cNvSpPr/>
          <p:nvPr/>
        </p:nvSpPr>
        <p:spPr>
          <a:xfrm>
            <a:off x="1325880" y="5047488"/>
            <a:ext cx="9418320" cy="347472"/>
          </a:xfrm>
          <a:prstGeom prst="rect">
            <a:avLst/>
          </a:prstGeom>
          <a:noFill/>
          <a:ln/>
        </p:spPr>
        <p:txBody>
          <a:bodyPr wrap="square" lIns="0" tIns="0" rIns="0" bIns="0" rtlCol="0" anchor="ctr"/>
          <a:lstStyle/>
          <a:p>
            <a:pPr marL="0" indent="0" algn="ctr">
              <a:buNone/>
            </a:pPr>
            <a:r>
              <a:rPr lang="en-US" sz="1800" b="1" dirty="0">
                <a:solidFill>
                  <a:srgbClr val="F4FBFF"/>
                </a:solidFill>
                <a:latin typeface="Aptos Display" pitchFamily="34" charset="0"/>
                <a:ea typeface="Aptos Display" pitchFamily="34" charset="-122"/>
                <a:cs typeface="Aptos Display" pitchFamily="34" charset="-120"/>
              </a:rPr>
              <a:t>Novel OOV threshold: Z(t) &gt; 2.0       |       Semantic-shift threshold: Z(t) &gt; 1.8</a:t>
            </a:r>
            <a:endParaRPr lang="en-US" sz="18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Reducing false positives</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Context Control</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Context Control</a:t>
            </a:r>
            <a:endParaRPr lang="en-US" sz="880" dirty="0"/>
          </a:p>
        </p:txBody>
      </p:sp>
      <p:sp>
        <p:nvSpPr>
          <p:cNvPr id="31" name="Shape 28"/>
          <p:cNvSpPr/>
          <p:nvPr/>
        </p:nvSpPr>
        <p:spPr>
          <a:xfrm>
            <a:off x="685800" y="1325880"/>
            <a:ext cx="3291840" cy="1280160"/>
          </a:xfrm>
          <a:prstGeom prst="roundRect">
            <a:avLst>
              <a:gd name="adj" fmla="val 10000"/>
            </a:avLst>
          </a:prstGeom>
          <a:solidFill>
            <a:srgbClr val="0E2638">
              <a:alpha val="95000"/>
            </a:srgbClr>
          </a:solidFill>
          <a:ln w="13970">
            <a:solidFill>
              <a:srgbClr val="7EF29D">
                <a:alpha val="55000"/>
              </a:srgbClr>
            </a:solidFill>
            <a:prstDash val="solid"/>
          </a:ln>
        </p:spPr>
        <p:txBody>
          <a:bodyPr/>
          <a:lstStyle/>
          <a:p>
            <a:endParaRPr lang="en-PH"/>
          </a:p>
        </p:txBody>
      </p:sp>
      <p:sp>
        <p:nvSpPr>
          <p:cNvPr id="32" name="Shape 29"/>
          <p:cNvSpPr/>
          <p:nvPr/>
        </p:nvSpPr>
        <p:spPr>
          <a:xfrm>
            <a:off x="822960" y="1783080"/>
            <a:ext cx="3017520" cy="0"/>
          </a:xfrm>
          <a:prstGeom prst="line">
            <a:avLst/>
          </a:prstGeom>
          <a:noFill/>
          <a:ln w="15240">
            <a:solidFill>
              <a:srgbClr val="7EF29D">
                <a:alpha val="70000"/>
              </a:srgbClr>
            </a:solidFill>
            <a:prstDash val="solid"/>
          </a:ln>
        </p:spPr>
        <p:txBody>
          <a:bodyPr/>
          <a:lstStyle/>
          <a:p>
            <a:endParaRPr lang="en-PH"/>
          </a:p>
        </p:txBody>
      </p:sp>
      <p:sp>
        <p:nvSpPr>
          <p:cNvPr id="33" name="Text 30"/>
          <p:cNvSpPr/>
          <p:nvPr/>
        </p:nvSpPr>
        <p:spPr>
          <a:xfrm>
            <a:off x="886968" y="1463040"/>
            <a:ext cx="288950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Morphological filter</a:t>
            </a:r>
            <a:endParaRPr lang="en-US" sz="1300" dirty="0"/>
          </a:p>
        </p:txBody>
      </p:sp>
      <p:sp>
        <p:nvSpPr>
          <p:cNvPr id="34" name="Text 31"/>
          <p:cNvSpPr/>
          <p:nvPr/>
        </p:nvSpPr>
        <p:spPr>
          <a:xfrm>
            <a:off x="886968" y="1920240"/>
            <a:ext cx="2889504" cy="56692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Removes ordinary forms such as naka-, napaka-, nag-, and pinaka- patterns.</a:t>
            </a:r>
            <a:endParaRPr lang="en-US" sz="1100" dirty="0"/>
          </a:p>
        </p:txBody>
      </p:sp>
      <p:sp>
        <p:nvSpPr>
          <p:cNvPr id="35" name="Shape 32"/>
          <p:cNvSpPr/>
          <p:nvPr/>
        </p:nvSpPr>
        <p:spPr>
          <a:xfrm>
            <a:off x="4480560" y="1325880"/>
            <a:ext cx="3291840" cy="1280160"/>
          </a:xfrm>
          <a:prstGeom prst="roundRect">
            <a:avLst>
              <a:gd name="adj" fmla="val 10000"/>
            </a:avLst>
          </a:prstGeom>
          <a:solidFill>
            <a:srgbClr val="0E2638">
              <a:alpha val="95000"/>
            </a:srgbClr>
          </a:solidFill>
          <a:ln w="13970">
            <a:solidFill>
              <a:srgbClr val="2EE8E1">
                <a:alpha val="55000"/>
              </a:srgbClr>
            </a:solidFill>
            <a:prstDash val="solid"/>
          </a:ln>
        </p:spPr>
        <p:txBody>
          <a:bodyPr/>
          <a:lstStyle/>
          <a:p>
            <a:endParaRPr lang="en-PH"/>
          </a:p>
        </p:txBody>
      </p:sp>
      <p:sp>
        <p:nvSpPr>
          <p:cNvPr id="36" name="Shape 33"/>
          <p:cNvSpPr/>
          <p:nvPr/>
        </p:nvSpPr>
        <p:spPr>
          <a:xfrm>
            <a:off x="4617720" y="1783080"/>
            <a:ext cx="3017520" cy="0"/>
          </a:xfrm>
          <a:prstGeom prst="line">
            <a:avLst/>
          </a:prstGeom>
          <a:noFill/>
          <a:ln w="15240">
            <a:solidFill>
              <a:srgbClr val="2EE8E1">
                <a:alpha val="70000"/>
              </a:srgbClr>
            </a:solidFill>
            <a:prstDash val="solid"/>
          </a:ln>
        </p:spPr>
        <p:txBody>
          <a:bodyPr/>
          <a:lstStyle/>
          <a:p>
            <a:endParaRPr lang="en-PH"/>
          </a:p>
        </p:txBody>
      </p:sp>
      <p:sp>
        <p:nvSpPr>
          <p:cNvPr id="37" name="Text 34"/>
          <p:cNvSpPr/>
          <p:nvPr/>
        </p:nvSpPr>
        <p:spPr>
          <a:xfrm>
            <a:off x="4681728" y="1463040"/>
            <a:ext cx="288950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Ambiguous terms</a:t>
            </a:r>
            <a:endParaRPr lang="en-US" sz="1300" dirty="0"/>
          </a:p>
        </p:txBody>
      </p:sp>
      <p:sp>
        <p:nvSpPr>
          <p:cNvPr id="38" name="Text 35"/>
          <p:cNvSpPr/>
          <p:nvPr/>
        </p:nvSpPr>
        <p:spPr>
          <a:xfrm>
            <a:off x="4681728" y="1920240"/>
            <a:ext cx="2889504" cy="56692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bet, solid, ghost, slay, sus, chika, tropa, and others require context.</a:t>
            </a:r>
            <a:endParaRPr lang="en-US" sz="1100" dirty="0"/>
          </a:p>
        </p:txBody>
      </p:sp>
      <p:sp>
        <p:nvSpPr>
          <p:cNvPr id="39" name="Shape 36"/>
          <p:cNvSpPr/>
          <p:nvPr/>
        </p:nvSpPr>
        <p:spPr>
          <a:xfrm>
            <a:off x="8275320" y="1325880"/>
            <a:ext cx="3291840" cy="1280160"/>
          </a:xfrm>
          <a:prstGeom prst="roundRect">
            <a:avLst>
              <a:gd name="adj" fmla="val 10000"/>
            </a:avLst>
          </a:prstGeom>
          <a:solidFill>
            <a:srgbClr val="0E2638">
              <a:alpha val="95000"/>
            </a:srgbClr>
          </a:solidFill>
          <a:ln w="13970">
            <a:solidFill>
              <a:srgbClr val="B884FF">
                <a:alpha val="55000"/>
              </a:srgbClr>
            </a:solidFill>
            <a:prstDash val="solid"/>
          </a:ln>
        </p:spPr>
        <p:txBody>
          <a:bodyPr/>
          <a:lstStyle/>
          <a:p>
            <a:endParaRPr lang="en-PH"/>
          </a:p>
        </p:txBody>
      </p:sp>
      <p:sp>
        <p:nvSpPr>
          <p:cNvPr id="40" name="Shape 37"/>
          <p:cNvSpPr/>
          <p:nvPr/>
        </p:nvSpPr>
        <p:spPr>
          <a:xfrm>
            <a:off x="8412480" y="1783080"/>
            <a:ext cx="3017520" cy="0"/>
          </a:xfrm>
          <a:prstGeom prst="line">
            <a:avLst/>
          </a:prstGeom>
          <a:noFill/>
          <a:ln w="15240">
            <a:solidFill>
              <a:srgbClr val="B884FF">
                <a:alpha val="70000"/>
              </a:srgbClr>
            </a:solidFill>
            <a:prstDash val="solid"/>
          </a:ln>
        </p:spPr>
        <p:txBody>
          <a:bodyPr/>
          <a:lstStyle/>
          <a:p>
            <a:endParaRPr lang="en-PH"/>
          </a:p>
        </p:txBody>
      </p:sp>
      <p:sp>
        <p:nvSpPr>
          <p:cNvPr id="41" name="Text 38"/>
          <p:cNvSpPr/>
          <p:nvPr/>
        </p:nvSpPr>
        <p:spPr>
          <a:xfrm>
            <a:off x="8476488" y="1463040"/>
            <a:ext cx="288950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Context-window gate</a:t>
            </a:r>
            <a:endParaRPr lang="en-US" sz="1300" dirty="0"/>
          </a:p>
        </p:txBody>
      </p:sp>
      <p:sp>
        <p:nvSpPr>
          <p:cNvPr id="42" name="Text 39"/>
          <p:cNvSpPr/>
          <p:nvPr/>
        </p:nvSpPr>
        <p:spPr>
          <a:xfrm>
            <a:off x="8476488" y="1920240"/>
            <a:ext cx="2889504" cy="56692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Checks nearby Filipino particles: ang, ng, sa, kasi, talaga, grabe.</a:t>
            </a:r>
            <a:endParaRPr lang="en-US" sz="1100" dirty="0"/>
          </a:p>
        </p:txBody>
      </p:sp>
      <p:sp>
        <p:nvSpPr>
          <p:cNvPr id="43" name="Text 40"/>
          <p:cNvSpPr/>
          <p:nvPr/>
        </p:nvSpPr>
        <p:spPr>
          <a:xfrm>
            <a:off x="777240" y="3154680"/>
            <a:ext cx="2926080" cy="274320"/>
          </a:xfrm>
          <a:prstGeom prst="rect">
            <a:avLst/>
          </a:prstGeom>
          <a:noFill/>
          <a:ln/>
        </p:spPr>
        <p:txBody>
          <a:bodyPr wrap="square" lIns="0" tIns="0" rIns="0" bIns="0" rtlCol="0" anchor="ctr"/>
          <a:lstStyle/>
          <a:p>
            <a:pPr marL="0" indent="0">
              <a:buNone/>
            </a:pPr>
            <a:r>
              <a:rPr lang="en-US" sz="1700" b="1" dirty="0">
                <a:solidFill>
                  <a:srgbClr val="F4FBFF"/>
                </a:solidFill>
                <a:latin typeface="Aptos Display" pitchFamily="34" charset="0"/>
                <a:ea typeface="Aptos Display" pitchFamily="34" charset="-122"/>
                <a:cs typeface="Aptos Display" pitchFamily="34" charset="-120"/>
              </a:rPr>
              <a:t>Example disambiguation</a:t>
            </a:r>
            <a:endParaRPr lang="en-US" sz="1700" dirty="0"/>
          </a:p>
        </p:txBody>
      </p:sp>
      <p:sp>
        <p:nvSpPr>
          <p:cNvPr id="44" name="Shape 41"/>
          <p:cNvSpPr/>
          <p:nvPr/>
        </p:nvSpPr>
        <p:spPr>
          <a:xfrm>
            <a:off x="841248" y="3593592"/>
            <a:ext cx="4892040" cy="1005840"/>
          </a:xfrm>
          <a:prstGeom prst="roundRect">
            <a:avLst>
              <a:gd name="adj" fmla="val 12727"/>
            </a:avLst>
          </a:prstGeom>
          <a:solidFill>
            <a:srgbClr val="0E2638">
              <a:alpha val="95000"/>
            </a:srgbClr>
          </a:solidFill>
          <a:ln w="13970">
            <a:solidFill>
              <a:srgbClr val="FF6B7A">
                <a:alpha val="55000"/>
              </a:srgbClr>
            </a:solidFill>
            <a:prstDash val="solid"/>
          </a:ln>
        </p:spPr>
        <p:txBody>
          <a:bodyPr/>
          <a:lstStyle/>
          <a:p>
            <a:endParaRPr lang="en-PH"/>
          </a:p>
        </p:txBody>
      </p:sp>
      <p:sp>
        <p:nvSpPr>
          <p:cNvPr id="45" name="Shape 42"/>
          <p:cNvSpPr/>
          <p:nvPr/>
        </p:nvSpPr>
        <p:spPr>
          <a:xfrm>
            <a:off x="978408" y="4050792"/>
            <a:ext cx="4617720" cy="0"/>
          </a:xfrm>
          <a:prstGeom prst="line">
            <a:avLst/>
          </a:prstGeom>
          <a:noFill/>
          <a:ln w="15240">
            <a:solidFill>
              <a:srgbClr val="FF6B7A">
                <a:alpha val="70000"/>
              </a:srgbClr>
            </a:solidFill>
            <a:prstDash val="solid"/>
          </a:ln>
        </p:spPr>
        <p:txBody>
          <a:bodyPr/>
          <a:lstStyle/>
          <a:p>
            <a:endParaRPr lang="en-PH"/>
          </a:p>
        </p:txBody>
      </p:sp>
      <p:sp>
        <p:nvSpPr>
          <p:cNvPr id="46" name="Text 43"/>
          <p:cNvSpPr/>
          <p:nvPr/>
        </p:nvSpPr>
        <p:spPr>
          <a:xfrm>
            <a:off x="1042416" y="3730752"/>
            <a:ext cx="4489704" cy="256032"/>
          </a:xfrm>
          <a:prstGeom prst="rect">
            <a:avLst/>
          </a:prstGeom>
          <a:noFill/>
          <a:ln/>
        </p:spPr>
        <p:txBody>
          <a:bodyPr wrap="square" lIns="0" tIns="0" rIns="0" bIns="0" rtlCol="0" anchor="ctr">
            <a:normAutofit/>
          </a:bodyPr>
          <a:lstStyle/>
          <a:p>
            <a:pPr marL="0" indent="0">
              <a:buNone/>
            </a:pPr>
            <a:r>
              <a:rPr lang="en-US" sz="1200" b="1" dirty="0">
                <a:solidFill>
                  <a:srgbClr val="FF6B7A"/>
                </a:solidFill>
                <a:latin typeface="Aptos Display" pitchFamily="34" charset="0"/>
                <a:ea typeface="Aptos Display" pitchFamily="34" charset="-122"/>
                <a:cs typeface="Aptos Display" pitchFamily="34" charset="-120"/>
              </a:rPr>
              <a:t>Not confirmed as slang</a:t>
            </a:r>
            <a:endParaRPr lang="en-US" sz="1200" dirty="0"/>
          </a:p>
        </p:txBody>
      </p:sp>
      <p:sp>
        <p:nvSpPr>
          <p:cNvPr id="47" name="Text 44"/>
          <p:cNvSpPr/>
          <p:nvPr/>
        </p:nvSpPr>
        <p:spPr>
          <a:xfrm>
            <a:off x="1042416" y="4187952"/>
            <a:ext cx="4489704" cy="292608"/>
          </a:xfrm>
          <a:prstGeom prst="rect">
            <a:avLst/>
          </a:prstGeom>
          <a:noFill/>
          <a:ln/>
        </p:spPr>
        <p:txBody>
          <a:bodyPr wrap="square" lIns="254" tIns="254" rIns="254" bIns="254" rtlCol="0" anchor="ctr">
            <a:normAutofit/>
          </a:bodyPr>
          <a:lstStyle/>
          <a:p>
            <a:pPr marL="0" indent="0">
              <a:buNone/>
            </a:pPr>
            <a:r>
              <a:rPr lang="en-US" sz="1400" dirty="0">
                <a:solidFill>
                  <a:srgbClr val="F4FBFF"/>
                </a:solidFill>
                <a:latin typeface="Aptos" pitchFamily="34" charset="0"/>
                <a:ea typeface="Aptos" pitchFamily="34" charset="-122"/>
                <a:cs typeface="Aptos" pitchFamily="34" charset="-120"/>
              </a:rPr>
              <a:t>“I bet this will work.”</a:t>
            </a:r>
            <a:endParaRPr lang="en-US" sz="1400" dirty="0"/>
          </a:p>
        </p:txBody>
      </p:sp>
      <p:sp>
        <p:nvSpPr>
          <p:cNvPr id="48" name="Shape 45"/>
          <p:cNvSpPr/>
          <p:nvPr/>
        </p:nvSpPr>
        <p:spPr>
          <a:xfrm>
            <a:off x="6400800" y="3593592"/>
            <a:ext cx="4892040" cy="1005840"/>
          </a:xfrm>
          <a:prstGeom prst="roundRect">
            <a:avLst>
              <a:gd name="adj" fmla="val 12727"/>
            </a:avLst>
          </a:prstGeom>
          <a:solidFill>
            <a:srgbClr val="0E2638">
              <a:alpha val="95000"/>
            </a:srgbClr>
          </a:solidFill>
          <a:ln w="13970">
            <a:solidFill>
              <a:srgbClr val="7EF29D">
                <a:alpha val="55000"/>
              </a:srgbClr>
            </a:solidFill>
            <a:prstDash val="solid"/>
          </a:ln>
        </p:spPr>
        <p:txBody>
          <a:bodyPr/>
          <a:lstStyle/>
          <a:p>
            <a:endParaRPr lang="en-PH"/>
          </a:p>
        </p:txBody>
      </p:sp>
      <p:sp>
        <p:nvSpPr>
          <p:cNvPr id="49" name="Shape 46"/>
          <p:cNvSpPr/>
          <p:nvPr/>
        </p:nvSpPr>
        <p:spPr>
          <a:xfrm>
            <a:off x="6537960" y="4050792"/>
            <a:ext cx="4617720" cy="0"/>
          </a:xfrm>
          <a:prstGeom prst="line">
            <a:avLst/>
          </a:prstGeom>
          <a:noFill/>
          <a:ln w="15240">
            <a:solidFill>
              <a:srgbClr val="7EF29D">
                <a:alpha val="70000"/>
              </a:srgbClr>
            </a:solidFill>
            <a:prstDash val="solid"/>
          </a:ln>
        </p:spPr>
        <p:txBody>
          <a:bodyPr/>
          <a:lstStyle/>
          <a:p>
            <a:endParaRPr lang="en-PH"/>
          </a:p>
        </p:txBody>
      </p:sp>
      <p:sp>
        <p:nvSpPr>
          <p:cNvPr id="50" name="Text 47"/>
          <p:cNvSpPr/>
          <p:nvPr/>
        </p:nvSpPr>
        <p:spPr>
          <a:xfrm>
            <a:off x="6601968" y="3730752"/>
            <a:ext cx="4489704" cy="256032"/>
          </a:xfrm>
          <a:prstGeom prst="rect">
            <a:avLst/>
          </a:prstGeom>
          <a:noFill/>
          <a:ln/>
        </p:spPr>
        <p:txBody>
          <a:bodyPr wrap="square" lIns="0" tIns="0" rIns="0" bIns="0" rtlCol="0" anchor="ctr">
            <a:normAutofit/>
          </a:bodyPr>
          <a:lstStyle/>
          <a:p>
            <a:pPr marL="0" indent="0">
              <a:buNone/>
            </a:pPr>
            <a:r>
              <a:rPr lang="en-US" sz="1200" b="1" dirty="0">
                <a:solidFill>
                  <a:srgbClr val="7EF29D"/>
                </a:solidFill>
                <a:latin typeface="Aptos Display" pitchFamily="34" charset="0"/>
                <a:ea typeface="Aptos Display" pitchFamily="34" charset="-122"/>
                <a:cs typeface="Aptos Display" pitchFamily="34" charset="-120"/>
              </a:rPr>
              <a:t>Accepted in Filipino context</a:t>
            </a:r>
            <a:endParaRPr lang="en-US" sz="1200" dirty="0"/>
          </a:p>
        </p:txBody>
      </p:sp>
      <p:sp>
        <p:nvSpPr>
          <p:cNvPr id="51" name="Text 48"/>
          <p:cNvSpPr/>
          <p:nvPr/>
        </p:nvSpPr>
        <p:spPr>
          <a:xfrm>
            <a:off x="6601968" y="4187952"/>
            <a:ext cx="4489704" cy="292608"/>
          </a:xfrm>
          <a:prstGeom prst="rect">
            <a:avLst/>
          </a:prstGeom>
          <a:noFill/>
          <a:ln/>
        </p:spPr>
        <p:txBody>
          <a:bodyPr wrap="square" lIns="254" tIns="254" rIns="254" bIns="254" rtlCol="0" anchor="ctr">
            <a:normAutofit/>
          </a:bodyPr>
          <a:lstStyle/>
          <a:p>
            <a:pPr marL="0" indent="0">
              <a:buNone/>
            </a:pPr>
            <a:r>
              <a:rPr lang="en-US" sz="1400" dirty="0">
                <a:solidFill>
                  <a:srgbClr val="F4FBFF"/>
                </a:solidFill>
                <a:latin typeface="Aptos" pitchFamily="34" charset="0"/>
                <a:ea typeface="Aptos" pitchFamily="34" charset="-122"/>
                <a:cs typeface="Aptos" pitchFamily="34" charset="-120"/>
              </a:rPr>
              <a:t>“Bet ko itong feature, ang useful.”</a:t>
            </a:r>
            <a:endParaRPr lang="en-US" sz="14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426"/>
        </a:solidFill>
        <a:effectLst/>
      </p:bgPr>
    </p:bg>
    <p:spTree>
      <p:nvGrpSpPr>
        <p:cNvPr id="1" name=""/>
        <p:cNvGrpSpPr/>
        <p:nvPr/>
      </p:nvGrpSpPr>
      <p:grpSpPr>
        <a:xfrm>
          <a:off x="0" y="0"/>
          <a:ext cx="0" cy="0"/>
          <a:chOff x="0" y="0"/>
          <a:chExt cx="0" cy="0"/>
        </a:xfrm>
      </p:grpSpPr>
      <p:pic>
        <p:nvPicPr>
          <p:cNvPr id="2" name="Image 0" descr="/mnt/data/a_wide_dark_futuristic_digital_abstract_scene.png"/>
          <p:cNvPicPr>
            <a:picLocks noChangeAspect="1"/>
          </p:cNvPicPr>
          <p:nvPr/>
        </p:nvPicPr>
        <p:blipFill>
          <a:blip r:embed="rId3">
            <a:alphaModFix amt="58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426">
              <a:alpha val="84000"/>
            </a:srgbClr>
          </a:solidFill>
          <a:ln w="12700">
            <a:solidFill>
              <a:srgbClr val="333333">
                <a:alpha val="0"/>
              </a:srgbClr>
            </a:solidFill>
            <a:prstDash val="solid"/>
          </a:ln>
        </p:spPr>
        <p:txBody>
          <a:bodyPr/>
          <a:lstStyle/>
          <a:p>
            <a:endParaRPr lang="en-PH"/>
          </a:p>
        </p:txBody>
      </p:sp>
      <p:sp>
        <p:nvSpPr>
          <p:cNvPr id="4" name="Text 1"/>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User-facing modules</a:t>
            </a:r>
            <a:endParaRPr lang="en-US" sz="2600" dirty="0"/>
          </a:p>
        </p:txBody>
      </p:sp>
      <p:sp>
        <p:nvSpPr>
          <p:cNvPr id="5" name="Shape 2"/>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6" name="Text 3"/>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Prototype</a:t>
            </a:r>
            <a:endParaRPr lang="en-US" sz="950" dirty="0"/>
          </a:p>
        </p:txBody>
      </p:sp>
      <p:sp>
        <p:nvSpPr>
          <p:cNvPr id="7" name="Shape 4"/>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8" name="Text 5"/>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Prototype</a:t>
            </a:r>
            <a:endParaRPr lang="en-US" sz="880" dirty="0"/>
          </a:p>
        </p:txBody>
      </p:sp>
      <p:sp>
        <p:nvSpPr>
          <p:cNvPr id="10" name="Shape 6"/>
          <p:cNvSpPr/>
          <p:nvPr/>
        </p:nvSpPr>
        <p:spPr>
          <a:xfrm>
            <a:off x="713232" y="1417320"/>
            <a:ext cx="3200400" cy="914400"/>
          </a:xfrm>
          <a:prstGeom prst="roundRect">
            <a:avLst>
              <a:gd name="adj" fmla="val 14000"/>
            </a:avLst>
          </a:prstGeom>
          <a:solidFill>
            <a:srgbClr val="081C2F">
              <a:alpha val="92000"/>
            </a:srgbClr>
          </a:solidFill>
          <a:ln w="13970">
            <a:solidFill>
              <a:srgbClr val="2EE8E1">
                <a:alpha val="55000"/>
              </a:srgbClr>
            </a:solidFill>
            <a:prstDash val="solid"/>
          </a:ln>
        </p:spPr>
        <p:txBody>
          <a:bodyPr/>
          <a:lstStyle/>
          <a:p>
            <a:endParaRPr lang="en-PH"/>
          </a:p>
        </p:txBody>
      </p:sp>
      <p:sp>
        <p:nvSpPr>
          <p:cNvPr id="11" name="Shape 7"/>
          <p:cNvSpPr/>
          <p:nvPr/>
        </p:nvSpPr>
        <p:spPr>
          <a:xfrm>
            <a:off x="850392" y="1874520"/>
            <a:ext cx="2926080" cy="0"/>
          </a:xfrm>
          <a:prstGeom prst="line">
            <a:avLst/>
          </a:prstGeom>
          <a:noFill/>
          <a:ln w="15240">
            <a:solidFill>
              <a:srgbClr val="2EE8E1">
                <a:alpha val="70000"/>
              </a:srgbClr>
            </a:solidFill>
            <a:prstDash val="solid"/>
          </a:ln>
        </p:spPr>
        <p:txBody>
          <a:bodyPr/>
          <a:lstStyle/>
          <a:p>
            <a:endParaRPr lang="en-PH"/>
          </a:p>
        </p:txBody>
      </p:sp>
      <p:sp>
        <p:nvSpPr>
          <p:cNvPr id="12" name="Text 8"/>
          <p:cNvSpPr/>
          <p:nvPr/>
        </p:nvSpPr>
        <p:spPr>
          <a:xfrm>
            <a:off x="914400" y="1554480"/>
            <a:ext cx="279806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a:t>
            </a:r>
            <a:endParaRPr lang="en-US" sz="1300" dirty="0"/>
          </a:p>
        </p:txBody>
      </p:sp>
      <p:sp>
        <p:nvSpPr>
          <p:cNvPr id="13" name="Text 9"/>
          <p:cNvSpPr/>
          <p:nvPr/>
        </p:nvSpPr>
        <p:spPr>
          <a:xfrm>
            <a:off x="914400" y="2011680"/>
            <a:ext cx="2798064" cy="201168"/>
          </a:xfrm>
          <a:prstGeom prst="rect">
            <a:avLst/>
          </a:prstGeom>
          <a:noFill/>
          <a:ln/>
        </p:spPr>
        <p:txBody>
          <a:bodyPr wrap="square" lIns="254" tIns="254" rIns="254" bIns="254" rtlCol="0" anchor="ctr">
            <a:normAutofit/>
          </a:bodyPr>
          <a:lstStyle/>
          <a:p>
            <a:pPr marL="0" indent="0">
              <a:buNone/>
            </a:pPr>
            <a:r>
              <a:rPr lang="en-US" sz="1150" dirty="0">
                <a:solidFill>
                  <a:srgbClr val="F4FBFF"/>
                </a:solidFill>
                <a:latin typeface="Aptos" pitchFamily="34" charset="0"/>
                <a:ea typeface="Aptos" pitchFamily="34" charset="-122"/>
                <a:cs typeface="Aptos" pitchFamily="34" charset="-120"/>
              </a:rPr>
              <a:t>Live dashboard</a:t>
            </a:r>
            <a:endParaRPr lang="en-US" sz="1150" dirty="0"/>
          </a:p>
        </p:txBody>
      </p:sp>
      <p:sp>
        <p:nvSpPr>
          <p:cNvPr id="14" name="Shape 10"/>
          <p:cNvSpPr/>
          <p:nvPr/>
        </p:nvSpPr>
        <p:spPr>
          <a:xfrm>
            <a:off x="4507992" y="1417320"/>
            <a:ext cx="3200400" cy="914400"/>
          </a:xfrm>
          <a:prstGeom prst="roundRect">
            <a:avLst>
              <a:gd name="adj" fmla="val 14000"/>
            </a:avLst>
          </a:prstGeom>
          <a:solidFill>
            <a:srgbClr val="081C2F">
              <a:alpha val="92000"/>
            </a:srgbClr>
          </a:solidFill>
          <a:ln w="13970">
            <a:solidFill>
              <a:srgbClr val="7EF29D">
                <a:alpha val="55000"/>
              </a:srgbClr>
            </a:solidFill>
            <a:prstDash val="solid"/>
          </a:ln>
        </p:spPr>
        <p:txBody>
          <a:bodyPr/>
          <a:lstStyle/>
          <a:p>
            <a:endParaRPr lang="en-PH"/>
          </a:p>
        </p:txBody>
      </p:sp>
      <p:sp>
        <p:nvSpPr>
          <p:cNvPr id="15" name="Shape 11"/>
          <p:cNvSpPr/>
          <p:nvPr/>
        </p:nvSpPr>
        <p:spPr>
          <a:xfrm>
            <a:off x="4645152" y="1874520"/>
            <a:ext cx="2926080" cy="0"/>
          </a:xfrm>
          <a:prstGeom prst="line">
            <a:avLst/>
          </a:prstGeom>
          <a:noFill/>
          <a:ln w="15240">
            <a:solidFill>
              <a:srgbClr val="7EF29D">
                <a:alpha val="70000"/>
              </a:srgbClr>
            </a:solidFill>
            <a:prstDash val="solid"/>
          </a:ln>
        </p:spPr>
        <p:txBody>
          <a:bodyPr/>
          <a:lstStyle/>
          <a:p>
            <a:endParaRPr lang="en-PH"/>
          </a:p>
        </p:txBody>
      </p:sp>
      <p:sp>
        <p:nvSpPr>
          <p:cNvPr id="16" name="Text 12"/>
          <p:cNvSpPr/>
          <p:nvPr/>
        </p:nvSpPr>
        <p:spPr>
          <a:xfrm>
            <a:off x="4709160" y="1554480"/>
            <a:ext cx="279806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/dictionary</a:t>
            </a:r>
            <a:endParaRPr lang="en-US" sz="1300" dirty="0"/>
          </a:p>
        </p:txBody>
      </p:sp>
      <p:sp>
        <p:nvSpPr>
          <p:cNvPr id="17" name="Text 13"/>
          <p:cNvSpPr/>
          <p:nvPr/>
        </p:nvSpPr>
        <p:spPr>
          <a:xfrm>
            <a:off x="4709160" y="2011680"/>
            <a:ext cx="2798064" cy="201168"/>
          </a:xfrm>
          <a:prstGeom prst="rect">
            <a:avLst/>
          </a:prstGeom>
          <a:noFill/>
          <a:ln/>
        </p:spPr>
        <p:txBody>
          <a:bodyPr wrap="square" lIns="254" tIns="254" rIns="254" bIns="254" rtlCol="0" anchor="ctr">
            <a:normAutofit/>
          </a:bodyPr>
          <a:lstStyle/>
          <a:p>
            <a:pPr marL="0" indent="0">
              <a:buNone/>
            </a:pPr>
            <a:r>
              <a:rPr lang="en-US" sz="1150" dirty="0">
                <a:solidFill>
                  <a:srgbClr val="F4FBFF"/>
                </a:solidFill>
                <a:latin typeface="Aptos" pitchFamily="34" charset="0"/>
                <a:ea typeface="Aptos" pitchFamily="34" charset="-122"/>
                <a:cs typeface="Aptos" pitchFamily="34" charset="-120"/>
              </a:rPr>
              <a:t>Searchable lexicon</a:t>
            </a:r>
            <a:endParaRPr lang="en-US" sz="1150" dirty="0"/>
          </a:p>
        </p:txBody>
      </p:sp>
      <p:sp>
        <p:nvSpPr>
          <p:cNvPr id="18" name="Shape 14"/>
          <p:cNvSpPr/>
          <p:nvPr/>
        </p:nvSpPr>
        <p:spPr>
          <a:xfrm>
            <a:off x="8302752" y="1417320"/>
            <a:ext cx="3200400" cy="914400"/>
          </a:xfrm>
          <a:prstGeom prst="roundRect">
            <a:avLst>
              <a:gd name="adj" fmla="val 14000"/>
            </a:avLst>
          </a:prstGeom>
          <a:solidFill>
            <a:srgbClr val="081C2F">
              <a:alpha val="92000"/>
            </a:srgbClr>
          </a:solidFill>
          <a:ln w="13970">
            <a:solidFill>
              <a:srgbClr val="B884FF">
                <a:alpha val="55000"/>
              </a:srgbClr>
            </a:solidFill>
            <a:prstDash val="solid"/>
          </a:ln>
        </p:spPr>
        <p:txBody>
          <a:bodyPr/>
          <a:lstStyle/>
          <a:p>
            <a:endParaRPr lang="en-PH"/>
          </a:p>
        </p:txBody>
      </p:sp>
      <p:sp>
        <p:nvSpPr>
          <p:cNvPr id="19" name="Shape 15"/>
          <p:cNvSpPr/>
          <p:nvPr/>
        </p:nvSpPr>
        <p:spPr>
          <a:xfrm>
            <a:off x="8439912" y="1874520"/>
            <a:ext cx="2926080" cy="0"/>
          </a:xfrm>
          <a:prstGeom prst="line">
            <a:avLst/>
          </a:prstGeom>
          <a:noFill/>
          <a:ln w="15240">
            <a:solidFill>
              <a:srgbClr val="B884FF">
                <a:alpha val="70000"/>
              </a:srgbClr>
            </a:solidFill>
            <a:prstDash val="solid"/>
          </a:ln>
        </p:spPr>
        <p:txBody>
          <a:bodyPr/>
          <a:lstStyle/>
          <a:p>
            <a:endParaRPr lang="en-PH"/>
          </a:p>
        </p:txBody>
      </p:sp>
      <p:sp>
        <p:nvSpPr>
          <p:cNvPr id="20" name="Text 16"/>
          <p:cNvSpPr/>
          <p:nvPr/>
        </p:nvSpPr>
        <p:spPr>
          <a:xfrm>
            <a:off x="8503920" y="1554480"/>
            <a:ext cx="279806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/tutor</a:t>
            </a:r>
            <a:endParaRPr lang="en-US" sz="1300" dirty="0"/>
          </a:p>
        </p:txBody>
      </p:sp>
      <p:sp>
        <p:nvSpPr>
          <p:cNvPr id="21" name="Text 17"/>
          <p:cNvSpPr/>
          <p:nvPr/>
        </p:nvSpPr>
        <p:spPr>
          <a:xfrm>
            <a:off x="8503920" y="2011680"/>
            <a:ext cx="2798064" cy="201168"/>
          </a:xfrm>
          <a:prstGeom prst="rect">
            <a:avLst/>
          </a:prstGeom>
          <a:noFill/>
          <a:ln/>
        </p:spPr>
        <p:txBody>
          <a:bodyPr wrap="square" lIns="254" tIns="254" rIns="254" bIns="254" rtlCol="0" anchor="ctr">
            <a:normAutofit/>
          </a:bodyPr>
          <a:lstStyle/>
          <a:p>
            <a:pPr marL="0" indent="0">
              <a:buNone/>
            </a:pPr>
            <a:r>
              <a:rPr lang="en-US" sz="1150" dirty="0">
                <a:solidFill>
                  <a:srgbClr val="F4FBFF"/>
                </a:solidFill>
                <a:latin typeface="Aptos" pitchFamily="34" charset="0"/>
                <a:ea typeface="Aptos" pitchFamily="34" charset="-122"/>
                <a:cs typeface="Aptos" pitchFamily="34" charset="-120"/>
              </a:rPr>
              <a:t>Kuya Slang chatbot</a:t>
            </a:r>
            <a:endParaRPr lang="en-US" sz="1150" dirty="0"/>
          </a:p>
        </p:txBody>
      </p:sp>
      <p:sp>
        <p:nvSpPr>
          <p:cNvPr id="22" name="Shape 18"/>
          <p:cNvSpPr/>
          <p:nvPr/>
        </p:nvSpPr>
        <p:spPr>
          <a:xfrm>
            <a:off x="713232" y="2834640"/>
            <a:ext cx="3200400" cy="914400"/>
          </a:xfrm>
          <a:prstGeom prst="roundRect">
            <a:avLst>
              <a:gd name="adj" fmla="val 14000"/>
            </a:avLst>
          </a:prstGeom>
          <a:solidFill>
            <a:srgbClr val="081C2F">
              <a:alpha val="92000"/>
            </a:srgbClr>
          </a:solidFill>
          <a:ln w="13970">
            <a:solidFill>
              <a:srgbClr val="FFD166">
                <a:alpha val="55000"/>
              </a:srgbClr>
            </a:solidFill>
            <a:prstDash val="solid"/>
          </a:ln>
        </p:spPr>
        <p:txBody>
          <a:bodyPr/>
          <a:lstStyle/>
          <a:p>
            <a:endParaRPr lang="en-PH"/>
          </a:p>
        </p:txBody>
      </p:sp>
      <p:sp>
        <p:nvSpPr>
          <p:cNvPr id="23" name="Shape 19"/>
          <p:cNvSpPr/>
          <p:nvPr/>
        </p:nvSpPr>
        <p:spPr>
          <a:xfrm>
            <a:off x="850392" y="3291840"/>
            <a:ext cx="2926080" cy="0"/>
          </a:xfrm>
          <a:prstGeom prst="line">
            <a:avLst/>
          </a:prstGeom>
          <a:noFill/>
          <a:ln w="15240">
            <a:solidFill>
              <a:srgbClr val="FFD166">
                <a:alpha val="70000"/>
              </a:srgbClr>
            </a:solidFill>
            <a:prstDash val="solid"/>
          </a:ln>
        </p:spPr>
        <p:txBody>
          <a:bodyPr/>
          <a:lstStyle/>
          <a:p>
            <a:endParaRPr lang="en-PH"/>
          </a:p>
        </p:txBody>
      </p:sp>
      <p:sp>
        <p:nvSpPr>
          <p:cNvPr id="24" name="Text 20"/>
          <p:cNvSpPr/>
          <p:nvPr/>
        </p:nvSpPr>
        <p:spPr>
          <a:xfrm>
            <a:off x="914400" y="2971800"/>
            <a:ext cx="2798064" cy="256032"/>
          </a:xfrm>
          <a:prstGeom prst="rect">
            <a:avLst/>
          </a:prstGeom>
          <a:noFill/>
          <a:ln/>
        </p:spPr>
        <p:txBody>
          <a:bodyPr wrap="square" lIns="0" tIns="0" rIns="0" bIns="0" rtlCol="0" anchor="ctr">
            <a:normAutofit/>
          </a:bodyPr>
          <a:lstStyle/>
          <a:p>
            <a:pPr marL="0" indent="0">
              <a:buNone/>
            </a:pPr>
            <a:r>
              <a:rPr lang="en-US" sz="1300" b="1" dirty="0">
                <a:solidFill>
                  <a:srgbClr val="FFD166"/>
                </a:solidFill>
                <a:latin typeface="Aptos Display" pitchFamily="34" charset="0"/>
                <a:ea typeface="Aptos Display" pitchFamily="34" charset="-122"/>
                <a:cs typeface="Aptos Display" pitchFamily="34" charset="-120"/>
              </a:rPr>
              <a:t>/translator</a:t>
            </a:r>
            <a:endParaRPr lang="en-US" sz="1300" dirty="0"/>
          </a:p>
        </p:txBody>
      </p:sp>
      <p:sp>
        <p:nvSpPr>
          <p:cNvPr id="25" name="Text 21"/>
          <p:cNvSpPr/>
          <p:nvPr/>
        </p:nvSpPr>
        <p:spPr>
          <a:xfrm>
            <a:off x="914400" y="3429000"/>
            <a:ext cx="2798064" cy="201168"/>
          </a:xfrm>
          <a:prstGeom prst="rect">
            <a:avLst/>
          </a:prstGeom>
          <a:noFill/>
          <a:ln/>
        </p:spPr>
        <p:txBody>
          <a:bodyPr wrap="square" lIns="254" tIns="254" rIns="254" bIns="254" rtlCol="0" anchor="ctr">
            <a:normAutofit/>
          </a:bodyPr>
          <a:lstStyle/>
          <a:p>
            <a:pPr marL="0" indent="0">
              <a:buNone/>
            </a:pPr>
            <a:r>
              <a:rPr lang="en-US" sz="1150" dirty="0">
                <a:solidFill>
                  <a:srgbClr val="F4FBFF"/>
                </a:solidFill>
                <a:latin typeface="Aptos" pitchFamily="34" charset="0"/>
                <a:ea typeface="Aptos" pitchFamily="34" charset="-122"/>
                <a:cs typeface="Aptos" pitchFamily="34" charset="-120"/>
              </a:rPr>
              <a:t>Taglish-to-English analyzer/translator</a:t>
            </a:r>
            <a:endParaRPr lang="en-US" sz="1150" dirty="0"/>
          </a:p>
        </p:txBody>
      </p:sp>
      <p:sp>
        <p:nvSpPr>
          <p:cNvPr id="26" name="Shape 22"/>
          <p:cNvSpPr/>
          <p:nvPr/>
        </p:nvSpPr>
        <p:spPr>
          <a:xfrm>
            <a:off x="4507992" y="2834640"/>
            <a:ext cx="3200400" cy="914400"/>
          </a:xfrm>
          <a:prstGeom prst="roundRect">
            <a:avLst>
              <a:gd name="adj" fmla="val 14000"/>
            </a:avLst>
          </a:prstGeom>
          <a:solidFill>
            <a:srgbClr val="081C2F">
              <a:alpha val="92000"/>
            </a:srgbClr>
          </a:solidFill>
          <a:ln w="13970">
            <a:solidFill>
              <a:srgbClr val="6CE5FF">
                <a:alpha val="55000"/>
              </a:srgbClr>
            </a:solidFill>
            <a:prstDash val="solid"/>
          </a:ln>
        </p:spPr>
        <p:txBody>
          <a:bodyPr/>
          <a:lstStyle/>
          <a:p>
            <a:endParaRPr lang="en-PH"/>
          </a:p>
        </p:txBody>
      </p:sp>
      <p:sp>
        <p:nvSpPr>
          <p:cNvPr id="27" name="Shape 23"/>
          <p:cNvSpPr/>
          <p:nvPr/>
        </p:nvSpPr>
        <p:spPr>
          <a:xfrm>
            <a:off x="4645152" y="3291840"/>
            <a:ext cx="2926080" cy="0"/>
          </a:xfrm>
          <a:prstGeom prst="line">
            <a:avLst/>
          </a:prstGeom>
          <a:noFill/>
          <a:ln w="15240">
            <a:solidFill>
              <a:srgbClr val="6CE5FF">
                <a:alpha val="70000"/>
              </a:srgbClr>
            </a:solidFill>
            <a:prstDash val="solid"/>
          </a:ln>
        </p:spPr>
        <p:txBody>
          <a:bodyPr/>
          <a:lstStyle/>
          <a:p>
            <a:endParaRPr lang="en-PH"/>
          </a:p>
        </p:txBody>
      </p:sp>
      <p:sp>
        <p:nvSpPr>
          <p:cNvPr id="28" name="Text 24"/>
          <p:cNvSpPr/>
          <p:nvPr/>
        </p:nvSpPr>
        <p:spPr>
          <a:xfrm>
            <a:off x="4709160" y="2971800"/>
            <a:ext cx="2798064" cy="256032"/>
          </a:xfrm>
          <a:prstGeom prst="rect">
            <a:avLst/>
          </a:prstGeom>
          <a:noFill/>
          <a:ln/>
        </p:spPr>
        <p:txBody>
          <a:bodyPr wrap="square" lIns="0" tIns="0" rIns="0" bIns="0" rtlCol="0" anchor="ctr">
            <a:normAutofit/>
          </a:bodyPr>
          <a:lstStyle/>
          <a:p>
            <a:pPr marL="0" indent="0">
              <a:buNone/>
            </a:pPr>
            <a:r>
              <a:rPr lang="en-US" sz="1300" b="1" dirty="0">
                <a:solidFill>
                  <a:srgbClr val="6CE5FF"/>
                </a:solidFill>
                <a:latin typeface="Aptos Display" pitchFamily="34" charset="0"/>
                <a:ea typeface="Aptos Display" pitchFamily="34" charset="-122"/>
                <a:cs typeface="Aptos Display" pitchFamily="34" charset="-120"/>
              </a:rPr>
              <a:t>/top-slang</a:t>
            </a:r>
            <a:endParaRPr lang="en-US" sz="1300" dirty="0"/>
          </a:p>
        </p:txBody>
      </p:sp>
      <p:sp>
        <p:nvSpPr>
          <p:cNvPr id="29" name="Text 25"/>
          <p:cNvSpPr/>
          <p:nvPr/>
        </p:nvSpPr>
        <p:spPr>
          <a:xfrm>
            <a:off x="4709160" y="3429000"/>
            <a:ext cx="2798064" cy="201168"/>
          </a:xfrm>
          <a:prstGeom prst="rect">
            <a:avLst/>
          </a:prstGeom>
          <a:noFill/>
          <a:ln/>
        </p:spPr>
        <p:txBody>
          <a:bodyPr wrap="square" lIns="254" tIns="254" rIns="254" bIns="254" rtlCol="0" anchor="ctr">
            <a:normAutofit/>
          </a:bodyPr>
          <a:lstStyle/>
          <a:p>
            <a:pPr marL="0" indent="0">
              <a:buNone/>
            </a:pPr>
            <a:r>
              <a:rPr lang="en-US" sz="1150" dirty="0">
                <a:solidFill>
                  <a:srgbClr val="F4FBFF"/>
                </a:solidFill>
                <a:latin typeface="Aptos" pitchFamily="34" charset="0"/>
                <a:ea typeface="Aptos" pitchFamily="34" charset="-122"/>
                <a:cs typeface="Aptos" pitchFamily="34" charset="-120"/>
              </a:rPr>
              <a:t>Slang leaderboard</a:t>
            </a:r>
            <a:endParaRPr lang="en-US" sz="1150" dirty="0"/>
          </a:p>
        </p:txBody>
      </p:sp>
      <p:sp>
        <p:nvSpPr>
          <p:cNvPr id="30" name="Shape 26"/>
          <p:cNvSpPr/>
          <p:nvPr/>
        </p:nvSpPr>
        <p:spPr>
          <a:xfrm>
            <a:off x="8302752" y="2834640"/>
            <a:ext cx="3200400" cy="914400"/>
          </a:xfrm>
          <a:prstGeom prst="roundRect">
            <a:avLst>
              <a:gd name="adj" fmla="val 14000"/>
            </a:avLst>
          </a:prstGeom>
          <a:solidFill>
            <a:srgbClr val="081C2F">
              <a:alpha val="92000"/>
            </a:srgbClr>
          </a:solidFill>
          <a:ln w="13970">
            <a:solidFill>
              <a:srgbClr val="7EF29D">
                <a:alpha val="55000"/>
              </a:srgbClr>
            </a:solidFill>
            <a:prstDash val="solid"/>
          </a:ln>
        </p:spPr>
        <p:txBody>
          <a:bodyPr/>
          <a:lstStyle/>
          <a:p>
            <a:endParaRPr lang="en-PH"/>
          </a:p>
        </p:txBody>
      </p:sp>
      <p:sp>
        <p:nvSpPr>
          <p:cNvPr id="31" name="Shape 27"/>
          <p:cNvSpPr/>
          <p:nvPr/>
        </p:nvSpPr>
        <p:spPr>
          <a:xfrm>
            <a:off x="8439912" y="3291840"/>
            <a:ext cx="2926080" cy="0"/>
          </a:xfrm>
          <a:prstGeom prst="line">
            <a:avLst/>
          </a:prstGeom>
          <a:noFill/>
          <a:ln w="15240">
            <a:solidFill>
              <a:srgbClr val="7EF29D">
                <a:alpha val="70000"/>
              </a:srgbClr>
            </a:solidFill>
            <a:prstDash val="solid"/>
          </a:ln>
        </p:spPr>
        <p:txBody>
          <a:bodyPr/>
          <a:lstStyle/>
          <a:p>
            <a:endParaRPr lang="en-PH"/>
          </a:p>
        </p:txBody>
      </p:sp>
      <p:sp>
        <p:nvSpPr>
          <p:cNvPr id="32" name="Text 28"/>
          <p:cNvSpPr/>
          <p:nvPr/>
        </p:nvSpPr>
        <p:spPr>
          <a:xfrm>
            <a:off x="8503920" y="2971800"/>
            <a:ext cx="279806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/concordance</a:t>
            </a:r>
            <a:endParaRPr lang="en-US" sz="1300" dirty="0"/>
          </a:p>
        </p:txBody>
      </p:sp>
      <p:sp>
        <p:nvSpPr>
          <p:cNvPr id="33" name="Text 29"/>
          <p:cNvSpPr/>
          <p:nvPr/>
        </p:nvSpPr>
        <p:spPr>
          <a:xfrm>
            <a:off x="8503920" y="3429000"/>
            <a:ext cx="2798064" cy="201168"/>
          </a:xfrm>
          <a:prstGeom prst="rect">
            <a:avLst/>
          </a:prstGeom>
          <a:noFill/>
          <a:ln/>
        </p:spPr>
        <p:txBody>
          <a:bodyPr wrap="square" lIns="254" tIns="254" rIns="254" bIns="254" rtlCol="0" anchor="ctr">
            <a:normAutofit/>
          </a:bodyPr>
          <a:lstStyle/>
          <a:p>
            <a:pPr marL="0" indent="0">
              <a:buNone/>
            </a:pPr>
            <a:r>
              <a:rPr lang="en-US" sz="1150" dirty="0">
                <a:solidFill>
                  <a:srgbClr val="F4FBFF"/>
                </a:solidFill>
                <a:latin typeface="Aptos" pitchFamily="34" charset="0"/>
                <a:ea typeface="Aptos" pitchFamily="34" charset="-122"/>
                <a:cs typeface="Aptos" pitchFamily="34" charset="-120"/>
              </a:rPr>
              <a:t>Context search</a:t>
            </a:r>
            <a:endParaRPr lang="en-US" sz="1150" dirty="0"/>
          </a:p>
        </p:txBody>
      </p:sp>
      <p:sp>
        <p:nvSpPr>
          <p:cNvPr id="34" name="Text 30"/>
          <p:cNvSpPr/>
          <p:nvPr/>
        </p:nvSpPr>
        <p:spPr>
          <a:xfrm>
            <a:off x="914400" y="4864608"/>
            <a:ext cx="10332720" cy="475488"/>
          </a:xfrm>
          <a:prstGeom prst="rect">
            <a:avLst/>
          </a:prstGeom>
          <a:noFill/>
          <a:ln/>
        </p:spPr>
        <p:txBody>
          <a:bodyPr wrap="square" lIns="0" tIns="0" rIns="0" bIns="0" rtlCol="0" anchor="ctr"/>
          <a:lstStyle/>
          <a:p>
            <a:pPr marL="0" indent="0" algn="ctr">
              <a:buNone/>
            </a:pPr>
            <a:r>
              <a:rPr lang="en-US" sz="2000" b="1" dirty="0">
                <a:solidFill>
                  <a:srgbClr val="6CE5FF"/>
                </a:solidFill>
                <a:latin typeface="Aptos Display" pitchFamily="34" charset="0"/>
                <a:ea typeface="Aptos Display" pitchFamily="34" charset="-122"/>
                <a:cs typeface="Aptos Display" pitchFamily="34" charset="-120"/>
              </a:rPr>
              <a:t>Design principle: make NLP outputs understandable to Filipino users, not just visible to developers.</a:t>
            </a:r>
            <a:endParaRPr lang="en-US" sz="2000" dirty="0"/>
          </a:p>
        </p:txBody>
      </p:sp>
      <p:sp>
        <p:nvSpPr>
          <p:cNvPr id="9"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Two complementary validation layers</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Evaluation</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Evaluation</a:t>
            </a:r>
            <a:endParaRPr lang="en-US" sz="880" dirty="0"/>
          </a:p>
        </p:txBody>
      </p:sp>
      <p:sp>
        <p:nvSpPr>
          <p:cNvPr id="31" name="Shape 28"/>
          <p:cNvSpPr/>
          <p:nvPr/>
        </p:nvSpPr>
        <p:spPr>
          <a:xfrm>
            <a:off x="822960" y="1463040"/>
            <a:ext cx="5029200" cy="2834640"/>
          </a:xfrm>
          <a:prstGeom prst="roundRect">
            <a:avLst>
              <a:gd name="adj" fmla="val 4516"/>
            </a:avLst>
          </a:prstGeom>
          <a:solidFill>
            <a:srgbClr val="0E2638">
              <a:alpha val="95000"/>
            </a:srgbClr>
          </a:solidFill>
          <a:ln w="13970">
            <a:solidFill>
              <a:srgbClr val="2EE8E1">
                <a:alpha val="55000"/>
              </a:srgbClr>
            </a:solidFill>
            <a:prstDash val="solid"/>
          </a:ln>
        </p:spPr>
        <p:txBody>
          <a:bodyPr/>
          <a:lstStyle/>
          <a:p>
            <a:endParaRPr lang="en-PH"/>
          </a:p>
        </p:txBody>
      </p:sp>
      <p:sp>
        <p:nvSpPr>
          <p:cNvPr id="32" name="Shape 29"/>
          <p:cNvSpPr/>
          <p:nvPr/>
        </p:nvSpPr>
        <p:spPr>
          <a:xfrm>
            <a:off x="960120" y="1920240"/>
            <a:ext cx="4754880" cy="0"/>
          </a:xfrm>
          <a:prstGeom prst="line">
            <a:avLst/>
          </a:prstGeom>
          <a:noFill/>
          <a:ln w="15240">
            <a:solidFill>
              <a:srgbClr val="2EE8E1">
                <a:alpha val="70000"/>
              </a:srgbClr>
            </a:solidFill>
            <a:prstDash val="solid"/>
          </a:ln>
        </p:spPr>
        <p:txBody>
          <a:bodyPr/>
          <a:lstStyle/>
          <a:p>
            <a:endParaRPr lang="en-PH"/>
          </a:p>
        </p:txBody>
      </p:sp>
      <p:sp>
        <p:nvSpPr>
          <p:cNvPr id="33" name="Text 30"/>
          <p:cNvSpPr/>
          <p:nvPr/>
        </p:nvSpPr>
        <p:spPr>
          <a:xfrm>
            <a:off x="1024128" y="1600200"/>
            <a:ext cx="462686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Lexicon validation</a:t>
            </a:r>
            <a:endParaRPr lang="en-US" sz="1300" dirty="0"/>
          </a:p>
        </p:txBody>
      </p:sp>
      <p:sp>
        <p:nvSpPr>
          <p:cNvPr id="34" name="Text 31"/>
          <p:cNvSpPr/>
          <p:nvPr/>
        </p:nvSpPr>
        <p:spPr>
          <a:xfrm>
            <a:off x="1024128" y="2057400"/>
            <a:ext cx="4626864" cy="2121408"/>
          </a:xfrm>
          <a:prstGeom prst="rect">
            <a:avLst/>
          </a:prstGeom>
          <a:noFill/>
          <a:ln/>
        </p:spPr>
        <p:txBody>
          <a:bodyPr wrap="square" lIns="254" tIns="254" rIns="254" bIns="254" rtlCol="0" anchor="ctr">
            <a:normAutofit/>
          </a:bodyPr>
          <a:lstStyle/>
          <a:p>
            <a:pPr marL="0" indent="0">
              <a:buNone/>
            </a:pPr>
            <a:r>
              <a:rPr lang="en-US" sz="1200" dirty="0">
                <a:solidFill>
                  <a:srgbClr val="F4FBFF"/>
                </a:solidFill>
                <a:latin typeface="Aptos" pitchFamily="34" charset="0"/>
                <a:ea typeface="Aptos" pitchFamily="34" charset="-122"/>
                <a:cs typeface="Aptos" pitchFamily="34" charset="-120"/>
              </a:rPr>
              <a:t>79 entries</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3 ratings per item</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237 item-level judgments</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4 unique validators across the forms</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Checked meaning, example, formation type, and final acceptability</a:t>
            </a:r>
            <a:endParaRPr lang="en-US" sz="1200" dirty="0"/>
          </a:p>
        </p:txBody>
      </p:sp>
      <p:sp>
        <p:nvSpPr>
          <p:cNvPr id="35" name="Shape 32"/>
          <p:cNvSpPr/>
          <p:nvPr/>
        </p:nvSpPr>
        <p:spPr>
          <a:xfrm>
            <a:off x="6400800" y="1463040"/>
            <a:ext cx="5029200" cy="2834640"/>
          </a:xfrm>
          <a:prstGeom prst="roundRect">
            <a:avLst>
              <a:gd name="adj" fmla="val 4516"/>
            </a:avLst>
          </a:prstGeom>
          <a:solidFill>
            <a:srgbClr val="0E2638">
              <a:alpha val="95000"/>
            </a:srgbClr>
          </a:solidFill>
          <a:ln w="13970">
            <a:solidFill>
              <a:srgbClr val="7EF29D">
                <a:alpha val="55000"/>
              </a:srgbClr>
            </a:solidFill>
            <a:prstDash val="solid"/>
          </a:ln>
        </p:spPr>
        <p:txBody>
          <a:bodyPr/>
          <a:lstStyle/>
          <a:p>
            <a:endParaRPr lang="en-PH"/>
          </a:p>
        </p:txBody>
      </p:sp>
      <p:sp>
        <p:nvSpPr>
          <p:cNvPr id="36" name="Shape 33"/>
          <p:cNvSpPr/>
          <p:nvPr/>
        </p:nvSpPr>
        <p:spPr>
          <a:xfrm>
            <a:off x="6537960" y="1920240"/>
            <a:ext cx="4754880" cy="0"/>
          </a:xfrm>
          <a:prstGeom prst="line">
            <a:avLst/>
          </a:prstGeom>
          <a:noFill/>
          <a:ln w="15240">
            <a:solidFill>
              <a:srgbClr val="7EF29D">
                <a:alpha val="70000"/>
              </a:srgbClr>
            </a:solidFill>
            <a:prstDash val="solid"/>
          </a:ln>
        </p:spPr>
        <p:txBody>
          <a:bodyPr/>
          <a:lstStyle/>
          <a:p>
            <a:endParaRPr lang="en-PH"/>
          </a:p>
        </p:txBody>
      </p:sp>
      <p:sp>
        <p:nvSpPr>
          <p:cNvPr id="37" name="Text 34"/>
          <p:cNvSpPr/>
          <p:nvPr/>
        </p:nvSpPr>
        <p:spPr>
          <a:xfrm>
            <a:off x="6601968" y="1600200"/>
            <a:ext cx="462686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Usability and bug tracking</a:t>
            </a:r>
            <a:endParaRPr lang="en-US" sz="1300" dirty="0"/>
          </a:p>
        </p:txBody>
      </p:sp>
      <p:sp>
        <p:nvSpPr>
          <p:cNvPr id="38" name="Text 35"/>
          <p:cNvSpPr/>
          <p:nvPr/>
        </p:nvSpPr>
        <p:spPr>
          <a:xfrm>
            <a:off x="6601968" y="2057400"/>
            <a:ext cx="4626864" cy="2121408"/>
          </a:xfrm>
          <a:prstGeom prst="rect">
            <a:avLst/>
          </a:prstGeom>
          <a:noFill/>
          <a:ln/>
        </p:spPr>
        <p:txBody>
          <a:bodyPr wrap="square" lIns="254" tIns="254" rIns="254" bIns="254" rtlCol="0" anchor="ctr">
            <a:normAutofit/>
          </a:bodyPr>
          <a:lstStyle/>
          <a:p>
            <a:pPr marL="0" indent="0">
              <a:buNone/>
            </a:pPr>
            <a:r>
              <a:rPr lang="en-US" sz="1200" dirty="0">
                <a:solidFill>
                  <a:srgbClr val="F4FBFF"/>
                </a:solidFill>
                <a:latin typeface="Aptos" pitchFamily="34" charset="0"/>
                <a:ea typeface="Aptos" pitchFamily="34" charset="-122"/>
                <a:cs typeface="Aptos" pitchFamily="34" charset="-120"/>
              </a:rPr>
              <a:t>39 total submissions</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36 consented responses retained</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6 modules evaluated</a:t>
            </a:r>
            <a:endParaRPr lang="en-US" sz="1200" dirty="0"/>
          </a:p>
          <a:p>
            <a:pPr marL="0" indent="0">
              <a:buNone/>
            </a:pPr>
            <a:r>
              <a:rPr lang="en-US" sz="1200" dirty="0">
                <a:solidFill>
                  <a:srgbClr val="F4FBFF"/>
                </a:solidFill>
                <a:latin typeface="Aptos" pitchFamily="34" charset="0"/>
                <a:ea typeface="Aptos" pitchFamily="34" charset="-122"/>
                <a:cs typeface="Aptos" pitchFamily="34" charset="-120"/>
              </a:rPr>
              <a:t>Ratings for usability, aesthetics, speed, accuracy, and bug occurrence</a:t>
            </a:r>
            <a:endParaRPr lang="en-US" sz="1200" dirty="0"/>
          </a:p>
        </p:txBody>
      </p:sp>
      <p:sp>
        <p:nvSpPr>
          <p:cNvPr id="39" name="Text 36"/>
          <p:cNvSpPr/>
          <p:nvPr/>
        </p:nvSpPr>
        <p:spPr>
          <a:xfrm>
            <a:off x="1143000" y="4983480"/>
            <a:ext cx="9875520" cy="384048"/>
          </a:xfrm>
          <a:prstGeom prst="rect">
            <a:avLst/>
          </a:prstGeom>
          <a:noFill/>
          <a:ln/>
        </p:spPr>
        <p:txBody>
          <a:bodyPr wrap="square" lIns="0" tIns="0" rIns="0" bIns="0" rtlCol="0" anchor="ctr"/>
          <a:lstStyle/>
          <a:p>
            <a:pPr marL="0" indent="0" algn="ctr">
              <a:buNone/>
            </a:pPr>
            <a:r>
              <a:rPr lang="en-US" sz="1900" b="1" dirty="0">
                <a:solidFill>
                  <a:srgbClr val="F4FBFF"/>
                </a:solidFill>
                <a:latin typeface="Aptos Display" pitchFamily="34" charset="0"/>
                <a:ea typeface="Aptos Display" pitchFamily="34" charset="-122"/>
                <a:cs typeface="Aptos Display" pitchFamily="34" charset="-120"/>
              </a:rPr>
              <a:t>Human validation was used because slang meaning is context-sensitive and culturally grounded.</a:t>
            </a:r>
            <a:endParaRPr lang="en-US" sz="19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Lexicon validation was strongly positive</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Results 1</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Results 1</a:t>
            </a:r>
            <a:endParaRPr lang="en-US" sz="880" dirty="0"/>
          </a:p>
        </p:txBody>
      </p:sp>
      <p:sp>
        <p:nvSpPr>
          <p:cNvPr id="31" name="Shape 28"/>
          <p:cNvSpPr/>
          <p:nvPr/>
        </p:nvSpPr>
        <p:spPr>
          <a:xfrm>
            <a:off x="685800" y="1298448"/>
            <a:ext cx="2331720" cy="987552"/>
          </a:xfrm>
          <a:prstGeom prst="roundRect">
            <a:avLst>
              <a:gd name="adj" fmla="val 12037"/>
            </a:avLst>
          </a:prstGeom>
          <a:solidFill>
            <a:srgbClr val="0E2638">
              <a:alpha val="96000"/>
            </a:srgbClr>
          </a:solidFill>
          <a:ln w="15240">
            <a:solidFill>
              <a:srgbClr val="7EF29D">
                <a:alpha val="75000"/>
              </a:srgbClr>
            </a:solidFill>
            <a:prstDash val="solid"/>
          </a:ln>
        </p:spPr>
        <p:txBody>
          <a:bodyPr/>
          <a:lstStyle/>
          <a:p>
            <a:endParaRPr lang="en-PH"/>
          </a:p>
        </p:txBody>
      </p:sp>
      <p:sp>
        <p:nvSpPr>
          <p:cNvPr id="32" name="Text 29"/>
          <p:cNvSpPr/>
          <p:nvPr/>
        </p:nvSpPr>
        <p:spPr>
          <a:xfrm>
            <a:off x="822960" y="1426464"/>
            <a:ext cx="2057400" cy="384048"/>
          </a:xfrm>
          <a:prstGeom prst="rect">
            <a:avLst/>
          </a:prstGeom>
          <a:noFill/>
          <a:ln/>
        </p:spPr>
        <p:txBody>
          <a:bodyPr wrap="square" lIns="0" tIns="0" rIns="0" bIns="0" rtlCol="0" anchor="ctr"/>
          <a:lstStyle/>
          <a:p>
            <a:pPr marL="0" indent="0" algn="ctr">
              <a:buNone/>
            </a:pPr>
            <a:r>
              <a:rPr lang="en-US" sz="2100" b="1" dirty="0">
                <a:solidFill>
                  <a:srgbClr val="7EF29D"/>
                </a:solidFill>
                <a:latin typeface="Aptos Display" pitchFamily="34" charset="0"/>
                <a:ea typeface="Aptos Display" pitchFamily="34" charset="-122"/>
                <a:cs typeface="Aptos Display" pitchFamily="34" charset="-120"/>
              </a:rPr>
              <a:t>95.78%</a:t>
            </a:r>
            <a:endParaRPr lang="en-US" sz="2100" dirty="0"/>
          </a:p>
        </p:txBody>
      </p:sp>
      <p:sp>
        <p:nvSpPr>
          <p:cNvPr id="33" name="Text 30"/>
          <p:cNvSpPr/>
          <p:nvPr/>
        </p:nvSpPr>
        <p:spPr>
          <a:xfrm>
            <a:off x="832104" y="1865376"/>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actually used as slang</a:t>
            </a:r>
            <a:endParaRPr lang="en-US" sz="880" dirty="0"/>
          </a:p>
        </p:txBody>
      </p:sp>
      <p:sp>
        <p:nvSpPr>
          <p:cNvPr id="34" name="Shape 31"/>
          <p:cNvSpPr/>
          <p:nvPr/>
        </p:nvSpPr>
        <p:spPr>
          <a:xfrm>
            <a:off x="3337560" y="1298448"/>
            <a:ext cx="2331720" cy="987552"/>
          </a:xfrm>
          <a:prstGeom prst="roundRect">
            <a:avLst>
              <a:gd name="adj" fmla="val 12037"/>
            </a:avLst>
          </a:prstGeom>
          <a:solidFill>
            <a:srgbClr val="0E2638">
              <a:alpha val="96000"/>
            </a:srgbClr>
          </a:solidFill>
          <a:ln w="15240">
            <a:solidFill>
              <a:srgbClr val="2EE8E1">
                <a:alpha val="75000"/>
              </a:srgbClr>
            </a:solidFill>
            <a:prstDash val="solid"/>
          </a:ln>
        </p:spPr>
        <p:txBody>
          <a:bodyPr/>
          <a:lstStyle/>
          <a:p>
            <a:endParaRPr lang="en-PH"/>
          </a:p>
        </p:txBody>
      </p:sp>
      <p:sp>
        <p:nvSpPr>
          <p:cNvPr id="35" name="Text 32"/>
          <p:cNvSpPr/>
          <p:nvPr/>
        </p:nvSpPr>
        <p:spPr>
          <a:xfrm>
            <a:off x="3474720" y="1426464"/>
            <a:ext cx="2057400" cy="384048"/>
          </a:xfrm>
          <a:prstGeom prst="rect">
            <a:avLst/>
          </a:prstGeom>
          <a:noFill/>
          <a:ln/>
        </p:spPr>
        <p:txBody>
          <a:bodyPr wrap="square" lIns="0" tIns="0" rIns="0" bIns="0" rtlCol="0" anchor="ctr"/>
          <a:lstStyle/>
          <a:p>
            <a:pPr marL="0" indent="0" algn="ctr">
              <a:buNone/>
            </a:pPr>
            <a:r>
              <a:rPr lang="en-US" sz="2100" b="1" dirty="0">
                <a:solidFill>
                  <a:srgbClr val="2EE8E1"/>
                </a:solidFill>
                <a:latin typeface="Aptos Display" pitchFamily="34" charset="0"/>
                <a:ea typeface="Aptos Display" pitchFamily="34" charset="-122"/>
                <a:cs typeface="Aptos Display" pitchFamily="34" charset="-120"/>
              </a:rPr>
              <a:t>4.83/5</a:t>
            </a:r>
            <a:endParaRPr lang="en-US" sz="2100" dirty="0"/>
          </a:p>
        </p:txBody>
      </p:sp>
      <p:sp>
        <p:nvSpPr>
          <p:cNvPr id="36" name="Text 33"/>
          <p:cNvSpPr/>
          <p:nvPr/>
        </p:nvSpPr>
        <p:spPr>
          <a:xfrm>
            <a:off x="3483864" y="1865376"/>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definition correctness</a:t>
            </a:r>
            <a:endParaRPr lang="en-US" sz="880" dirty="0"/>
          </a:p>
        </p:txBody>
      </p:sp>
      <p:sp>
        <p:nvSpPr>
          <p:cNvPr id="37" name="Shape 34"/>
          <p:cNvSpPr/>
          <p:nvPr/>
        </p:nvSpPr>
        <p:spPr>
          <a:xfrm>
            <a:off x="5989320" y="1298448"/>
            <a:ext cx="2331720" cy="987552"/>
          </a:xfrm>
          <a:prstGeom prst="roundRect">
            <a:avLst>
              <a:gd name="adj" fmla="val 12037"/>
            </a:avLst>
          </a:prstGeom>
          <a:solidFill>
            <a:srgbClr val="0E2638">
              <a:alpha val="96000"/>
            </a:srgbClr>
          </a:solidFill>
          <a:ln w="15240">
            <a:solidFill>
              <a:srgbClr val="B884FF">
                <a:alpha val="75000"/>
              </a:srgbClr>
            </a:solidFill>
            <a:prstDash val="solid"/>
          </a:ln>
        </p:spPr>
        <p:txBody>
          <a:bodyPr/>
          <a:lstStyle/>
          <a:p>
            <a:endParaRPr lang="en-PH"/>
          </a:p>
        </p:txBody>
      </p:sp>
      <p:sp>
        <p:nvSpPr>
          <p:cNvPr id="38" name="Text 35"/>
          <p:cNvSpPr/>
          <p:nvPr/>
        </p:nvSpPr>
        <p:spPr>
          <a:xfrm>
            <a:off x="6126480" y="1426464"/>
            <a:ext cx="2057400" cy="384048"/>
          </a:xfrm>
          <a:prstGeom prst="rect">
            <a:avLst/>
          </a:prstGeom>
          <a:noFill/>
          <a:ln/>
        </p:spPr>
        <p:txBody>
          <a:bodyPr wrap="square" lIns="0" tIns="0" rIns="0" bIns="0" rtlCol="0" anchor="ctr"/>
          <a:lstStyle/>
          <a:p>
            <a:pPr marL="0" indent="0" algn="ctr">
              <a:buNone/>
            </a:pPr>
            <a:r>
              <a:rPr lang="en-US" sz="2100" b="1" dirty="0">
                <a:solidFill>
                  <a:srgbClr val="B884FF"/>
                </a:solidFill>
                <a:latin typeface="Aptos Display" pitchFamily="34" charset="0"/>
                <a:ea typeface="Aptos Display" pitchFamily="34" charset="-122"/>
                <a:cs typeface="Aptos Display" pitchFamily="34" charset="-120"/>
              </a:rPr>
              <a:t>4.75/5</a:t>
            </a:r>
            <a:endParaRPr lang="en-US" sz="2100" dirty="0"/>
          </a:p>
        </p:txBody>
      </p:sp>
      <p:sp>
        <p:nvSpPr>
          <p:cNvPr id="39" name="Text 36"/>
          <p:cNvSpPr/>
          <p:nvPr/>
        </p:nvSpPr>
        <p:spPr>
          <a:xfrm>
            <a:off x="6135624" y="1865376"/>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example naturalness</a:t>
            </a:r>
            <a:endParaRPr lang="en-US" sz="880" dirty="0"/>
          </a:p>
        </p:txBody>
      </p:sp>
      <p:sp>
        <p:nvSpPr>
          <p:cNvPr id="40" name="Shape 37"/>
          <p:cNvSpPr/>
          <p:nvPr/>
        </p:nvSpPr>
        <p:spPr>
          <a:xfrm>
            <a:off x="8641080" y="1298448"/>
            <a:ext cx="2331720" cy="987552"/>
          </a:xfrm>
          <a:prstGeom prst="roundRect">
            <a:avLst>
              <a:gd name="adj" fmla="val 12037"/>
            </a:avLst>
          </a:prstGeom>
          <a:solidFill>
            <a:srgbClr val="0E2638">
              <a:alpha val="96000"/>
            </a:srgbClr>
          </a:solidFill>
          <a:ln w="15240">
            <a:solidFill>
              <a:srgbClr val="FFD166">
                <a:alpha val="75000"/>
              </a:srgbClr>
            </a:solidFill>
            <a:prstDash val="solid"/>
          </a:ln>
        </p:spPr>
        <p:txBody>
          <a:bodyPr/>
          <a:lstStyle/>
          <a:p>
            <a:endParaRPr lang="en-PH"/>
          </a:p>
        </p:txBody>
      </p:sp>
      <p:sp>
        <p:nvSpPr>
          <p:cNvPr id="41" name="Text 38"/>
          <p:cNvSpPr/>
          <p:nvPr/>
        </p:nvSpPr>
        <p:spPr>
          <a:xfrm>
            <a:off x="8778240" y="1426464"/>
            <a:ext cx="2057400" cy="384048"/>
          </a:xfrm>
          <a:prstGeom prst="rect">
            <a:avLst/>
          </a:prstGeom>
          <a:noFill/>
          <a:ln/>
        </p:spPr>
        <p:txBody>
          <a:bodyPr wrap="square" lIns="0" tIns="0" rIns="0" bIns="0" rtlCol="0" anchor="ctr"/>
          <a:lstStyle/>
          <a:p>
            <a:pPr marL="0" indent="0" algn="ctr">
              <a:buNone/>
            </a:pPr>
            <a:r>
              <a:rPr lang="en-US" sz="2100" b="1" dirty="0">
                <a:solidFill>
                  <a:srgbClr val="FFD166"/>
                </a:solidFill>
                <a:latin typeface="Aptos Display" pitchFamily="34" charset="0"/>
                <a:ea typeface="Aptos Display" pitchFamily="34" charset="-122"/>
                <a:cs typeface="Aptos Display" pitchFamily="34" charset="-120"/>
              </a:rPr>
              <a:t>87.76%</a:t>
            </a:r>
            <a:endParaRPr lang="en-US" sz="2100" dirty="0"/>
          </a:p>
        </p:txBody>
      </p:sp>
      <p:sp>
        <p:nvSpPr>
          <p:cNvPr id="42" name="Text 39"/>
          <p:cNvSpPr/>
          <p:nvPr/>
        </p:nvSpPr>
        <p:spPr>
          <a:xfrm>
            <a:off x="8787384" y="1865376"/>
            <a:ext cx="2039112" cy="256032"/>
          </a:xfrm>
          <a:prstGeom prst="rect">
            <a:avLst/>
          </a:prstGeom>
          <a:noFill/>
          <a:ln/>
        </p:spPr>
        <p:txBody>
          <a:bodyPr wrap="square" lIns="0" tIns="0" rIns="0" bIns="0" rtlCol="0" anchor="ctr">
            <a:normAutofit/>
          </a:bodyPr>
          <a:lstStyle/>
          <a:p>
            <a:pPr marL="0" indent="0" algn="ctr">
              <a:buNone/>
            </a:pPr>
            <a:r>
              <a:rPr lang="en-US" sz="880" dirty="0">
                <a:solidFill>
                  <a:srgbClr val="A7C3D4"/>
                </a:solidFill>
                <a:latin typeface="Aptos" pitchFamily="34" charset="0"/>
                <a:ea typeface="Aptos" pitchFamily="34" charset="-122"/>
                <a:cs typeface="Aptos" pitchFamily="34" charset="-120"/>
              </a:rPr>
              <a:t>final correct/acceptable</a:t>
            </a:r>
            <a:endParaRPr lang="en-US" sz="880" dirty="0"/>
          </a:p>
        </p:txBody>
      </p:sp>
      <p:sp>
        <p:nvSpPr>
          <p:cNvPr id="43" name="Text 40"/>
          <p:cNvSpPr/>
          <p:nvPr/>
        </p:nvSpPr>
        <p:spPr>
          <a:xfrm>
            <a:off x="960120" y="2971800"/>
            <a:ext cx="2560320" cy="182880"/>
          </a:xfrm>
          <a:prstGeom prst="rect">
            <a:avLst/>
          </a:prstGeom>
          <a:noFill/>
          <a:ln/>
        </p:spPr>
        <p:txBody>
          <a:bodyPr wrap="square" lIns="0" tIns="0" rIns="0" bIns="0" rtlCol="0" anchor="ctr"/>
          <a:lstStyle/>
          <a:p>
            <a:pPr marL="0" indent="0">
              <a:buNone/>
            </a:pPr>
            <a:r>
              <a:rPr lang="en-US" sz="1050" dirty="0">
                <a:solidFill>
                  <a:srgbClr val="F4FBFF"/>
                </a:solidFill>
                <a:latin typeface="Aptos" pitchFamily="34" charset="0"/>
                <a:ea typeface="Aptos" pitchFamily="34" charset="-122"/>
                <a:cs typeface="Aptos" pitchFamily="34" charset="-120"/>
              </a:rPr>
              <a:t>Correct/acceptable</a:t>
            </a:r>
            <a:endParaRPr lang="en-US" sz="1050" dirty="0"/>
          </a:p>
        </p:txBody>
      </p:sp>
      <p:sp>
        <p:nvSpPr>
          <p:cNvPr id="44" name="Shape 41"/>
          <p:cNvSpPr/>
          <p:nvPr/>
        </p:nvSpPr>
        <p:spPr>
          <a:xfrm>
            <a:off x="3566160" y="2990088"/>
            <a:ext cx="5456847" cy="164592"/>
          </a:xfrm>
          <a:prstGeom prst="rect">
            <a:avLst/>
          </a:prstGeom>
          <a:solidFill>
            <a:srgbClr val="7EF29D"/>
          </a:solidFill>
          <a:ln w="12700">
            <a:solidFill>
              <a:srgbClr val="333333">
                <a:alpha val="0"/>
              </a:srgbClr>
            </a:solidFill>
            <a:prstDash val="solid"/>
          </a:ln>
        </p:spPr>
        <p:txBody>
          <a:bodyPr/>
          <a:lstStyle/>
          <a:p>
            <a:endParaRPr lang="en-PH"/>
          </a:p>
        </p:txBody>
      </p:sp>
      <p:sp>
        <p:nvSpPr>
          <p:cNvPr id="45" name="Shape 42"/>
          <p:cNvSpPr/>
          <p:nvPr/>
        </p:nvSpPr>
        <p:spPr>
          <a:xfrm>
            <a:off x="3566160" y="2990088"/>
            <a:ext cx="6217920" cy="164592"/>
          </a:xfrm>
          <a:prstGeom prst="rect">
            <a:avLst/>
          </a:prstGeom>
          <a:solidFill>
            <a:srgbClr val="123B52">
              <a:alpha val="40000"/>
            </a:srgbClr>
          </a:solidFill>
          <a:ln w="6350">
            <a:solidFill>
              <a:srgbClr val="123B52">
                <a:alpha val="50000"/>
              </a:srgbClr>
            </a:solidFill>
            <a:prstDash val="solid"/>
          </a:ln>
        </p:spPr>
        <p:txBody>
          <a:bodyPr/>
          <a:lstStyle/>
          <a:p>
            <a:endParaRPr lang="en-PH"/>
          </a:p>
        </p:txBody>
      </p:sp>
      <p:sp>
        <p:nvSpPr>
          <p:cNvPr id="46" name="Shape 43"/>
          <p:cNvSpPr/>
          <p:nvPr/>
        </p:nvSpPr>
        <p:spPr>
          <a:xfrm>
            <a:off x="3566160" y="2990088"/>
            <a:ext cx="5456847" cy="164592"/>
          </a:xfrm>
          <a:prstGeom prst="rect">
            <a:avLst/>
          </a:prstGeom>
          <a:solidFill>
            <a:srgbClr val="7EF29D"/>
          </a:solidFill>
          <a:ln w="12700">
            <a:solidFill>
              <a:srgbClr val="333333">
                <a:alpha val="0"/>
              </a:srgbClr>
            </a:solidFill>
            <a:prstDash val="solid"/>
          </a:ln>
        </p:spPr>
        <p:txBody>
          <a:bodyPr/>
          <a:lstStyle/>
          <a:p>
            <a:endParaRPr lang="en-PH"/>
          </a:p>
        </p:txBody>
      </p:sp>
      <p:sp>
        <p:nvSpPr>
          <p:cNvPr id="47" name="Text 44"/>
          <p:cNvSpPr/>
          <p:nvPr/>
        </p:nvSpPr>
        <p:spPr>
          <a:xfrm>
            <a:off x="9966960" y="2962656"/>
            <a:ext cx="914400" cy="219456"/>
          </a:xfrm>
          <a:prstGeom prst="rect">
            <a:avLst/>
          </a:prstGeom>
          <a:noFill/>
          <a:ln/>
        </p:spPr>
        <p:txBody>
          <a:bodyPr wrap="square" lIns="0" tIns="0" rIns="0" bIns="0" rtlCol="0" anchor="ctr"/>
          <a:lstStyle/>
          <a:p>
            <a:pPr marL="0" indent="0">
              <a:buNone/>
            </a:pPr>
            <a:r>
              <a:rPr lang="en-US" sz="1000" dirty="0">
                <a:solidFill>
                  <a:srgbClr val="A7C3D4"/>
                </a:solidFill>
                <a:latin typeface="Aptos" pitchFamily="34" charset="0"/>
                <a:ea typeface="Aptos" pitchFamily="34" charset="-122"/>
                <a:cs typeface="Aptos" pitchFamily="34" charset="-120"/>
              </a:rPr>
              <a:t>87.76%</a:t>
            </a:r>
            <a:endParaRPr lang="en-US" sz="1000" dirty="0"/>
          </a:p>
        </p:txBody>
      </p:sp>
      <p:sp>
        <p:nvSpPr>
          <p:cNvPr id="48" name="Text 45"/>
          <p:cNvSpPr/>
          <p:nvPr/>
        </p:nvSpPr>
        <p:spPr>
          <a:xfrm>
            <a:off x="960120" y="3538728"/>
            <a:ext cx="2560320" cy="182880"/>
          </a:xfrm>
          <a:prstGeom prst="rect">
            <a:avLst/>
          </a:prstGeom>
          <a:noFill/>
          <a:ln/>
        </p:spPr>
        <p:txBody>
          <a:bodyPr wrap="square" lIns="0" tIns="0" rIns="0" bIns="0" rtlCol="0" anchor="ctr"/>
          <a:lstStyle/>
          <a:p>
            <a:pPr marL="0" indent="0">
              <a:buNone/>
            </a:pPr>
            <a:r>
              <a:rPr lang="en-US" sz="1050" dirty="0">
                <a:solidFill>
                  <a:srgbClr val="F4FBFF"/>
                </a:solidFill>
                <a:latin typeface="Aptos" pitchFamily="34" charset="0"/>
                <a:ea typeface="Aptos" pitchFamily="34" charset="-122"/>
                <a:cs typeface="Aptos" pitchFamily="34" charset="-120"/>
              </a:rPr>
              <a:t>Needs minor revision</a:t>
            </a:r>
            <a:endParaRPr lang="en-US" sz="1050" dirty="0"/>
          </a:p>
        </p:txBody>
      </p:sp>
      <p:sp>
        <p:nvSpPr>
          <p:cNvPr id="49" name="Shape 46"/>
          <p:cNvSpPr/>
          <p:nvPr/>
        </p:nvSpPr>
        <p:spPr>
          <a:xfrm>
            <a:off x="3566160" y="3557016"/>
            <a:ext cx="603138" cy="164592"/>
          </a:xfrm>
          <a:prstGeom prst="rect">
            <a:avLst/>
          </a:prstGeom>
          <a:solidFill>
            <a:srgbClr val="FFD166"/>
          </a:solidFill>
          <a:ln w="12700">
            <a:solidFill>
              <a:srgbClr val="333333">
                <a:alpha val="0"/>
              </a:srgbClr>
            </a:solidFill>
            <a:prstDash val="solid"/>
          </a:ln>
        </p:spPr>
        <p:txBody>
          <a:bodyPr/>
          <a:lstStyle/>
          <a:p>
            <a:endParaRPr lang="en-PH"/>
          </a:p>
        </p:txBody>
      </p:sp>
      <p:sp>
        <p:nvSpPr>
          <p:cNvPr id="50" name="Shape 47"/>
          <p:cNvSpPr/>
          <p:nvPr/>
        </p:nvSpPr>
        <p:spPr>
          <a:xfrm>
            <a:off x="3566160" y="3557016"/>
            <a:ext cx="6217920" cy="164592"/>
          </a:xfrm>
          <a:prstGeom prst="rect">
            <a:avLst/>
          </a:prstGeom>
          <a:solidFill>
            <a:srgbClr val="123B52">
              <a:alpha val="40000"/>
            </a:srgbClr>
          </a:solidFill>
          <a:ln w="6350">
            <a:solidFill>
              <a:srgbClr val="123B52">
                <a:alpha val="50000"/>
              </a:srgbClr>
            </a:solidFill>
            <a:prstDash val="solid"/>
          </a:ln>
        </p:spPr>
        <p:txBody>
          <a:bodyPr/>
          <a:lstStyle/>
          <a:p>
            <a:endParaRPr lang="en-PH"/>
          </a:p>
        </p:txBody>
      </p:sp>
      <p:sp>
        <p:nvSpPr>
          <p:cNvPr id="51" name="Shape 48"/>
          <p:cNvSpPr/>
          <p:nvPr/>
        </p:nvSpPr>
        <p:spPr>
          <a:xfrm>
            <a:off x="3566160" y="3557016"/>
            <a:ext cx="603138" cy="164592"/>
          </a:xfrm>
          <a:prstGeom prst="rect">
            <a:avLst/>
          </a:prstGeom>
          <a:solidFill>
            <a:srgbClr val="FFD166"/>
          </a:solidFill>
          <a:ln w="12700">
            <a:solidFill>
              <a:srgbClr val="333333">
                <a:alpha val="0"/>
              </a:srgbClr>
            </a:solidFill>
            <a:prstDash val="solid"/>
          </a:ln>
        </p:spPr>
        <p:txBody>
          <a:bodyPr/>
          <a:lstStyle/>
          <a:p>
            <a:endParaRPr lang="en-PH"/>
          </a:p>
        </p:txBody>
      </p:sp>
      <p:sp>
        <p:nvSpPr>
          <p:cNvPr id="52" name="Text 49"/>
          <p:cNvSpPr/>
          <p:nvPr/>
        </p:nvSpPr>
        <p:spPr>
          <a:xfrm>
            <a:off x="9966960" y="3529584"/>
            <a:ext cx="914400" cy="219456"/>
          </a:xfrm>
          <a:prstGeom prst="rect">
            <a:avLst/>
          </a:prstGeom>
          <a:noFill/>
          <a:ln/>
        </p:spPr>
        <p:txBody>
          <a:bodyPr wrap="square" lIns="0" tIns="0" rIns="0" bIns="0" rtlCol="0" anchor="ctr"/>
          <a:lstStyle/>
          <a:p>
            <a:pPr marL="0" indent="0">
              <a:buNone/>
            </a:pPr>
            <a:r>
              <a:rPr lang="en-US" sz="1000" dirty="0">
                <a:solidFill>
                  <a:srgbClr val="A7C3D4"/>
                </a:solidFill>
                <a:latin typeface="Aptos" pitchFamily="34" charset="0"/>
                <a:ea typeface="Aptos" pitchFamily="34" charset="-122"/>
                <a:cs typeface="Aptos" pitchFamily="34" charset="-120"/>
              </a:rPr>
              <a:t>9.70%</a:t>
            </a:r>
            <a:endParaRPr lang="en-US" sz="1000" dirty="0"/>
          </a:p>
        </p:txBody>
      </p:sp>
      <p:sp>
        <p:nvSpPr>
          <p:cNvPr id="53" name="Text 50"/>
          <p:cNvSpPr/>
          <p:nvPr/>
        </p:nvSpPr>
        <p:spPr>
          <a:xfrm>
            <a:off x="960120" y="4105656"/>
            <a:ext cx="2560320" cy="182880"/>
          </a:xfrm>
          <a:prstGeom prst="rect">
            <a:avLst/>
          </a:prstGeom>
          <a:noFill/>
          <a:ln/>
        </p:spPr>
        <p:txBody>
          <a:bodyPr wrap="square" lIns="0" tIns="0" rIns="0" bIns="0" rtlCol="0" anchor="ctr"/>
          <a:lstStyle/>
          <a:p>
            <a:pPr marL="0" indent="0">
              <a:buNone/>
            </a:pPr>
            <a:r>
              <a:rPr lang="en-US" sz="1050" dirty="0">
                <a:solidFill>
                  <a:srgbClr val="F4FBFF"/>
                </a:solidFill>
                <a:latin typeface="Aptos" pitchFamily="34" charset="0"/>
                <a:ea typeface="Aptos" pitchFamily="34" charset="-122"/>
                <a:cs typeface="Aptos" pitchFamily="34" charset="-120"/>
              </a:rPr>
              <a:t>Incorrect/false positive</a:t>
            </a:r>
            <a:endParaRPr lang="en-US" sz="1050" dirty="0"/>
          </a:p>
        </p:txBody>
      </p:sp>
      <p:sp>
        <p:nvSpPr>
          <p:cNvPr id="54" name="Shape 51"/>
          <p:cNvSpPr/>
          <p:nvPr/>
        </p:nvSpPr>
        <p:spPr>
          <a:xfrm>
            <a:off x="3566160" y="4123944"/>
            <a:ext cx="157313" cy="164592"/>
          </a:xfrm>
          <a:prstGeom prst="rect">
            <a:avLst/>
          </a:prstGeom>
          <a:solidFill>
            <a:srgbClr val="FF6B7A"/>
          </a:solidFill>
          <a:ln w="12700">
            <a:solidFill>
              <a:srgbClr val="333333">
                <a:alpha val="0"/>
              </a:srgbClr>
            </a:solidFill>
            <a:prstDash val="solid"/>
          </a:ln>
        </p:spPr>
        <p:txBody>
          <a:bodyPr/>
          <a:lstStyle/>
          <a:p>
            <a:endParaRPr lang="en-PH"/>
          </a:p>
        </p:txBody>
      </p:sp>
      <p:sp>
        <p:nvSpPr>
          <p:cNvPr id="55" name="Shape 52"/>
          <p:cNvSpPr/>
          <p:nvPr/>
        </p:nvSpPr>
        <p:spPr>
          <a:xfrm>
            <a:off x="3566160" y="4123944"/>
            <a:ext cx="6217920" cy="164592"/>
          </a:xfrm>
          <a:prstGeom prst="rect">
            <a:avLst/>
          </a:prstGeom>
          <a:solidFill>
            <a:srgbClr val="123B52">
              <a:alpha val="40000"/>
            </a:srgbClr>
          </a:solidFill>
          <a:ln w="6350">
            <a:solidFill>
              <a:srgbClr val="123B52">
                <a:alpha val="50000"/>
              </a:srgbClr>
            </a:solidFill>
            <a:prstDash val="solid"/>
          </a:ln>
        </p:spPr>
        <p:txBody>
          <a:bodyPr/>
          <a:lstStyle/>
          <a:p>
            <a:endParaRPr lang="en-PH"/>
          </a:p>
        </p:txBody>
      </p:sp>
      <p:sp>
        <p:nvSpPr>
          <p:cNvPr id="56" name="Shape 53"/>
          <p:cNvSpPr/>
          <p:nvPr/>
        </p:nvSpPr>
        <p:spPr>
          <a:xfrm>
            <a:off x="3566160" y="4123944"/>
            <a:ext cx="157313" cy="164592"/>
          </a:xfrm>
          <a:prstGeom prst="rect">
            <a:avLst/>
          </a:prstGeom>
          <a:solidFill>
            <a:srgbClr val="FF6B7A"/>
          </a:solidFill>
          <a:ln w="12700">
            <a:solidFill>
              <a:srgbClr val="333333">
                <a:alpha val="0"/>
              </a:srgbClr>
            </a:solidFill>
            <a:prstDash val="solid"/>
          </a:ln>
        </p:spPr>
        <p:txBody>
          <a:bodyPr/>
          <a:lstStyle/>
          <a:p>
            <a:endParaRPr lang="en-PH"/>
          </a:p>
        </p:txBody>
      </p:sp>
      <p:sp>
        <p:nvSpPr>
          <p:cNvPr id="57" name="Text 54"/>
          <p:cNvSpPr/>
          <p:nvPr/>
        </p:nvSpPr>
        <p:spPr>
          <a:xfrm>
            <a:off x="9966960" y="4096512"/>
            <a:ext cx="914400" cy="219456"/>
          </a:xfrm>
          <a:prstGeom prst="rect">
            <a:avLst/>
          </a:prstGeom>
          <a:noFill/>
          <a:ln/>
        </p:spPr>
        <p:txBody>
          <a:bodyPr wrap="square" lIns="0" tIns="0" rIns="0" bIns="0" rtlCol="0" anchor="ctr"/>
          <a:lstStyle/>
          <a:p>
            <a:pPr marL="0" indent="0">
              <a:buNone/>
            </a:pPr>
            <a:r>
              <a:rPr lang="en-US" sz="1000" dirty="0">
                <a:solidFill>
                  <a:srgbClr val="A7C3D4"/>
                </a:solidFill>
                <a:latin typeface="Aptos" pitchFamily="34" charset="0"/>
                <a:ea typeface="Aptos" pitchFamily="34" charset="-122"/>
                <a:cs typeface="Aptos" pitchFamily="34" charset="-120"/>
              </a:rPr>
              <a:t>2.53%</a:t>
            </a:r>
            <a:endParaRPr lang="en-US" sz="1000" dirty="0"/>
          </a:p>
        </p:txBody>
      </p:sp>
      <p:sp>
        <p:nvSpPr>
          <p:cNvPr id="58" name="Shape 55"/>
          <p:cNvSpPr/>
          <p:nvPr/>
        </p:nvSpPr>
        <p:spPr>
          <a:xfrm>
            <a:off x="822960" y="4800600"/>
            <a:ext cx="10561320" cy="731520"/>
          </a:xfrm>
          <a:prstGeom prst="roundRect">
            <a:avLst>
              <a:gd name="adj" fmla="val 17500"/>
            </a:avLst>
          </a:prstGeom>
          <a:solidFill>
            <a:srgbClr val="0E2638">
              <a:alpha val="95000"/>
            </a:srgbClr>
          </a:solidFill>
          <a:ln w="13970">
            <a:solidFill>
              <a:srgbClr val="FF6B7A">
                <a:alpha val="55000"/>
              </a:srgbClr>
            </a:solidFill>
            <a:prstDash val="solid"/>
          </a:ln>
        </p:spPr>
        <p:txBody>
          <a:bodyPr/>
          <a:lstStyle/>
          <a:p>
            <a:endParaRPr lang="en-PH"/>
          </a:p>
        </p:txBody>
      </p:sp>
      <p:sp>
        <p:nvSpPr>
          <p:cNvPr id="59" name="Shape 56"/>
          <p:cNvSpPr/>
          <p:nvPr/>
        </p:nvSpPr>
        <p:spPr>
          <a:xfrm>
            <a:off x="960120" y="5257800"/>
            <a:ext cx="10287000" cy="0"/>
          </a:xfrm>
          <a:prstGeom prst="line">
            <a:avLst/>
          </a:prstGeom>
          <a:noFill/>
          <a:ln w="15240">
            <a:solidFill>
              <a:srgbClr val="FF6B7A">
                <a:alpha val="70000"/>
              </a:srgbClr>
            </a:solidFill>
            <a:prstDash val="solid"/>
          </a:ln>
        </p:spPr>
        <p:txBody>
          <a:bodyPr/>
          <a:lstStyle/>
          <a:p>
            <a:endParaRPr lang="en-PH"/>
          </a:p>
        </p:txBody>
      </p:sp>
      <p:sp>
        <p:nvSpPr>
          <p:cNvPr id="60" name="Text 57"/>
          <p:cNvSpPr/>
          <p:nvPr/>
        </p:nvSpPr>
        <p:spPr>
          <a:xfrm>
            <a:off x="1024128" y="4937760"/>
            <a:ext cx="10158984" cy="256032"/>
          </a:xfrm>
          <a:prstGeom prst="rect">
            <a:avLst/>
          </a:prstGeom>
          <a:noFill/>
          <a:ln/>
        </p:spPr>
        <p:txBody>
          <a:bodyPr wrap="square" lIns="0" tIns="0" rIns="0" bIns="0" rtlCol="0" anchor="ctr">
            <a:normAutofit/>
          </a:bodyPr>
          <a:lstStyle/>
          <a:p>
            <a:pPr marL="0" indent="0">
              <a:buNone/>
            </a:pPr>
            <a:r>
              <a:rPr lang="en-US" sz="1200" b="1" dirty="0">
                <a:solidFill>
                  <a:srgbClr val="FF6B7A"/>
                </a:solidFill>
                <a:latin typeface="Aptos Display" pitchFamily="34" charset="0"/>
                <a:ea typeface="Aptos Display" pitchFamily="34" charset="-122"/>
                <a:cs typeface="Aptos Display" pitchFamily="34" charset="-120"/>
              </a:rPr>
              <a:t>Priority revision terms</a:t>
            </a:r>
            <a:endParaRPr lang="en-US" sz="1200" dirty="0"/>
          </a:p>
        </p:txBody>
      </p:sp>
      <p:sp>
        <p:nvSpPr>
          <p:cNvPr id="61" name="Text 58"/>
          <p:cNvSpPr/>
          <p:nvPr/>
        </p:nvSpPr>
        <p:spPr>
          <a:xfrm>
            <a:off x="1024128" y="5394960"/>
            <a:ext cx="10158984" cy="1828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basic, dead, dogshow, and yarn were flagged for closer revision based on validator comments.</a:t>
            </a:r>
            <a:endParaRPr lang="en-US" sz="11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Users rated the app highly</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Results 2</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Results 2</a:t>
            </a:r>
            <a:endParaRPr lang="en-US" sz="880" dirty="0"/>
          </a:p>
        </p:txBody>
      </p:sp>
      <p:sp>
        <p:nvSpPr>
          <p:cNvPr id="31" name="Text 28"/>
          <p:cNvSpPr/>
          <p:nvPr/>
        </p:nvSpPr>
        <p:spPr>
          <a:xfrm>
            <a:off x="960120" y="1371600"/>
            <a:ext cx="1920240" cy="182880"/>
          </a:xfrm>
          <a:prstGeom prst="rect">
            <a:avLst/>
          </a:prstGeom>
          <a:noFill/>
          <a:ln/>
        </p:spPr>
        <p:txBody>
          <a:bodyPr wrap="square" lIns="0" tIns="0" rIns="0" bIns="0" rtlCol="0" anchor="ctr"/>
          <a:lstStyle/>
          <a:p>
            <a:pPr marL="0" indent="0">
              <a:buNone/>
            </a:pPr>
            <a:r>
              <a:rPr lang="en-US" sz="1100" dirty="0">
                <a:solidFill>
                  <a:srgbClr val="F4FBFF"/>
                </a:solidFill>
                <a:latin typeface="Aptos" pitchFamily="34" charset="0"/>
                <a:ea typeface="Aptos" pitchFamily="34" charset="-122"/>
                <a:cs typeface="Aptos" pitchFamily="34" charset="-120"/>
              </a:rPr>
              <a:t>Dictionary</a:t>
            </a:r>
            <a:endParaRPr lang="en-US" sz="1100" dirty="0"/>
          </a:p>
        </p:txBody>
      </p:sp>
      <p:sp>
        <p:nvSpPr>
          <p:cNvPr id="32" name="Shape 29"/>
          <p:cNvSpPr/>
          <p:nvPr/>
        </p:nvSpPr>
        <p:spPr>
          <a:xfrm>
            <a:off x="2971800" y="1389888"/>
            <a:ext cx="6629400" cy="201168"/>
          </a:xfrm>
          <a:prstGeom prst="rect">
            <a:avLst/>
          </a:prstGeom>
          <a:solidFill>
            <a:srgbClr val="123B52">
              <a:alpha val="50000"/>
            </a:srgbClr>
          </a:solidFill>
          <a:ln w="12700">
            <a:solidFill>
              <a:srgbClr val="333333">
                <a:alpha val="0"/>
              </a:srgbClr>
            </a:solidFill>
            <a:prstDash val="solid"/>
          </a:ln>
        </p:spPr>
        <p:txBody>
          <a:bodyPr/>
          <a:lstStyle/>
          <a:p>
            <a:endParaRPr lang="en-PH"/>
          </a:p>
        </p:txBody>
      </p:sp>
      <p:sp>
        <p:nvSpPr>
          <p:cNvPr id="33" name="Shape 30"/>
          <p:cNvSpPr/>
          <p:nvPr/>
        </p:nvSpPr>
        <p:spPr>
          <a:xfrm>
            <a:off x="2971800" y="1389888"/>
            <a:ext cx="6205118" cy="201168"/>
          </a:xfrm>
          <a:prstGeom prst="rect">
            <a:avLst/>
          </a:prstGeom>
          <a:solidFill>
            <a:srgbClr val="7EF29D"/>
          </a:solidFill>
          <a:ln w="12700">
            <a:solidFill>
              <a:srgbClr val="333333">
                <a:alpha val="0"/>
              </a:srgbClr>
            </a:solidFill>
            <a:prstDash val="solid"/>
          </a:ln>
        </p:spPr>
        <p:txBody>
          <a:bodyPr/>
          <a:lstStyle/>
          <a:p>
            <a:endParaRPr lang="en-PH"/>
          </a:p>
        </p:txBody>
      </p:sp>
      <p:sp>
        <p:nvSpPr>
          <p:cNvPr id="34" name="Text 31"/>
          <p:cNvSpPr/>
          <p:nvPr/>
        </p:nvSpPr>
        <p:spPr>
          <a:xfrm>
            <a:off x="9829800" y="1362456"/>
            <a:ext cx="731520" cy="228600"/>
          </a:xfrm>
          <a:prstGeom prst="rect">
            <a:avLst/>
          </a:prstGeom>
          <a:noFill/>
          <a:ln/>
        </p:spPr>
        <p:txBody>
          <a:bodyPr wrap="square" lIns="0" tIns="0" rIns="0" bIns="0" rtlCol="0" anchor="ctr"/>
          <a:lstStyle/>
          <a:p>
            <a:pPr marL="0" indent="0">
              <a:buNone/>
            </a:pPr>
            <a:r>
              <a:rPr lang="en-US" sz="1200" b="1" dirty="0">
                <a:solidFill>
                  <a:srgbClr val="7EF29D"/>
                </a:solidFill>
                <a:latin typeface="Aptos Display" pitchFamily="34" charset="0"/>
                <a:ea typeface="Aptos Display" pitchFamily="34" charset="-122"/>
                <a:cs typeface="Aptos Display" pitchFamily="34" charset="-120"/>
              </a:rPr>
              <a:t>9.36</a:t>
            </a:r>
            <a:endParaRPr lang="en-US" sz="1200" dirty="0"/>
          </a:p>
        </p:txBody>
      </p:sp>
      <p:sp>
        <p:nvSpPr>
          <p:cNvPr id="35" name="Text 32"/>
          <p:cNvSpPr/>
          <p:nvPr/>
        </p:nvSpPr>
        <p:spPr>
          <a:xfrm>
            <a:off x="960120" y="1938528"/>
            <a:ext cx="1920240" cy="182880"/>
          </a:xfrm>
          <a:prstGeom prst="rect">
            <a:avLst/>
          </a:prstGeom>
          <a:noFill/>
          <a:ln/>
        </p:spPr>
        <p:txBody>
          <a:bodyPr wrap="square" lIns="0" tIns="0" rIns="0" bIns="0" rtlCol="0" anchor="ctr"/>
          <a:lstStyle/>
          <a:p>
            <a:pPr marL="0" indent="0">
              <a:buNone/>
            </a:pPr>
            <a:r>
              <a:rPr lang="en-US" sz="1100" dirty="0">
                <a:solidFill>
                  <a:srgbClr val="F4FBFF"/>
                </a:solidFill>
                <a:latin typeface="Aptos" pitchFamily="34" charset="0"/>
                <a:ea typeface="Aptos" pitchFamily="34" charset="-122"/>
                <a:cs typeface="Aptos" pitchFamily="34" charset="-120"/>
              </a:rPr>
              <a:t>Tutor</a:t>
            </a:r>
            <a:endParaRPr lang="en-US" sz="1100" dirty="0"/>
          </a:p>
        </p:txBody>
      </p:sp>
      <p:sp>
        <p:nvSpPr>
          <p:cNvPr id="36" name="Shape 33"/>
          <p:cNvSpPr/>
          <p:nvPr/>
        </p:nvSpPr>
        <p:spPr>
          <a:xfrm>
            <a:off x="2971800" y="1956816"/>
            <a:ext cx="6629400" cy="201168"/>
          </a:xfrm>
          <a:prstGeom prst="rect">
            <a:avLst/>
          </a:prstGeom>
          <a:solidFill>
            <a:srgbClr val="123B52">
              <a:alpha val="50000"/>
            </a:srgbClr>
          </a:solidFill>
          <a:ln w="12700">
            <a:solidFill>
              <a:srgbClr val="333333">
                <a:alpha val="0"/>
              </a:srgbClr>
            </a:solidFill>
            <a:prstDash val="solid"/>
          </a:ln>
        </p:spPr>
        <p:txBody>
          <a:bodyPr/>
          <a:lstStyle/>
          <a:p>
            <a:endParaRPr lang="en-PH"/>
          </a:p>
        </p:txBody>
      </p:sp>
      <p:sp>
        <p:nvSpPr>
          <p:cNvPr id="37" name="Shape 34"/>
          <p:cNvSpPr/>
          <p:nvPr/>
        </p:nvSpPr>
        <p:spPr>
          <a:xfrm>
            <a:off x="2971800" y="1956816"/>
            <a:ext cx="6185230" cy="201168"/>
          </a:xfrm>
          <a:prstGeom prst="rect">
            <a:avLst/>
          </a:prstGeom>
          <a:solidFill>
            <a:srgbClr val="2EE8E1"/>
          </a:solidFill>
          <a:ln w="12700">
            <a:solidFill>
              <a:srgbClr val="333333">
                <a:alpha val="0"/>
              </a:srgbClr>
            </a:solidFill>
            <a:prstDash val="solid"/>
          </a:ln>
        </p:spPr>
        <p:txBody>
          <a:bodyPr/>
          <a:lstStyle/>
          <a:p>
            <a:endParaRPr lang="en-PH"/>
          </a:p>
        </p:txBody>
      </p:sp>
      <p:sp>
        <p:nvSpPr>
          <p:cNvPr id="38" name="Text 35"/>
          <p:cNvSpPr/>
          <p:nvPr/>
        </p:nvSpPr>
        <p:spPr>
          <a:xfrm>
            <a:off x="9829800" y="1929384"/>
            <a:ext cx="731520" cy="228600"/>
          </a:xfrm>
          <a:prstGeom prst="rect">
            <a:avLst/>
          </a:prstGeom>
          <a:noFill/>
          <a:ln/>
        </p:spPr>
        <p:txBody>
          <a:bodyPr wrap="square" lIns="0" tIns="0" rIns="0" bIns="0" rtlCol="0" anchor="ctr"/>
          <a:lstStyle/>
          <a:p>
            <a:pPr marL="0" indent="0">
              <a:buNone/>
            </a:pPr>
            <a:r>
              <a:rPr lang="en-US" sz="1200" b="1" dirty="0">
                <a:solidFill>
                  <a:srgbClr val="2EE8E1"/>
                </a:solidFill>
                <a:latin typeface="Aptos Display" pitchFamily="34" charset="0"/>
                <a:ea typeface="Aptos Display" pitchFamily="34" charset="-122"/>
                <a:cs typeface="Aptos Display" pitchFamily="34" charset="-120"/>
              </a:rPr>
              <a:t>9.33</a:t>
            </a:r>
            <a:endParaRPr lang="en-US" sz="1200" dirty="0"/>
          </a:p>
        </p:txBody>
      </p:sp>
      <p:sp>
        <p:nvSpPr>
          <p:cNvPr id="39" name="Text 36"/>
          <p:cNvSpPr/>
          <p:nvPr/>
        </p:nvSpPr>
        <p:spPr>
          <a:xfrm>
            <a:off x="960120" y="2505456"/>
            <a:ext cx="1920240" cy="182880"/>
          </a:xfrm>
          <a:prstGeom prst="rect">
            <a:avLst/>
          </a:prstGeom>
          <a:noFill/>
          <a:ln/>
        </p:spPr>
        <p:txBody>
          <a:bodyPr wrap="square" lIns="0" tIns="0" rIns="0" bIns="0" rtlCol="0" anchor="ctr"/>
          <a:lstStyle/>
          <a:p>
            <a:pPr marL="0" indent="0">
              <a:buNone/>
            </a:pPr>
            <a:r>
              <a:rPr lang="en-US" sz="1100" dirty="0">
                <a:solidFill>
                  <a:srgbClr val="F4FBFF"/>
                </a:solidFill>
                <a:latin typeface="Aptos" pitchFamily="34" charset="0"/>
                <a:ea typeface="Aptos" pitchFamily="34" charset="-122"/>
                <a:cs typeface="Aptos" pitchFamily="34" charset="-120"/>
              </a:rPr>
              <a:t>Navigation</a:t>
            </a:r>
            <a:endParaRPr lang="en-US" sz="1100" dirty="0"/>
          </a:p>
        </p:txBody>
      </p:sp>
      <p:sp>
        <p:nvSpPr>
          <p:cNvPr id="40" name="Shape 37"/>
          <p:cNvSpPr/>
          <p:nvPr/>
        </p:nvSpPr>
        <p:spPr>
          <a:xfrm>
            <a:off x="2971800" y="2523744"/>
            <a:ext cx="6629400" cy="201168"/>
          </a:xfrm>
          <a:prstGeom prst="rect">
            <a:avLst/>
          </a:prstGeom>
          <a:solidFill>
            <a:srgbClr val="123B52">
              <a:alpha val="50000"/>
            </a:srgbClr>
          </a:solidFill>
          <a:ln w="12700">
            <a:solidFill>
              <a:srgbClr val="333333">
                <a:alpha val="0"/>
              </a:srgbClr>
            </a:solidFill>
            <a:prstDash val="solid"/>
          </a:ln>
        </p:spPr>
        <p:txBody>
          <a:bodyPr/>
          <a:lstStyle/>
          <a:p>
            <a:endParaRPr lang="en-PH"/>
          </a:p>
        </p:txBody>
      </p:sp>
      <p:sp>
        <p:nvSpPr>
          <p:cNvPr id="41" name="Shape 38"/>
          <p:cNvSpPr/>
          <p:nvPr/>
        </p:nvSpPr>
        <p:spPr>
          <a:xfrm>
            <a:off x="2971800" y="2523744"/>
            <a:ext cx="6059272" cy="201168"/>
          </a:xfrm>
          <a:prstGeom prst="rect">
            <a:avLst/>
          </a:prstGeom>
          <a:solidFill>
            <a:srgbClr val="B884FF"/>
          </a:solidFill>
          <a:ln w="12700">
            <a:solidFill>
              <a:srgbClr val="333333">
                <a:alpha val="0"/>
              </a:srgbClr>
            </a:solidFill>
            <a:prstDash val="solid"/>
          </a:ln>
        </p:spPr>
        <p:txBody>
          <a:bodyPr/>
          <a:lstStyle/>
          <a:p>
            <a:endParaRPr lang="en-PH"/>
          </a:p>
        </p:txBody>
      </p:sp>
      <p:sp>
        <p:nvSpPr>
          <p:cNvPr id="42" name="Text 39"/>
          <p:cNvSpPr/>
          <p:nvPr/>
        </p:nvSpPr>
        <p:spPr>
          <a:xfrm>
            <a:off x="9829800" y="2496312"/>
            <a:ext cx="731520" cy="228600"/>
          </a:xfrm>
          <a:prstGeom prst="rect">
            <a:avLst/>
          </a:prstGeom>
          <a:noFill/>
          <a:ln/>
        </p:spPr>
        <p:txBody>
          <a:bodyPr wrap="square" lIns="0" tIns="0" rIns="0" bIns="0" rtlCol="0" anchor="ctr"/>
          <a:lstStyle/>
          <a:p>
            <a:pPr marL="0" indent="0">
              <a:buNone/>
            </a:pPr>
            <a:r>
              <a:rPr lang="en-US" sz="1200" b="1" dirty="0">
                <a:solidFill>
                  <a:srgbClr val="B884FF"/>
                </a:solidFill>
                <a:latin typeface="Aptos Display" pitchFamily="34" charset="0"/>
                <a:ea typeface="Aptos Display" pitchFamily="34" charset="-122"/>
                <a:cs typeface="Aptos Display" pitchFamily="34" charset="-120"/>
              </a:rPr>
              <a:t>9.14</a:t>
            </a:r>
            <a:endParaRPr lang="en-US" sz="1200" dirty="0"/>
          </a:p>
        </p:txBody>
      </p:sp>
      <p:sp>
        <p:nvSpPr>
          <p:cNvPr id="43" name="Text 40"/>
          <p:cNvSpPr/>
          <p:nvPr/>
        </p:nvSpPr>
        <p:spPr>
          <a:xfrm>
            <a:off x="960120" y="3072384"/>
            <a:ext cx="1920240" cy="182880"/>
          </a:xfrm>
          <a:prstGeom prst="rect">
            <a:avLst/>
          </a:prstGeom>
          <a:noFill/>
          <a:ln/>
        </p:spPr>
        <p:txBody>
          <a:bodyPr wrap="square" lIns="0" tIns="0" rIns="0" bIns="0" rtlCol="0" anchor="ctr"/>
          <a:lstStyle/>
          <a:p>
            <a:pPr marL="0" indent="0">
              <a:buNone/>
            </a:pPr>
            <a:r>
              <a:rPr lang="en-US" sz="1100" dirty="0">
                <a:solidFill>
                  <a:srgbClr val="F4FBFF"/>
                </a:solidFill>
                <a:latin typeface="Aptos" pitchFamily="34" charset="0"/>
                <a:ea typeface="Aptos" pitchFamily="34" charset="-122"/>
                <a:cs typeface="Aptos" pitchFamily="34" charset="-120"/>
              </a:rPr>
              <a:t>Analyzer</a:t>
            </a:r>
            <a:endParaRPr lang="en-US" sz="1100" dirty="0"/>
          </a:p>
        </p:txBody>
      </p:sp>
      <p:sp>
        <p:nvSpPr>
          <p:cNvPr id="44" name="Shape 41"/>
          <p:cNvSpPr/>
          <p:nvPr/>
        </p:nvSpPr>
        <p:spPr>
          <a:xfrm>
            <a:off x="2971800" y="3090672"/>
            <a:ext cx="6629400" cy="201168"/>
          </a:xfrm>
          <a:prstGeom prst="rect">
            <a:avLst/>
          </a:prstGeom>
          <a:solidFill>
            <a:srgbClr val="123B52">
              <a:alpha val="50000"/>
            </a:srgbClr>
          </a:solidFill>
          <a:ln w="12700">
            <a:solidFill>
              <a:srgbClr val="333333">
                <a:alpha val="0"/>
              </a:srgbClr>
            </a:solidFill>
            <a:prstDash val="solid"/>
          </a:ln>
        </p:spPr>
        <p:txBody>
          <a:bodyPr/>
          <a:lstStyle/>
          <a:p>
            <a:endParaRPr lang="en-PH"/>
          </a:p>
        </p:txBody>
      </p:sp>
      <p:sp>
        <p:nvSpPr>
          <p:cNvPr id="45" name="Shape 42"/>
          <p:cNvSpPr/>
          <p:nvPr/>
        </p:nvSpPr>
        <p:spPr>
          <a:xfrm>
            <a:off x="2971800" y="3090672"/>
            <a:ext cx="5966460" cy="201168"/>
          </a:xfrm>
          <a:prstGeom prst="rect">
            <a:avLst/>
          </a:prstGeom>
          <a:solidFill>
            <a:srgbClr val="FFD166"/>
          </a:solidFill>
          <a:ln w="12700">
            <a:solidFill>
              <a:srgbClr val="333333">
                <a:alpha val="0"/>
              </a:srgbClr>
            </a:solidFill>
            <a:prstDash val="solid"/>
          </a:ln>
        </p:spPr>
        <p:txBody>
          <a:bodyPr/>
          <a:lstStyle/>
          <a:p>
            <a:endParaRPr lang="en-PH"/>
          </a:p>
        </p:txBody>
      </p:sp>
      <p:sp>
        <p:nvSpPr>
          <p:cNvPr id="46" name="Text 43"/>
          <p:cNvSpPr/>
          <p:nvPr/>
        </p:nvSpPr>
        <p:spPr>
          <a:xfrm>
            <a:off x="9829800" y="3063240"/>
            <a:ext cx="731520" cy="228600"/>
          </a:xfrm>
          <a:prstGeom prst="rect">
            <a:avLst/>
          </a:prstGeom>
          <a:noFill/>
          <a:ln/>
        </p:spPr>
        <p:txBody>
          <a:bodyPr wrap="square" lIns="0" tIns="0" rIns="0" bIns="0" rtlCol="0" anchor="ctr"/>
          <a:lstStyle/>
          <a:p>
            <a:pPr marL="0" indent="0">
              <a:buNone/>
            </a:pPr>
            <a:r>
              <a:rPr lang="en-US" sz="1200" b="1" dirty="0">
                <a:solidFill>
                  <a:srgbClr val="FFD166"/>
                </a:solidFill>
                <a:latin typeface="Aptos Display" pitchFamily="34" charset="0"/>
                <a:ea typeface="Aptos Display" pitchFamily="34" charset="-122"/>
                <a:cs typeface="Aptos Display" pitchFamily="34" charset="-120"/>
              </a:rPr>
              <a:t>9.00</a:t>
            </a:r>
            <a:endParaRPr lang="en-US" sz="1200" dirty="0"/>
          </a:p>
        </p:txBody>
      </p:sp>
      <p:sp>
        <p:nvSpPr>
          <p:cNvPr id="47" name="Text 44"/>
          <p:cNvSpPr/>
          <p:nvPr/>
        </p:nvSpPr>
        <p:spPr>
          <a:xfrm>
            <a:off x="960120" y="3639312"/>
            <a:ext cx="1920240" cy="182880"/>
          </a:xfrm>
          <a:prstGeom prst="rect">
            <a:avLst/>
          </a:prstGeom>
          <a:noFill/>
          <a:ln/>
        </p:spPr>
        <p:txBody>
          <a:bodyPr wrap="square" lIns="0" tIns="0" rIns="0" bIns="0" rtlCol="0" anchor="ctr"/>
          <a:lstStyle/>
          <a:p>
            <a:pPr marL="0" indent="0">
              <a:buNone/>
            </a:pPr>
            <a:r>
              <a:rPr lang="en-US" sz="1100" dirty="0">
                <a:solidFill>
                  <a:srgbClr val="F4FBFF"/>
                </a:solidFill>
                <a:latin typeface="Aptos" pitchFamily="34" charset="0"/>
                <a:ea typeface="Aptos" pitchFamily="34" charset="-122"/>
                <a:cs typeface="Aptos" pitchFamily="34" charset="-120"/>
              </a:rPr>
              <a:t>Top Slang</a:t>
            </a:r>
            <a:endParaRPr lang="en-US" sz="1100" dirty="0"/>
          </a:p>
        </p:txBody>
      </p:sp>
      <p:sp>
        <p:nvSpPr>
          <p:cNvPr id="48" name="Shape 45"/>
          <p:cNvSpPr/>
          <p:nvPr/>
        </p:nvSpPr>
        <p:spPr>
          <a:xfrm>
            <a:off x="2971800" y="3657600"/>
            <a:ext cx="6629400" cy="201168"/>
          </a:xfrm>
          <a:prstGeom prst="rect">
            <a:avLst/>
          </a:prstGeom>
          <a:solidFill>
            <a:srgbClr val="123B52">
              <a:alpha val="50000"/>
            </a:srgbClr>
          </a:solidFill>
          <a:ln w="12700">
            <a:solidFill>
              <a:srgbClr val="333333">
                <a:alpha val="0"/>
              </a:srgbClr>
            </a:solidFill>
            <a:prstDash val="solid"/>
          </a:ln>
        </p:spPr>
        <p:txBody>
          <a:bodyPr/>
          <a:lstStyle/>
          <a:p>
            <a:endParaRPr lang="en-PH"/>
          </a:p>
        </p:txBody>
      </p:sp>
      <p:sp>
        <p:nvSpPr>
          <p:cNvPr id="49" name="Shape 46"/>
          <p:cNvSpPr/>
          <p:nvPr/>
        </p:nvSpPr>
        <p:spPr>
          <a:xfrm>
            <a:off x="2971800" y="3657600"/>
            <a:ext cx="5867019" cy="201168"/>
          </a:xfrm>
          <a:prstGeom prst="rect">
            <a:avLst/>
          </a:prstGeom>
          <a:solidFill>
            <a:srgbClr val="6CE5FF"/>
          </a:solidFill>
          <a:ln w="12700">
            <a:solidFill>
              <a:srgbClr val="333333">
                <a:alpha val="0"/>
              </a:srgbClr>
            </a:solidFill>
            <a:prstDash val="solid"/>
          </a:ln>
        </p:spPr>
        <p:txBody>
          <a:bodyPr/>
          <a:lstStyle/>
          <a:p>
            <a:endParaRPr lang="en-PH"/>
          </a:p>
        </p:txBody>
      </p:sp>
      <p:sp>
        <p:nvSpPr>
          <p:cNvPr id="50" name="Text 47"/>
          <p:cNvSpPr/>
          <p:nvPr/>
        </p:nvSpPr>
        <p:spPr>
          <a:xfrm>
            <a:off x="9829800" y="3630168"/>
            <a:ext cx="731520" cy="228600"/>
          </a:xfrm>
          <a:prstGeom prst="rect">
            <a:avLst/>
          </a:prstGeom>
          <a:noFill/>
          <a:ln/>
        </p:spPr>
        <p:txBody>
          <a:bodyPr wrap="square" lIns="0" tIns="0" rIns="0" bIns="0" rtlCol="0" anchor="ctr"/>
          <a:lstStyle/>
          <a:p>
            <a:pPr marL="0" indent="0">
              <a:buNone/>
            </a:pPr>
            <a:r>
              <a:rPr lang="en-US" sz="1200" b="1" dirty="0">
                <a:solidFill>
                  <a:srgbClr val="6CE5FF"/>
                </a:solidFill>
                <a:latin typeface="Aptos Display" pitchFamily="34" charset="0"/>
                <a:ea typeface="Aptos Display" pitchFamily="34" charset="-122"/>
                <a:cs typeface="Aptos Display" pitchFamily="34" charset="-120"/>
              </a:rPr>
              <a:t>8.85</a:t>
            </a:r>
            <a:endParaRPr lang="en-US" sz="1200" dirty="0"/>
          </a:p>
        </p:txBody>
      </p:sp>
      <p:sp>
        <p:nvSpPr>
          <p:cNvPr id="51" name="Text 48"/>
          <p:cNvSpPr/>
          <p:nvPr/>
        </p:nvSpPr>
        <p:spPr>
          <a:xfrm>
            <a:off x="960120" y="4206240"/>
            <a:ext cx="1920240" cy="182880"/>
          </a:xfrm>
          <a:prstGeom prst="rect">
            <a:avLst/>
          </a:prstGeom>
          <a:noFill/>
          <a:ln/>
        </p:spPr>
        <p:txBody>
          <a:bodyPr wrap="square" lIns="0" tIns="0" rIns="0" bIns="0" rtlCol="0" anchor="ctr"/>
          <a:lstStyle/>
          <a:p>
            <a:pPr marL="0" indent="0">
              <a:buNone/>
            </a:pPr>
            <a:r>
              <a:rPr lang="en-US" sz="1100" dirty="0">
                <a:solidFill>
                  <a:srgbClr val="F4FBFF"/>
                </a:solidFill>
                <a:latin typeface="Aptos" pitchFamily="34" charset="0"/>
                <a:ea typeface="Aptos" pitchFamily="34" charset="-122"/>
                <a:cs typeface="Aptos" pitchFamily="34" charset="-120"/>
              </a:rPr>
              <a:t>Dashboard</a:t>
            </a:r>
            <a:endParaRPr lang="en-US" sz="1100" dirty="0"/>
          </a:p>
        </p:txBody>
      </p:sp>
      <p:sp>
        <p:nvSpPr>
          <p:cNvPr id="52" name="Shape 49"/>
          <p:cNvSpPr/>
          <p:nvPr/>
        </p:nvSpPr>
        <p:spPr>
          <a:xfrm>
            <a:off x="2971800" y="4224528"/>
            <a:ext cx="6629400" cy="201168"/>
          </a:xfrm>
          <a:prstGeom prst="rect">
            <a:avLst/>
          </a:prstGeom>
          <a:solidFill>
            <a:srgbClr val="123B52">
              <a:alpha val="50000"/>
            </a:srgbClr>
          </a:solidFill>
          <a:ln w="12700">
            <a:solidFill>
              <a:srgbClr val="333333">
                <a:alpha val="0"/>
              </a:srgbClr>
            </a:solidFill>
            <a:prstDash val="solid"/>
          </a:ln>
        </p:spPr>
        <p:txBody>
          <a:bodyPr/>
          <a:lstStyle/>
          <a:p>
            <a:endParaRPr lang="en-PH"/>
          </a:p>
        </p:txBody>
      </p:sp>
      <p:sp>
        <p:nvSpPr>
          <p:cNvPr id="53" name="Shape 50"/>
          <p:cNvSpPr/>
          <p:nvPr/>
        </p:nvSpPr>
        <p:spPr>
          <a:xfrm>
            <a:off x="2971800" y="4224528"/>
            <a:ext cx="5688025" cy="201168"/>
          </a:xfrm>
          <a:prstGeom prst="rect">
            <a:avLst/>
          </a:prstGeom>
          <a:solidFill>
            <a:srgbClr val="7EF29D"/>
          </a:solidFill>
          <a:ln w="12700">
            <a:solidFill>
              <a:srgbClr val="333333">
                <a:alpha val="0"/>
              </a:srgbClr>
            </a:solidFill>
            <a:prstDash val="solid"/>
          </a:ln>
        </p:spPr>
        <p:txBody>
          <a:bodyPr/>
          <a:lstStyle/>
          <a:p>
            <a:endParaRPr lang="en-PH"/>
          </a:p>
        </p:txBody>
      </p:sp>
      <p:sp>
        <p:nvSpPr>
          <p:cNvPr id="54" name="Text 51"/>
          <p:cNvSpPr/>
          <p:nvPr/>
        </p:nvSpPr>
        <p:spPr>
          <a:xfrm>
            <a:off x="9829800" y="4197096"/>
            <a:ext cx="731520" cy="228600"/>
          </a:xfrm>
          <a:prstGeom prst="rect">
            <a:avLst/>
          </a:prstGeom>
          <a:noFill/>
          <a:ln/>
        </p:spPr>
        <p:txBody>
          <a:bodyPr wrap="square" lIns="0" tIns="0" rIns="0" bIns="0" rtlCol="0" anchor="ctr"/>
          <a:lstStyle/>
          <a:p>
            <a:pPr marL="0" indent="0">
              <a:buNone/>
            </a:pPr>
            <a:r>
              <a:rPr lang="en-US" sz="1200" b="1" dirty="0">
                <a:solidFill>
                  <a:srgbClr val="7EF29D"/>
                </a:solidFill>
                <a:latin typeface="Aptos Display" pitchFamily="34" charset="0"/>
                <a:ea typeface="Aptos Display" pitchFamily="34" charset="-122"/>
                <a:cs typeface="Aptos Display" pitchFamily="34" charset="-120"/>
              </a:rPr>
              <a:t>8.58</a:t>
            </a:r>
            <a:endParaRPr lang="en-US" sz="1200" dirty="0"/>
          </a:p>
        </p:txBody>
      </p:sp>
      <p:sp>
        <p:nvSpPr>
          <p:cNvPr id="55" name="Shape 52"/>
          <p:cNvSpPr/>
          <p:nvPr/>
        </p:nvSpPr>
        <p:spPr>
          <a:xfrm>
            <a:off x="795529" y="5212079"/>
            <a:ext cx="4983480" cy="640080"/>
          </a:xfrm>
          <a:prstGeom prst="roundRect">
            <a:avLst>
              <a:gd name="adj" fmla="val 20000"/>
            </a:avLst>
          </a:prstGeom>
          <a:solidFill>
            <a:srgbClr val="0E2638">
              <a:alpha val="95000"/>
            </a:srgbClr>
          </a:solidFill>
          <a:ln w="13970">
            <a:solidFill>
              <a:srgbClr val="7EF29D">
                <a:alpha val="55000"/>
              </a:srgbClr>
            </a:solidFill>
            <a:prstDash val="solid"/>
          </a:ln>
        </p:spPr>
        <p:txBody>
          <a:bodyPr/>
          <a:lstStyle/>
          <a:p>
            <a:endParaRPr lang="en-PH"/>
          </a:p>
        </p:txBody>
      </p:sp>
      <p:sp>
        <p:nvSpPr>
          <p:cNvPr id="56" name="Shape 53"/>
          <p:cNvSpPr/>
          <p:nvPr/>
        </p:nvSpPr>
        <p:spPr>
          <a:xfrm>
            <a:off x="960120" y="5577840"/>
            <a:ext cx="4709160" cy="0"/>
          </a:xfrm>
          <a:prstGeom prst="line">
            <a:avLst/>
          </a:prstGeom>
          <a:noFill/>
          <a:ln w="15240">
            <a:solidFill>
              <a:srgbClr val="7EF29D">
                <a:alpha val="70000"/>
              </a:srgbClr>
            </a:solidFill>
            <a:prstDash val="solid"/>
          </a:ln>
        </p:spPr>
        <p:txBody>
          <a:bodyPr/>
          <a:lstStyle/>
          <a:p>
            <a:endParaRPr lang="en-PH"/>
          </a:p>
        </p:txBody>
      </p:sp>
      <p:sp>
        <p:nvSpPr>
          <p:cNvPr id="57" name="Text 54"/>
          <p:cNvSpPr/>
          <p:nvPr/>
        </p:nvSpPr>
        <p:spPr>
          <a:xfrm>
            <a:off x="1024128" y="5257800"/>
            <a:ext cx="4581144" cy="256032"/>
          </a:xfrm>
          <a:prstGeom prst="rect">
            <a:avLst/>
          </a:prstGeom>
          <a:noFill/>
          <a:ln/>
        </p:spPr>
        <p:txBody>
          <a:bodyPr wrap="square" lIns="0" tIns="0" rIns="0" bIns="0" rtlCol="0" anchor="ctr">
            <a:normAutofit/>
          </a:bodyPr>
          <a:lstStyle/>
          <a:p>
            <a:pPr marL="0" indent="0">
              <a:buNone/>
            </a:pPr>
            <a:r>
              <a:rPr lang="en-US" sz="1150" b="1" dirty="0">
                <a:solidFill>
                  <a:srgbClr val="7EF29D"/>
                </a:solidFill>
                <a:latin typeface="Aptos Display" pitchFamily="34" charset="0"/>
                <a:ea typeface="Aptos Display" pitchFamily="34" charset="-122"/>
                <a:cs typeface="Aptos Display" pitchFamily="34" charset="-120"/>
              </a:rPr>
              <a:t>Learning outcome</a:t>
            </a:r>
            <a:endParaRPr lang="en-US" sz="1150" dirty="0"/>
          </a:p>
        </p:txBody>
      </p:sp>
      <p:sp>
        <p:nvSpPr>
          <p:cNvPr id="58" name="Text 55"/>
          <p:cNvSpPr/>
          <p:nvPr/>
        </p:nvSpPr>
        <p:spPr>
          <a:xfrm>
            <a:off x="1024128" y="5715000"/>
            <a:ext cx="4581144" cy="0"/>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86.11% learned at least one new slang word or expression.</a:t>
            </a:r>
            <a:endParaRPr lang="en-US" sz="1050" dirty="0"/>
          </a:p>
        </p:txBody>
      </p:sp>
      <p:sp>
        <p:nvSpPr>
          <p:cNvPr id="59" name="Shape 56"/>
          <p:cNvSpPr/>
          <p:nvPr/>
        </p:nvSpPr>
        <p:spPr>
          <a:xfrm>
            <a:off x="6355080" y="5212079"/>
            <a:ext cx="4983480" cy="640080"/>
          </a:xfrm>
          <a:prstGeom prst="roundRect">
            <a:avLst>
              <a:gd name="adj" fmla="val 20000"/>
            </a:avLst>
          </a:prstGeom>
          <a:solidFill>
            <a:srgbClr val="0E2638">
              <a:alpha val="95000"/>
            </a:srgbClr>
          </a:solidFill>
          <a:ln w="13970">
            <a:solidFill>
              <a:srgbClr val="FFD166">
                <a:alpha val="55000"/>
              </a:srgbClr>
            </a:solidFill>
            <a:prstDash val="solid"/>
          </a:ln>
        </p:spPr>
        <p:txBody>
          <a:bodyPr/>
          <a:lstStyle/>
          <a:p>
            <a:endParaRPr lang="en-PH"/>
          </a:p>
        </p:txBody>
      </p:sp>
      <p:sp>
        <p:nvSpPr>
          <p:cNvPr id="60" name="Shape 57"/>
          <p:cNvSpPr/>
          <p:nvPr/>
        </p:nvSpPr>
        <p:spPr>
          <a:xfrm>
            <a:off x="6492240" y="5577840"/>
            <a:ext cx="4709160" cy="0"/>
          </a:xfrm>
          <a:prstGeom prst="line">
            <a:avLst/>
          </a:prstGeom>
          <a:noFill/>
          <a:ln w="15240">
            <a:solidFill>
              <a:srgbClr val="FFD166">
                <a:alpha val="70000"/>
              </a:srgbClr>
            </a:solidFill>
            <a:prstDash val="solid"/>
          </a:ln>
        </p:spPr>
        <p:txBody>
          <a:bodyPr/>
          <a:lstStyle/>
          <a:p>
            <a:endParaRPr lang="en-PH"/>
          </a:p>
        </p:txBody>
      </p:sp>
      <p:sp>
        <p:nvSpPr>
          <p:cNvPr id="61" name="Text 58"/>
          <p:cNvSpPr/>
          <p:nvPr/>
        </p:nvSpPr>
        <p:spPr>
          <a:xfrm>
            <a:off x="6556248" y="5257800"/>
            <a:ext cx="4581144" cy="256032"/>
          </a:xfrm>
          <a:prstGeom prst="rect">
            <a:avLst/>
          </a:prstGeom>
          <a:noFill/>
          <a:ln/>
        </p:spPr>
        <p:txBody>
          <a:bodyPr wrap="square" lIns="0" tIns="0" rIns="0" bIns="0" rtlCol="0" anchor="ctr">
            <a:normAutofit/>
          </a:bodyPr>
          <a:lstStyle/>
          <a:p>
            <a:pPr marL="0" indent="0">
              <a:buNone/>
            </a:pPr>
            <a:r>
              <a:rPr lang="en-US" sz="1150" b="1" dirty="0">
                <a:solidFill>
                  <a:srgbClr val="FFD166"/>
                </a:solidFill>
                <a:latin typeface="Aptos Display" pitchFamily="34" charset="0"/>
                <a:ea typeface="Aptos Display" pitchFamily="34" charset="-122"/>
                <a:cs typeface="Aptos Display" pitchFamily="34" charset="-120"/>
              </a:rPr>
              <a:t>Most reported bugs</a:t>
            </a:r>
            <a:endParaRPr lang="en-US" sz="1150" dirty="0"/>
          </a:p>
        </p:txBody>
      </p:sp>
      <p:sp>
        <p:nvSpPr>
          <p:cNvPr id="62" name="Text 59"/>
          <p:cNvSpPr/>
          <p:nvPr/>
        </p:nvSpPr>
        <p:spPr>
          <a:xfrm>
            <a:off x="6556248" y="5715000"/>
            <a:ext cx="4581144" cy="0"/>
          </a:xfrm>
          <a:prstGeom prst="rect">
            <a:avLst/>
          </a:prstGeom>
          <a:noFill/>
          <a:ln/>
        </p:spPr>
        <p:txBody>
          <a:bodyPr wrap="square" lIns="254" tIns="254" rIns="254" bIns="254" rtlCol="0" anchor="ctr">
            <a:normAutofit/>
          </a:bodyPr>
          <a:lstStyle/>
          <a:p>
            <a:pPr marL="0" indent="0">
              <a:buNone/>
            </a:pPr>
            <a:r>
              <a:rPr lang="en-US" sz="1050" dirty="0">
                <a:solidFill>
                  <a:srgbClr val="F4FBFF"/>
                </a:solidFill>
                <a:latin typeface="Aptos" pitchFamily="34" charset="0"/>
                <a:ea typeface="Aptos" pitchFamily="34" charset="-122"/>
                <a:cs typeface="Aptos" pitchFamily="34" charset="-120"/>
              </a:rPr>
              <a:t>Dashboard/Word Popularity: 6 reports; Top Slang: 4 reports.</a:t>
            </a:r>
            <a:endParaRPr lang="en-US" sz="105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What the results mean</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Discussion</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Discussion</a:t>
            </a:r>
            <a:endParaRPr lang="en-US" sz="880" dirty="0"/>
          </a:p>
        </p:txBody>
      </p:sp>
      <p:sp>
        <p:nvSpPr>
          <p:cNvPr id="31" name="Shape 28"/>
          <p:cNvSpPr/>
          <p:nvPr/>
        </p:nvSpPr>
        <p:spPr>
          <a:xfrm>
            <a:off x="822960" y="1325880"/>
            <a:ext cx="3246120" cy="1280160"/>
          </a:xfrm>
          <a:prstGeom prst="roundRect">
            <a:avLst>
              <a:gd name="adj" fmla="val 10000"/>
            </a:avLst>
          </a:prstGeom>
          <a:solidFill>
            <a:srgbClr val="0E2638">
              <a:alpha val="95000"/>
            </a:srgbClr>
          </a:solidFill>
          <a:ln w="13970">
            <a:solidFill>
              <a:srgbClr val="2EE8E1">
                <a:alpha val="55000"/>
              </a:srgbClr>
            </a:solidFill>
            <a:prstDash val="solid"/>
          </a:ln>
        </p:spPr>
        <p:txBody>
          <a:bodyPr/>
          <a:lstStyle/>
          <a:p>
            <a:endParaRPr lang="en-PH"/>
          </a:p>
        </p:txBody>
      </p:sp>
      <p:sp>
        <p:nvSpPr>
          <p:cNvPr id="32" name="Shape 29"/>
          <p:cNvSpPr/>
          <p:nvPr/>
        </p:nvSpPr>
        <p:spPr>
          <a:xfrm>
            <a:off x="960120" y="1783080"/>
            <a:ext cx="2971800" cy="0"/>
          </a:xfrm>
          <a:prstGeom prst="line">
            <a:avLst/>
          </a:prstGeom>
          <a:noFill/>
          <a:ln w="15240">
            <a:solidFill>
              <a:srgbClr val="2EE8E1">
                <a:alpha val="70000"/>
              </a:srgbClr>
            </a:solidFill>
            <a:prstDash val="solid"/>
          </a:ln>
        </p:spPr>
        <p:txBody>
          <a:bodyPr/>
          <a:lstStyle/>
          <a:p>
            <a:endParaRPr lang="en-PH"/>
          </a:p>
        </p:txBody>
      </p:sp>
      <p:sp>
        <p:nvSpPr>
          <p:cNvPr id="33" name="Text 30"/>
          <p:cNvSpPr/>
          <p:nvPr/>
        </p:nvSpPr>
        <p:spPr>
          <a:xfrm>
            <a:off x="1024128" y="1463040"/>
            <a:ext cx="284378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1. Dynamic lexicon works</a:t>
            </a:r>
            <a:endParaRPr lang="en-US" sz="1300" dirty="0"/>
          </a:p>
        </p:txBody>
      </p:sp>
      <p:sp>
        <p:nvSpPr>
          <p:cNvPr id="34" name="Text 31"/>
          <p:cNvSpPr/>
          <p:nvPr/>
        </p:nvSpPr>
        <p:spPr>
          <a:xfrm>
            <a:off x="1024128" y="1920240"/>
            <a:ext cx="2843784" cy="56692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The corpus and pipeline can support a living dictionary of informal Filipino text.</a:t>
            </a:r>
            <a:endParaRPr lang="en-US" sz="1100" dirty="0"/>
          </a:p>
        </p:txBody>
      </p:sp>
      <p:sp>
        <p:nvSpPr>
          <p:cNvPr id="35" name="Shape 32"/>
          <p:cNvSpPr/>
          <p:nvPr/>
        </p:nvSpPr>
        <p:spPr>
          <a:xfrm>
            <a:off x="4480560" y="1325880"/>
            <a:ext cx="3246120" cy="1280160"/>
          </a:xfrm>
          <a:prstGeom prst="roundRect">
            <a:avLst>
              <a:gd name="adj" fmla="val 10000"/>
            </a:avLst>
          </a:prstGeom>
          <a:solidFill>
            <a:srgbClr val="0E2638">
              <a:alpha val="95000"/>
            </a:srgbClr>
          </a:solidFill>
          <a:ln w="13970">
            <a:solidFill>
              <a:srgbClr val="7EF29D">
                <a:alpha val="55000"/>
              </a:srgbClr>
            </a:solidFill>
            <a:prstDash val="solid"/>
          </a:ln>
        </p:spPr>
        <p:txBody>
          <a:bodyPr/>
          <a:lstStyle/>
          <a:p>
            <a:endParaRPr lang="en-PH"/>
          </a:p>
        </p:txBody>
      </p:sp>
      <p:sp>
        <p:nvSpPr>
          <p:cNvPr id="36" name="Shape 33"/>
          <p:cNvSpPr/>
          <p:nvPr/>
        </p:nvSpPr>
        <p:spPr>
          <a:xfrm>
            <a:off x="4617720" y="1783080"/>
            <a:ext cx="2971800" cy="0"/>
          </a:xfrm>
          <a:prstGeom prst="line">
            <a:avLst/>
          </a:prstGeom>
          <a:noFill/>
          <a:ln w="15240">
            <a:solidFill>
              <a:srgbClr val="7EF29D">
                <a:alpha val="70000"/>
              </a:srgbClr>
            </a:solidFill>
            <a:prstDash val="solid"/>
          </a:ln>
        </p:spPr>
        <p:txBody>
          <a:bodyPr/>
          <a:lstStyle/>
          <a:p>
            <a:endParaRPr lang="en-PH"/>
          </a:p>
        </p:txBody>
      </p:sp>
      <p:sp>
        <p:nvSpPr>
          <p:cNvPr id="37" name="Text 34"/>
          <p:cNvSpPr/>
          <p:nvPr/>
        </p:nvSpPr>
        <p:spPr>
          <a:xfrm>
            <a:off x="4681728" y="1463040"/>
            <a:ext cx="284378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2. Human review matters</a:t>
            </a:r>
            <a:endParaRPr lang="en-US" sz="1300" dirty="0"/>
          </a:p>
        </p:txBody>
      </p:sp>
      <p:sp>
        <p:nvSpPr>
          <p:cNvPr id="38" name="Text 35"/>
          <p:cNvSpPr/>
          <p:nvPr/>
        </p:nvSpPr>
        <p:spPr>
          <a:xfrm>
            <a:off x="4681728" y="1920240"/>
            <a:ext cx="2843784" cy="56692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Validation identifies false positives, weak definitions, and formation-label issues.</a:t>
            </a:r>
            <a:endParaRPr lang="en-US" sz="1100" dirty="0"/>
          </a:p>
        </p:txBody>
      </p:sp>
      <p:sp>
        <p:nvSpPr>
          <p:cNvPr id="39" name="Shape 36"/>
          <p:cNvSpPr/>
          <p:nvPr/>
        </p:nvSpPr>
        <p:spPr>
          <a:xfrm>
            <a:off x="8138160" y="1325880"/>
            <a:ext cx="3246120" cy="1280160"/>
          </a:xfrm>
          <a:prstGeom prst="roundRect">
            <a:avLst>
              <a:gd name="adj" fmla="val 10000"/>
            </a:avLst>
          </a:prstGeom>
          <a:solidFill>
            <a:srgbClr val="0E2638">
              <a:alpha val="95000"/>
            </a:srgbClr>
          </a:solidFill>
          <a:ln w="13970">
            <a:solidFill>
              <a:srgbClr val="B884FF">
                <a:alpha val="55000"/>
              </a:srgbClr>
            </a:solidFill>
            <a:prstDash val="solid"/>
          </a:ln>
        </p:spPr>
        <p:txBody>
          <a:bodyPr/>
          <a:lstStyle/>
          <a:p>
            <a:endParaRPr lang="en-PH"/>
          </a:p>
        </p:txBody>
      </p:sp>
      <p:sp>
        <p:nvSpPr>
          <p:cNvPr id="40" name="Shape 37"/>
          <p:cNvSpPr/>
          <p:nvPr/>
        </p:nvSpPr>
        <p:spPr>
          <a:xfrm>
            <a:off x="8275320" y="1783080"/>
            <a:ext cx="2971800" cy="0"/>
          </a:xfrm>
          <a:prstGeom prst="line">
            <a:avLst/>
          </a:prstGeom>
          <a:noFill/>
          <a:ln w="15240">
            <a:solidFill>
              <a:srgbClr val="B884FF">
                <a:alpha val="70000"/>
              </a:srgbClr>
            </a:solidFill>
            <a:prstDash val="solid"/>
          </a:ln>
        </p:spPr>
        <p:txBody>
          <a:bodyPr/>
          <a:lstStyle/>
          <a:p>
            <a:endParaRPr lang="en-PH"/>
          </a:p>
        </p:txBody>
      </p:sp>
      <p:sp>
        <p:nvSpPr>
          <p:cNvPr id="41" name="Text 38"/>
          <p:cNvSpPr/>
          <p:nvPr/>
        </p:nvSpPr>
        <p:spPr>
          <a:xfrm>
            <a:off x="8339328" y="1463040"/>
            <a:ext cx="284378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3. Learner tools are valued</a:t>
            </a:r>
            <a:endParaRPr lang="en-US" sz="1300" dirty="0"/>
          </a:p>
        </p:txBody>
      </p:sp>
      <p:sp>
        <p:nvSpPr>
          <p:cNvPr id="42" name="Text 39"/>
          <p:cNvSpPr/>
          <p:nvPr/>
        </p:nvSpPr>
        <p:spPr>
          <a:xfrm>
            <a:off x="8339328" y="1920240"/>
            <a:ext cx="2843784" cy="56692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Users rated Dictionary, Tutor, and Analyzer as especially usable.</a:t>
            </a:r>
            <a:endParaRPr lang="en-US" sz="1100" dirty="0"/>
          </a:p>
        </p:txBody>
      </p:sp>
      <p:sp>
        <p:nvSpPr>
          <p:cNvPr id="43" name="Text 40"/>
          <p:cNvSpPr/>
          <p:nvPr/>
        </p:nvSpPr>
        <p:spPr>
          <a:xfrm>
            <a:off x="914400" y="3383280"/>
            <a:ext cx="3200400" cy="274320"/>
          </a:xfrm>
          <a:prstGeom prst="rect">
            <a:avLst/>
          </a:prstGeom>
          <a:noFill/>
          <a:ln/>
        </p:spPr>
        <p:txBody>
          <a:bodyPr wrap="square" lIns="0" tIns="0" rIns="0" bIns="0" rtlCol="0" anchor="ctr"/>
          <a:lstStyle/>
          <a:p>
            <a:pPr marL="0" indent="0">
              <a:buNone/>
            </a:pPr>
            <a:r>
              <a:rPr lang="en-US" sz="1700" b="1" dirty="0">
                <a:solidFill>
                  <a:srgbClr val="F4FBFF"/>
                </a:solidFill>
                <a:latin typeface="Aptos Display" pitchFamily="34" charset="0"/>
                <a:ea typeface="Aptos Display" pitchFamily="34" charset="-122"/>
                <a:cs typeface="Aptos Display" pitchFamily="34" charset="-120"/>
              </a:rPr>
              <a:t>Best framing for defense</a:t>
            </a:r>
            <a:endParaRPr lang="en-US" sz="1700" dirty="0"/>
          </a:p>
        </p:txBody>
      </p:sp>
      <p:sp>
        <p:nvSpPr>
          <p:cNvPr id="44" name="Shape 41"/>
          <p:cNvSpPr/>
          <p:nvPr/>
        </p:nvSpPr>
        <p:spPr>
          <a:xfrm>
            <a:off x="914400" y="3822192"/>
            <a:ext cx="10241280" cy="1005840"/>
          </a:xfrm>
          <a:prstGeom prst="roundRect">
            <a:avLst>
              <a:gd name="adj" fmla="val 12727"/>
            </a:avLst>
          </a:prstGeom>
          <a:solidFill>
            <a:srgbClr val="0D2A3D"/>
          </a:solidFill>
          <a:ln w="12700">
            <a:solidFill>
              <a:srgbClr val="2EE8E1">
                <a:alpha val="65000"/>
              </a:srgbClr>
            </a:solidFill>
            <a:prstDash val="solid"/>
          </a:ln>
        </p:spPr>
        <p:txBody>
          <a:bodyPr/>
          <a:lstStyle/>
          <a:p>
            <a:endParaRPr lang="en-PH"/>
          </a:p>
        </p:txBody>
      </p:sp>
      <p:sp>
        <p:nvSpPr>
          <p:cNvPr id="45" name="Text 42"/>
          <p:cNvSpPr/>
          <p:nvPr/>
        </p:nvSpPr>
        <p:spPr>
          <a:xfrm>
            <a:off x="1170432" y="4041648"/>
            <a:ext cx="9738360" cy="502920"/>
          </a:xfrm>
          <a:prstGeom prst="rect">
            <a:avLst/>
          </a:prstGeom>
          <a:noFill/>
          <a:ln/>
        </p:spPr>
        <p:txBody>
          <a:bodyPr wrap="square" lIns="254" tIns="254" rIns="254" bIns="254" rtlCol="0" anchor="ctr">
            <a:normAutofit/>
          </a:bodyPr>
          <a:lstStyle/>
          <a:p>
            <a:pPr marL="0" indent="0" algn="ctr">
              <a:buNone/>
            </a:pPr>
            <a:r>
              <a:rPr lang="en-US" sz="1800" b="1" dirty="0">
                <a:solidFill>
                  <a:srgbClr val="6CE5FF"/>
                </a:solidFill>
                <a:latin typeface="Aptos Display" pitchFamily="34" charset="0"/>
                <a:ea typeface="Aptos Display" pitchFamily="34" charset="-122"/>
                <a:cs typeface="Aptos Display" pitchFamily="34" charset="-120"/>
              </a:rPr>
              <a:t>Pinoy Speak is not claiming to replace linguistic experts.</a:t>
            </a:r>
            <a:endParaRPr lang="en-US" sz="1800" dirty="0"/>
          </a:p>
          <a:p>
            <a:pPr marL="0" indent="0" algn="ctr">
              <a:buNone/>
            </a:pPr>
            <a:r>
              <a:rPr lang="en-US" sz="1800" b="1" dirty="0">
                <a:solidFill>
                  <a:srgbClr val="6CE5FF"/>
                </a:solidFill>
                <a:latin typeface="Aptos Display" pitchFamily="34" charset="0"/>
                <a:ea typeface="Aptos Display" pitchFamily="34" charset="-122"/>
                <a:cs typeface="Aptos Display" pitchFamily="34" charset="-120"/>
              </a:rPr>
              <a:t>It demonstrates a practical system that combines automated discovery, human validation, and interactive presentation.</a:t>
            </a:r>
            <a:endParaRPr lang="en-US" sz="18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Limitations and next improvements</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Future Work</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Future Work</a:t>
            </a:r>
            <a:endParaRPr lang="en-US" sz="880" dirty="0"/>
          </a:p>
        </p:txBody>
      </p:sp>
      <p:sp>
        <p:nvSpPr>
          <p:cNvPr id="31" name="Shape 28"/>
          <p:cNvSpPr/>
          <p:nvPr/>
        </p:nvSpPr>
        <p:spPr>
          <a:xfrm>
            <a:off x="841248" y="1234440"/>
            <a:ext cx="4800600" cy="768096"/>
          </a:xfrm>
          <a:prstGeom prst="roundRect">
            <a:avLst>
              <a:gd name="adj" fmla="val 16667"/>
            </a:avLst>
          </a:prstGeom>
          <a:solidFill>
            <a:srgbClr val="0E2638">
              <a:alpha val="95000"/>
            </a:srgbClr>
          </a:solidFill>
          <a:ln w="13970">
            <a:solidFill>
              <a:srgbClr val="2EE8E1">
                <a:alpha val="55000"/>
              </a:srgbClr>
            </a:solidFill>
            <a:prstDash val="solid"/>
          </a:ln>
        </p:spPr>
        <p:txBody>
          <a:bodyPr/>
          <a:lstStyle/>
          <a:p>
            <a:endParaRPr lang="en-PH"/>
          </a:p>
        </p:txBody>
      </p:sp>
      <p:sp>
        <p:nvSpPr>
          <p:cNvPr id="32" name="Shape 29"/>
          <p:cNvSpPr/>
          <p:nvPr/>
        </p:nvSpPr>
        <p:spPr>
          <a:xfrm>
            <a:off x="978408" y="1691640"/>
            <a:ext cx="4526280" cy="0"/>
          </a:xfrm>
          <a:prstGeom prst="line">
            <a:avLst/>
          </a:prstGeom>
          <a:noFill/>
          <a:ln w="15240">
            <a:solidFill>
              <a:srgbClr val="2EE8E1">
                <a:alpha val="70000"/>
              </a:srgbClr>
            </a:solidFill>
            <a:prstDash val="solid"/>
          </a:ln>
        </p:spPr>
        <p:txBody>
          <a:bodyPr/>
          <a:lstStyle/>
          <a:p>
            <a:endParaRPr lang="en-PH"/>
          </a:p>
        </p:txBody>
      </p:sp>
      <p:sp>
        <p:nvSpPr>
          <p:cNvPr id="33" name="Text 30"/>
          <p:cNvSpPr/>
          <p:nvPr/>
        </p:nvSpPr>
        <p:spPr>
          <a:xfrm>
            <a:off x="1042416" y="1371600"/>
            <a:ext cx="4398264" cy="256032"/>
          </a:xfrm>
          <a:prstGeom prst="rect">
            <a:avLst/>
          </a:prstGeom>
          <a:noFill/>
          <a:ln/>
        </p:spPr>
        <p:txBody>
          <a:bodyPr wrap="square" lIns="0" tIns="0" rIns="0" bIns="0" rtlCol="0" anchor="ctr">
            <a:normAutofit/>
          </a:bodyPr>
          <a:lstStyle/>
          <a:p>
            <a:pPr marL="0" indent="0">
              <a:buNone/>
            </a:pPr>
            <a:r>
              <a:rPr lang="en-US" sz="1150" b="1" dirty="0">
                <a:solidFill>
                  <a:srgbClr val="2EE8E1"/>
                </a:solidFill>
                <a:latin typeface="Aptos Display" pitchFamily="34" charset="0"/>
                <a:ea typeface="Aptos Display" pitchFamily="34" charset="-122"/>
                <a:cs typeface="Aptos Display" pitchFamily="34" charset="-120"/>
              </a:rPr>
              <a:t>Corpus coverage</a:t>
            </a:r>
            <a:endParaRPr lang="en-US" sz="1150" dirty="0"/>
          </a:p>
        </p:txBody>
      </p:sp>
      <p:sp>
        <p:nvSpPr>
          <p:cNvPr id="34" name="Text 31"/>
          <p:cNvSpPr/>
          <p:nvPr/>
        </p:nvSpPr>
        <p:spPr>
          <a:xfrm>
            <a:off x="1042416" y="1828800"/>
            <a:ext cx="4398264" cy="54864"/>
          </a:xfrm>
          <a:prstGeom prst="rect">
            <a:avLst/>
          </a:prstGeom>
          <a:noFill/>
          <a:ln/>
        </p:spPr>
        <p:txBody>
          <a:bodyPr wrap="square" lIns="254" tIns="254" rIns="254" bIns="254" rtlCol="0" anchor="ctr">
            <a:normAutofit/>
          </a:bodyPr>
          <a:lstStyle/>
          <a:p>
            <a:pPr marL="0" indent="0">
              <a:buNone/>
            </a:pPr>
            <a:r>
              <a:rPr lang="en-US" sz="950" dirty="0">
                <a:solidFill>
                  <a:srgbClr val="F4FBFF"/>
                </a:solidFill>
                <a:latin typeface="Aptos" pitchFamily="34" charset="0"/>
                <a:ea typeface="Aptos" pitchFamily="34" charset="-122"/>
                <a:cs typeface="Aptos" pitchFamily="34" charset="-120"/>
              </a:rPr>
              <a:t>Add more regional Filipino languages and dialectal varieties.</a:t>
            </a:r>
            <a:endParaRPr lang="en-US" sz="950" dirty="0"/>
          </a:p>
        </p:txBody>
      </p:sp>
      <p:sp>
        <p:nvSpPr>
          <p:cNvPr id="35" name="Shape 32"/>
          <p:cNvSpPr/>
          <p:nvPr/>
        </p:nvSpPr>
        <p:spPr>
          <a:xfrm>
            <a:off x="6327648" y="1234440"/>
            <a:ext cx="4800600" cy="768096"/>
          </a:xfrm>
          <a:prstGeom prst="roundRect">
            <a:avLst>
              <a:gd name="adj" fmla="val 16667"/>
            </a:avLst>
          </a:prstGeom>
          <a:solidFill>
            <a:srgbClr val="0E2638">
              <a:alpha val="95000"/>
            </a:srgbClr>
          </a:solidFill>
          <a:ln w="13970">
            <a:solidFill>
              <a:srgbClr val="7EF29D">
                <a:alpha val="55000"/>
              </a:srgbClr>
            </a:solidFill>
            <a:prstDash val="solid"/>
          </a:ln>
        </p:spPr>
        <p:txBody>
          <a:bodyPr/>
          <a:lstStyle/>
          <a:p>
            <a:endParaRPr lang="en-PH"/>
          </a:p>
        </p:txBody>
      </p:sp>
      <p:sp>
        <p:nvSpPr>
          <p:cNvPr id="36" name="Shape 33"/>
          <p:cNvSpPr/>
          <p:nvPr/>
        </p:nvSpPr>
        <p:spPr>
          <a:xfrm>
            <a:off x="6464808" y="1691640"/>
            <a:ext cx="4526280" cy="0"/>
          </a:xfrm>
          <a:prstGeom prst="line">
            <a:avLst/>
          </a:prstGeom>
          <a:noFill/>
          <a:ln w="15240">
            <a:solidFill>
              <a:srgbClr val="7EF29D">
                <a:alpha val="70000"/>
              </a:srgbClr>
            </a:solidFill>
            <a:prstDash val="solid"/>
          </a:ln>
        </p:spPr>
        <p:txBody>
          <a:bodyPr/>
          <a:lstStyle/>
          <a:p>
            <a:endParaRPr lang="en-PH"/>
          </a:p>
        </p:txBody>
      </p:sp>
      <p:sp>
        <p:nvSpPr>
          <p:cNvPr id="37" name="Text 34"/>
          <p:cNvSpPr/>
          <p:nvPr/>
        </p:nvSpPr>
        <p:spPr>
          <a:xfrm>
            <a:off x="6528816" y="1371600"/>
            <a:ext cx="4398264" cy="256032"/>
          </a:xfrm>
          <a:prstGeom prst="rect">
            <a:avLst/>
          </a:prstGeom>
          <a:noFill/>
          <a:ln/>
        </p:spPr>
        <p:txBody>
          <a:bodyPr wrap="square" lIns="0" tIns="0" rIns="0" bIns="0" rtlCol="0" anchor="ctr">
            <a:normAutofit/>
          </a:bodyPr>
          <a:lstStyle/>
          <a:p>
            <a:pPr marL="0" indent="0">
              <a:buNone/>
            </a:pPr>
            <a:r>
              <a:rPr lang="en-US" sz="1150" b="1" dirty="0">
                <a:solidFill>
                  <a:srgbClr val="7EF29D"/>
                </a:solidFill>
                <a:latin typeface="Aptos Display" pitchFamily="34" charset="0"/>
                <a:ea typeface="Aptos Display" pitchFamily="34" charset="-122"/>
                <a:cs typeface="Aptos Display" pitchFamily="34" charset="-120"/>
              </a:rPr>
              <a:t>Validation</a:t>
            </a:r>
            <a:endParaRPr lang="en-US" sz="1150" dirty="0"/>
          </a:p>
        </p:txBody>
      </p:sp>
      <p:sp>
        <p:nvSpPr>
          <p:cNvPr id="38" name="Text 35"/>
          <p:cNvSpPr/>
          <p:nvPr/>
        </p:nvSpPr>
        <p:spPr>
          <a:xfrm>
            <a:off x="6528816" y="1828800"/>
            <a:ext cx="4398264" cy="54864"/>
          </a:xfrm>
          <a:prstGeom prst="rect">
            <a:avLst/>
          </a:prstGeom>
          <a:noFill/>
          <a:ln/>
        </p:spPr>
        <p:txBody>
          <a:bodyPr wrap="square" lIns="254" tIns="254" rIns="254" bIns="254" rtlCol="0" anchor="ctr">
            <a:normAutofit/>
          </a:bodyPr>
          <a:lstStyle/>
          <a:p>
            <a:pPr marL="0" indent="0">
              <a:buNone/>
            </a:pPr>
            <a:r>
              <a:rPr lang="en-US" sz="950" dirty="0">
                <a:solidFill>
                  <a:srgbClr val="F4FBFF"/>
                </a:solidFill>
                <a:latin typeface="Aptos" pitchFamily="34" charset="0"/>
                <a:ea typeface="Aptos" pitchFamily="34" charset="-122"/>
                <a:cs typeface="Aptos" pitchFamily="34" charset="-120"/>
              </a:rPr>
              <a:t>Use more annotators and clearer annotation guidelines.</a:t>
            </a:r>
            <a:endParaRPr lang="en-US" sz="950" dirty="0"/>
          </a:p>
        </p:txBody>
      </p:sp>
      <p:sp>
        <p:nvSpPr>
          <p:cNvPr id="39" name="Shape 36"/>
          <p:cNvSpPr/>
          <p:nvPr/>
        </p:nvSpPr>
        <p:spPr>
          <a:xfrm>
            <a:off x="841248" y="2286000"/>
            <a:ext cx="4800600" cy="768096"/>
          </a:xfrm>
          <a:prstGeom prst="roundRect">
            <a:avLst>
              <a:gd name="adj" fmla="val 16667"/>
            </a:avLst>
          </a:prstGeom>
          <a:solidFill>
            <a:srgbClr val="0E2638">
              <a:alpha val="95000"/>
            </a:srgbClr>
          </a:solidFill>
          <a:ln w="13970">
            <a:solidFill>
              <a:srgbClr val="B884FF">
                <a:alpha val="55000"/>
              </a:srgbClr>
            </a:solidFill>
            <a:prstDash val="solid"/>
          </a:ln>
        </p:spPr>
        <p:txBody>
          <a:bodyPr/>
          <a:lstStyle/>
          <a:p>
            <a:endParaRPr lang="en-PH"/>
          </a:p>
        </p:txBody>
      </p:sp>
      <p:sp>
        <p:nvSpPr>
          <p:cNvPr id="40" name="Shape 37"/>
          <p:cNvSpPr/>
          <p:nvPr/>
        </p:nvSpPr>
        <p:spPr>
          <a:xfrm>
            <a:off x="978408" y="2743200"/>
            <a:ext cx="4526280" cy="0"/>
          </a:xfrm>
          <a:prstGeom prst="line">
            <a:avLst/>
          </a:prstGeom>
          <a:noFill/>
          <a:ln w="15240">
            <a:solidFill>
              <a:srgbClr val="B884FF">
                <a:alpha val="70000"/>
              </a:srgbClr>
            </a:solidFill>
            <a:prstDash val="solid"/>
          </a:ln>
        </p:spPr>
        <p:txBody>
          <a:bodyPr/>
          <a:lstStyle/>
          <a:p>
            <a:endParaRPr lang="en-PH"/>
          </a:p>
        </p:txBody>
      </p:sp>
      <p:sp>
        <p:nvSpPr>
          <p:cNvPr id="41" name="Text 38"/>
          <p:cNvSpPr/>
          <p:nvPr/>
        </p:nvSpPr>
        <p:spPr>
          <a:xfrm>
            <a:off x="1042416" y="2423160"/>
            <a:ext cx="4398264" cy="256032"/>
          </a:xfrm>
          <a:prstGeom prst="rect">
            <a:avLst/>
          </a:prstGeom>
          <a:noFill/>
          <a:ln/>
        </p:spPr>
        <p:txBody>
          <a:bodyPr wrap="square" lIns="0" tIns="0" rIns="0" bIns="0" rtlCol="0" anchor="ctr">
            <a:normAutofit/>
          </a:bodyPr>
          <a:lstStyle/>
          <a:p>
            <a:pPr marL="0" indent="0">
              <a:buNone/>
            </a:pPr>
            <a:r>
              <a:rPr lang="en-US" sz="1150" b="1" dirty="0">
                <a:solidFill>
                  <a:srgbClr val="B884FF"/>
                </a:solidFill>
                <a:latin typeface="Aptos Display" pitchFamily="34" charset="0"/>
                <a:ea typeface="Aptos Display" pitchFamily="34" charset="-122"/>
                <a:cs typeface="Aptos Display" pitchFamily="34" charset="-120"/>
              </a:rPr>
              <a:t>Lexicon quality</a:t>
            </a:r>
            <a:endParaRPr lang="en-US" sz="1150" dirty="0"/>
          </a:p>
        </p:txBody>
      </p:sp>
      <p:sp>
        <p:nvSpPr>
          <p:cNvPr id="42" name="Text 39"/>
          <p:cNvSpPr/>
          <p:nvPr/>
        </p:nvSpPr>
        <p:spPr>
          <a:xfrm>
            <a:off x="1042416" y="2880360"/>
            <a:ext cx="4398264" cy="54864"/>
          </a:xfrm>
          <a:prstGeom prst="rect">
            <a:avLst/>
          </a:prstGeom>
          <a:noFill/>
          <a:ln/>
        </p:spPr>
        <p:txBody>
          <a:bodyPr wrap="square" lIns="254" tIns="254" rIns="254" bIns="254" rtlCol="0" anchor="ctr">
            <a:normAutofit/>
          </a:bodyPr>
          <a:lstStyle/>
          <a:p>
            <a:pPr marL="0" indent="0">
              <a:buNone/>
            </a:pPr>
            <a:r>
              <a:rPr lang="en-US" sz="950" dirty="0">
                <a:solidFill>
                  <a:srgbClr val="F4FBFF"/>
                </a:solidFill>
                <a:latin typeface="Aptos" pitchFamily="34" charset="0"/>
                <a:ea typeface="Aptos" pitchFamily="34" charset="-122"/>
                <a:cs typeface="Aptos" pitchFamily="34" charset="-120"/>
              </a:rPr>
              <a:t>Revise flagged terms and improve formation labels.</a:t>
            </a:r>
            <a:endParaRPr lang="en-US" sz="950" dirty="0"/>
          </a:p>
        </p:txBody>
      </p:sp>
      <p:sp>
        <p:nvSpPr>
          <p:cNvPr id="43" name="Shape 40"/>
          <p:cNvSpPr/>
          <p:nvPr/>
        </p:nvSpPr>
        <p:spPr>
          <a:xfrm>
            <a:off x="6327648" y="2286000"/>
            <a:ext cx="4800600" cy="768096"/>
          </a:xfrm>
          <a:prstGeom prst="roundRect">
            <a:avLst>
              <a:gd name="adj" fmla="val 16667"/>
            </a:avLst>
          </a:prstGeom>
          <a:solidFill>
            <a:srgbClr val="0E2638">
              <a:alpha val="95000"/>
            </a:srgbClr>
          </a:solidFill>
          <a:ln w="13970">
            <a:solidFill>
              <a:srgbClr val="FFD166">
                <a:alpha val="55000"/>
              </a:srgbClr>
            </a:solidFill>
            <a:prstDash val="solid"/>
          </a:ln>
        </p:spPr>
        <p:txBody>
          <a:bodyPr/>
          <a:lstStyle/>
          <a:p>
            <a:endParaRPr lang="en-PH"/>
          </a:p>
        </p:txBody>
      </p:sp>
      <p:sp>
        <p:nvSpPr>
          <p:cNvPr id="44" name="Shape 41"/>
          <p:cNvSpPr/>
          <p:nvPr/>
        </p:nvSpPr>
        <p:spPr>
          <a:xfrm>
            <a:off x="6464808" y="2743200"/>
            <a:ext cx="4526280" cy="0"/>
          </a:xfrm>
          <a:prstGeom prst="line">
            <a:avLst/>
          </a:prstGeom>
          <a:noFill/>
          <a:ln w="15240">
            <a:solidFill>
              <a:srgbClr val="FFD166">
                <a:alpha val="70000"/>
              </a:srgbClr>
            </a:solidFill>
            <a:prstDash val="solid"/>
          </a:ln>
        </p:spPr>
        <p:txBody>
          <a:bodyPr/>
          <a:lstStyle/>
          <a:p>
            <a:endParaRPr lang="en-PH"/>
          </a:p>
        </p:txBody>
      </p:sp>
      <p:sp>
        <p:nvSpPr>
          <p:cNvPr id="45" name="Text 42"/>
          <p:cNvSpPr/>
          <p:nvPr/>
        </p:nvSpPr>
        <p:spPr>
          <a:xfrm>
            <a:off x="6528816" y="2423160"/>
            <a:ext cx="4398264" cy="256032"/>
          </a:xfrm>
          <a:prstGeom prst="rect">
            <a:avLst/>
          </a:prstGeom>
          <a:noFill/>
          <a:ln/>
        </p:spPr>
        <p:txBody>
          <a:bodyPr wrap="square" lIns="0" tIns="0" rIns="0" bIns="0" rtlCol="0" anchor="ctr">
            <a:normAutofit/>
          </a:bodyPr>
          <a:lstStyle/>
          <a:p>
            <a:pPr marL="0" indent="0">
              <a:buNone/>
            </a:pPr>
            <a:r>
              <a:rPr lang="en-US" sz="1150" b="1" dirty="0">
                <a:solidFill>
                  <a:srgbClr val="FFD166"/>
                </a:solidFill>
                <a:latin typeface="Aptos Display" pitchFamily="34" charset="0"/>
                <a:ea typeface="Aptos Display" pitchFamily="34" charset="-122"/>
                <a:cs typeface="Aptos Display" pitchFamily="34" charset="-120"/>
              </a:rPr>
              <a:t>User interface</a:t>
            </a:r>
            <a:endParaRPr lang="en-US" sz="1150" dirty="0"/>
          </a:p>
        </p:txBody>
      </p:sp>
      <p:sp>
        <p:nvSpPr>
          <p:cNvPr id="46" name="Text 43"/>
          <p:cNvSpPr/>
          <p:nvPr/>
        </p:nvSpPr>
        <p:spPr>
          <a:xfrm>
            <a:off x="6528816" y="2880360"/>
            <a:ext cx="4398264" cy="54864"/>
          </a:xfrm>
          <a:prstGeom prst="rect">
            <a:avLst/>
          </a:prstGeom>
          <a:noFill/>
          <a:ln/>
        </p:spPr>
        <p:txBody>
          <a:bodyPr wrap="square" lIns="254" tIns="254" rIns="254" bIns="254" rtlCol="0" anchor="ctr">
            <a:normAutofit/>
          </a:bodyPr>
          <a:lstStyle/>
          <a:p>
            <a:pPr marL="0" indent="0">
              <a:buNone/>
            </a:pPr>
            <a:r>
              <a:rPr lang="en-US" sz="950" dirty="0">
                <a:solidFill>
                  <a:srgbClr val="F4FBFF"/>
                </a:solidFill>
                <a:latin typeface="Aptos" pitchFamily="34" charset="0"/>
                <a:ea typeface="Aptos" pitchFamily="34" charset="-122"/>
                <a:cs typeface="Aptos" pitchFamily="34" charset="-120"/>
              </a:rPr>
              <a:t>Improve chart controls, loading states, and dictionary navigation.</a:t>
            </a:r>
            <a:endParaRPr lang="en-US" sz="950" dirty="0"/>
          </a:p>
        </p:txBody>
      </p:sp>
      <p:sp>
        <p:nvSpPr>
          <p:cNvPr id="47" name="Shape 44"/>
          <p:cNvSpPr/>
          <p:nvPr/>
        </p:nvSpPr>
        <p:spPr>
          <a:xfrm>
            <a:off x="841248" y="3337560"/>
            <a:ext cx="4800600" cy="768096"/>
          </a:xfrm>
          <a:prstGeom prst="roundRect">
            <a:avLst>
              <a:gd name="adj" fmla="val 16667"/>
            </a:avLst>
          </a:prstGeom>
          <a:solidFill>
            <a:srgbClr val="0E2638">
              <a:alpha val="95000"/>
            </a:srgbClr>
          </a:solidFill>
          <a:ln w="13970">
            <a:solidFill>
              <a:srgbClr val="6CE5FF">
                <a:alpha val="55000"/>
              </a:srgbClr>
            </a:solidFill>
            <a:prstDash val="solid"/>
          </a:ln>
        </p:spPr>
        <p:txBody>
          <a:bodyPr/>
          <a:lstStyle/>
          <a:p>
            <a:endParaRPr lang="en-PH"/>
          </a:p>
        </p:txBody>
      </p:sp>
      <p:sp>
        <p:nvSpPr>
          <p:cNvPr id="48" name="Shape 45"/>
          <p:cNvSpPr/>
          <p:nvPr/>
        </p:nvSpPr>
        <p:spPr>
          <a:xfrm>
            <a:off x="978408" y="3794760"/>
            <a:ext cx="4526280" cy="0"/>
          </a:xfrm>
          <a:prstGeom prst="line">
            <a:avLst/>
          </a:prstGeom>
          <a:noFill/>
          <a:ln w="15240">
            <a:solidFill>
              <a:srgbClr val="6CE5FF">
                <a:alpha val="70000"/>
              </a:srgbClr>
            </a:solidFill>
            <a:prstDash val="solid"/>
          </a:ln>
        </p:spPr>
        <p:txBody>
          <a:bodyPr/>
          <a:lstStyle/>
          <a:p>
            <a:endParaRPr lang="en-PH"/>
          </a:p>
        </p:txBody>
      </p:sp>
      <p:sp>
        <p:nvSpPr>
          <p:cNvPr id="49" name="Text 46"/>
          <p:cNvSpPr/>
          <p:nvPr/>
        </p:nvSpPr>
        <p:spPr>
          <a:xfrm>
            <a:off x="1042416" y="3474720"/>
            <a:ext cx="4398264" cy="256032"/>
          </a:xfrm>
          <a:prstGeom prst="rect">
            <a:avLst/>
          </a:prstGeom>
          <a:noFill/>
          <a:ln/>
        </p:spPr>
        <p:txBody>
          <a:bodyPr wrap="square" lIns="0" tIns="0" rIns="0" bIns="0" rtlCol="0" anchor="ctr">
            <a:normAutofit/>
          </a:bodyPr>
          <a:lstStyle/>
          <a:p>
            <a:pPr marL="0" indent="0">
              <a:buNone/>
            </a:pPr>
            <a:r>
              <a:rPr lang="en-US" sz="1150" b="1" dirty="0">
                <a:solidFill>
                  <a:srgbClr val="6CE5FF"/>
                </a:solidFill>
                <a:latin typeface="Aptos Display" pitchFamily="34" charset="0"/>
                <a:ea typeface="Aptos Display" pitchFamily="34" charset="-122"/>
                <a:cs typeface="Aptos Display" pitchFamily="34" charset="-120"/>
              </a:rPr>
              <a:t>Evaluation</a:t>
            </a:r>
            <a:endParaRPr lang="en-US" sz="1150" dirty="0"/>
          </a:p>
        </p:txBody>
      </p:sp>
      <p:sp>
        <p:nvSpPr>
          <p:cNvPr id="50" name="Text 47"/>
          <p:cNvSpPr/>
          <p:nvPr/>
        </p:nvSpPr>
        <p:spPr>
          <a:xfrm>
            <a:off x="1042416" y="3931920"/>
            <a:ext cx="4398264" cy="54864"/>
          </a:xfrm>
          <a:prstGeom prst="rect">
            <a:avLst/>
          </a:prstGeom>
          <a:noFill/>
          <a:ln/>
        </p:spPr>
        <p:txBody>
          <a:bodyPr wrap="square" lIns="254" tIns="254" rIns="254" bIns="254" rtlCol="0" anchor="ctr">
            <a:normAutofit/>
          </a:bodyPr>
          <a:lstStyle/>
          <a:p>
            <a:pPr marL="0" indent="0">
              <a:buNone/>
            </a:pPr>
            <a:r>
              <a:rPr lang="en-US" sz="950" dirty="0">
                <a:solidFill>
                  <a:srgbClr val="F4FBFF"/>
                </a:solidFill>
                <a:latin typeface="Aptos" pitchFamily="34" charset="0"/>
                <a:ea typeface="Aptos" pitchFamily="34" charset="-122"/>
                <a:cs typeface="Aptos" pitchFamily="34" charset="-120"/>
              </a:rPr>
              <a:t>Add precision, recall, false-positive and false-negative rates, and inter-annotator agreement.</a:t>
            </a:r>
            <a:endParaRPr lang="en-US" sz="950" dirty="0"/>
          </a:p>
        </p:txBody>
      </p:sp>
      <p:sp>
        <p:nvSpPr>
          <p:cNvPr id="51" name="Text 48"/>
          <p:cNvSpPr/>
          <p:nvPr/>
        </p:nvSpPr>
        <p:spPr>
          <a:xfrm>
            <a:off x="2057400" y="5074920"/>
            <a:ext cx="8092440" cy="347472"/>
          </a:xfrm>
          <a:prstGeom prst="rect">
            <a:avLst/>
          </a:prstGeom>
          <a:noFill/>
          <a:ln/>
        </p:spPr>
        <p:txBody>
          <a:bodyPr wrap="square" lIns="0" tIns="0" rIns="0" bIns="0" rtlCol="0" anchor="ctr"/>
          <a:lstStyle/>
          <a:p>
            <a:pPr marL="0" indent="0" algn="ctr">
              <a:buNone/>
            </a:pPr>
            <a:r>
              <a:rPr lang="en-US" sz="1800" b="1" dirty="0">
                <a:solidFill>
                  <a:srgbClr val="FF6B7A"/>
                </a:solidFill>
                <a:latin typeface="Aptos Display" pitchFamily="34" charset="0"/>
                <a:ea typeface="Aptos Display" pitchFamily="34" charset="-122"/>
                <a:cs typeface="Aptos Display" pitchFamily="34" charset="-120"/>
              </a:rPr>
              <a:t>Immediate lexicon fixes: dogshow, yarn, basic, dead</a:t>
            </a:r>
            <a:endParaRPr lang="en-US" sz="18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426"/>
        </a:solidFill>
        <a:effectLst/>
      </p:bgPr>
    </p:bg>
    <p:spTree>
      <p:nvGrpSpPr>
        <p:cNvPr id="1" name=""/>
        <p:cNvGrpSpPr/>
        <p:nvPr/>
      </p:nvGrpSpPr>
      <p:grpSpPr>
        <a:xfrm>
          <a:off x="0" y="0"/>
          <a:ext cx="0" cy="0"/>
          <a:chOff x="0" y="0"/>
          <a:chExt cx="0" cy="0"/>
        </a:xfrm>
      </p:grpSpPr>
      <p:pic>
        <p:nvPicPr>
          <p:cNvPr id="2" name="Image 0" descr="/mnt/data/a_wide_dark_futuristic_digital_abstract_scene.png"/>
          <p:cNvPicPr>
            <a:picLocks noChangeAspect="1"/>
          </p:cNvPicPr>
          <p:nvPr/>
        </p:nvPicPr>
        <p:blipFill>
          <a:blip r:embed="rId3">
            <a:alphaModFix amt="8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426">
              <a:alpha val="84000"/>
            </a:srgbClr>
          </a:solidFill>
          <a:ln w="12700">
            <a:solidFill>
              <a:srgbClr val="333333">
                <a:alpha val="0"/>
              </a:srgbClr>
            </a:solidFill>
            <a:prstDash val="solid"/>
          </a:ln>
        </p:spPr>
        <p:txBody>
          <a:bodyPr/>
          <a:lstStyle/>
          <a:p>
            <a:endParaRPr lang="en-PH"/>
          </a:p>
        </p:txBody>
      </p:sp>
      <p:sp>
        <p:nvSpPr>
          <p:cNvPr id="4" name="Text 1"/>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Main contribution</a:t>
            </a:r>
            <a:endParaRPr lang="en-US" sz="2600" dirty="0"/>
          </a:p>
        </p:txBody>
      </p:sp>
      <p:sp>
        <p:nvSpPr>
          <p:cNvPr id="5" name="Shape 2"/>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6" name="Text 3"/>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Conclusion</a:t>
            </a:r>
            <a:endParaRPr lang="en-US" sz="950" dirty="0"/>
          </a:p>
        </p:txBody>
      </p:sp>
      <p:sp>
        <p:nvSpPr>
          <p:cNvPr id="7" name="Shape 4"/>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8" name="Text 5"/>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Conclusion</a:t>
            </a:r>
            <a:endParaRPr lang="en-US" sz="880" dirty="0"/>
          </a:p>
        </p:txBody>
      </p:sp>
      <p:sp>
        <p:nvSpPr>
          <p:cNvPr id="10" name="Shape 6"/>
          <p:cNvSpPr/>
          <p:nvPr/>
        </p:nvSpPr>
        <p:spPr>
          <a:xfrm>
            <a:off x="777240" y="1508760"/>
            <a:ext cx="3154680" cy="1325880"/>
          </a:xfrm>
          <a:prstGeom prst="roundRect">
            <a:avLst>
              <a:gd name="adj" fmla="val 9655"/>
            </a:avLst>
          </a:prstGeom>
          <a:solidFill>
            <a:srgbClr val="0E2638">
              <a:alpha val="95000"/>
            </a:srgbClr>
          </a:solidFill>
          <a:ln w="13970">
            <a:solidFill>
              <a:srgbClr val="2EE8E1">
                <a:alpha val="55000"/>
              </a:srgbClr>
            </a:solidFill>
            <a:prstDash val="solid"/>
          </a:ln>
        </p:spPr>
        <p:txBody>
          <a:bodyPr/>
          <a:lstStyle/>
          <a:p>
            <a:endParaRPr lang="en-PH"/>
          </a:p>
        </p:txBody>
      </p:sp>
      <p:sp>
        <p:nvSpPr>
          <p:cNvPr id="11" name="Shape 7"/>
          <p:cNvSpPr/>
          <p:nvPr/>
        </p:nvSpPr>
        <p:spPr>
          <a:xfrm>
            <a:off x="914400" y="1965960"/>
            <a:ext cx="2880360" cy="0"/>
          </a:xfrm>
          <a:prstGeom prst="line">
            <a:avLst/>
          </a:prstGeom>
          <a:noFill/>
          <a:ln w="15240">
            <a:solidFill>
              <a:srgbClr val="2EE8E1">
                <a:alpha val="70000"/>
              </a:srgbClr>
            </a:solidFill>
            <a:prstDash val="solid"/>
          </a:ln>
        </p:spPr>
        <p:txBody>
          <a:bodyPr/>
          <a:lstStyle/>
          <a:p>
            <a:endParaRPr lang="en-PH"/>
          </a:p>
        </p:txBody>
      </p:sp>
      <p:sp>
        <p:nvSpPr>
          <p:cNvPr id="12" name="Text 8"/>
          <p:cNvSpPr/>
          <p:nvPr/>
        </p:nvSpPr>
        <p:spPr>
          <a:xfrm>
            <a:off x="978408" y="1645920"/>
            <a:ext cx="2752344" cy="256032"/>
          </a:xfrm>
          <a:prstGeom prst="rect">
            <a:avLst/>
          </a:prstGeom>
          <a:noFill/>
          <a:ln/>
        </p:spPr>
        <p:txBody>
          <a:bodyPr wrap="square" lIns="0" tIns="0" rIns="0" bIns="0" rtlCol="0" anchor="ctr">
            <a:normAutofit/>
          </a:bodyPr>
          <a:lstStyle/>
          <a:p>
            <a:pPr marL="0" indent="0">
              <a:buNone/>
            </a:pPr>
            <a:r>
              <a:rPr lang="en-US" sz="1300" b="1" dirty="0">
                <a:solidFill>
                  <a:srgbClr val="2EE8E1"/>
                </a:solidFill>
                <a:latin typeface="Aptos Display" pitchFamily="34" charset="0"/>
                <a:ea typeface="Aptos Display" pitchFamily="34" charset="-122"/>
                <a:cs typeface="Aptos Display" pitchFamily="34" charset="-120"/>
              </a:rPr>
              <a:t>Technical contribution</a:t>
            </a:r>
            <a:endParaRPr lang="en-US" sz="1300" dirty="0"/>
          </a:p>
        </p:txBody>
      </p:sp>
      <p:sp>
        <p:nvSpPr>
          <p:cNvPr id="13" name="Text 9"/>
          <p:cNvSpPr/>
          <p:nvPr/>
        </p:nvSpPr>
        <p:spPr>
          <a:xfrm>
            <a:off x="978408" y="2103120"/>
            <a:ext cx="2752344" cy="61264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FastAPI + Next.js system for slang detection, enrichment, and presentation.</a:t>
            </a:r>
            <a:endParaRPr lang="en-US" sz="1100" dirty="0"/>
          </a:p>
        </p:txBody>
      </p:sp>
      <p:sp>
        <p:nvSpPr>
          <p:cNvPr id="14" name="Shape 10"/>
          <p:cNvSpPr/>
          <p:nvPr/>
        </p:nvSpPr>
        <p:spPr>
          <a:xfrm>
            <a:off x="4526280" y="1508760"/>
            <a:ext cx="3154680" cy="1325880"/>
          </a:xfrm>
          <a:prstGeom prst="roundRect">
            <a:avLst>
              <a:gd name="adj" fmla="val 9655"/>
            </a:avLst>
          </a:prstGeom>
          <a:solidFill>
            <a:srgbClr val="0E2638">
              <a:alpha val="95000"/>
            </a:srgbClr>
          </a:solidFill>
          <a:ln w="13970">
            <a:solidFill>
              <a:srgbClr val="7EF29D">
                <a:alpha val="55000"/>
              </a:srgbClr>
            </a:solidFill>
            <a:prstDash val="solid"/>
          </a:ln>
        </p:spPr>
        <p:txBody>
          <a:bodyPr/>
          <a:lstStyle/>
          <a:p>
            <a:endParaRPr lang="en-PH"/>
          </a:p>
        </p:txBody>
      </p:sp>
      <p:sp>
        <p:nvSpPr>
          <p:cNvPr id="15" name="Shape 11"/>
          <p:cNvSpPr/>
          <p:nvPr/>
        </p:nvSpPr>
        <p:spPr>
          <a:xfrm>
            <a:off x="4663440" y="1965960"/>
            <a:ext cx="2880360" cy="0"/>
          </a:xfrm>
          <a:prstGeom prst="line">
            <a:avLst/>
          </a:prstGeom>
          <a:noFill/>
          <a:ln w="15240">
            <a:solidFill>
              <a:srgbClr val="7EF29D">
                <a:alpha val="70000"/>
              </a:srgbClr>
            </a:solidFill>
            <a:prstDash val="solid"/>
          </a:ln>
        </p:spPr>
        <p:txBody>
          <a:bodyPr/>
          <a:lstStyle/>
          <a:p>
            <a:endParaRPr lang="en-PH"/>
          </a:p>
        </p:txBody>
      </p:sp>
      <p:sp>
        <p:nvSpPr>
          <p:cNvPr id="16" name="Text 12"/>
          <p:cNvSpPr/>
          <p:nvPr/>
        </p:nvSpPr>
        <p:spPr>
          <a:xfrm>
            <a:off x="4727448" y="1645920"/>
            <a:ext cx="2752344" cy="256032"/>
          </a:xfrm>
          <a:prstGeom prst="rect">
            <a:avLst/>
          </a:prstGeom>
          <a:noFill/>
          <a:ln/>
        </p:spPr>
        <p:txBody>
          <a:bodyPr wrap="square" lIns="0" tIns="0" rIns="0" bIns="0" rtlCol="0" anchor="ctr">
            <a:normAutofit/>
          </a:bodyPr>
          <a:lstStyle/>
          <a:p>
            <a:pPr marL="0" indent="0">
              <a:buNone/>
            </a:pPr>
            <a:r>
              <a:rPr lang="en-US" sz="1300" b="1" dirty="0">
                <a:solidFill>
                  <a:srgbClr val="7EF29D"/>
                </a:solidFill>
                <a:latin typeface="Aptos Display" pitchFamily="34" charset="0"/>
                <a:ea typeface="Aptos Display" pitchFamily="34" charset="-122"/>
                <a:cs typeface="Aptos Display" pitchFamily="34" charset="-120"/>
              </a:rPr>
              <a:t>NLP contribution</a:t>
            </a:r>
            <a:endParaRPr lang="en-US" sz="1300" dirty="0"/>
          </a:p>
        </p:txBody>
      </p:sp>
      <p:sp>
        <p:nvSpPr>
          <p:cNvPr id="17" name="Text 13"/>
          <p:cNvSpPr/>
          <p:nvPr/>
        </p:nvSpPr>
        <p:spPr>
          <a:xfrm>
            <a:off x="4727448" y="2103120"/>
            <a:ext cx="2752344" cy="61264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Uses novelty, burstiness, semantic shift, and context-window disambiguation.</a:t>
            </a:r>
            <a:endParaRPr lang="en-US" sz="1100" dirty="0"/>
          </a:p>
        </p:txBody>
      </p:sp>
      <p:sp>
        <p:nvSpPr>
          <p:cNvPr id="18" name="Shape 14"/>
          <p:cNvSpPr/>
          <p:nvPr/>
        </p:nvSpPr>
        <p:spPr>
          <a:xfrm>
            <a:off x="8275320" y="1508760"/>
            <a:ext cx="3154680" cy="1325880"/>
          </a:xfrm>
          <a:prstGeom prst="roundRect">
            <a:avLst>
              <a:gd name="adj" fmla="val 9655"/>
            </a:avLst>
          </a:prstGeom>
          <a:solidFill>
            <a:srgbClr val="0E2638">
              <a:alpha val="95000"/>
            </a:srgbClr>
          </a:solidFill>
          <a:ln w="13970">
            <a:solidFill>
              <a:srgbClr val="B884FF">
                <a:alpha val="55000"/>
              </a:srgbClr>
            </a:solidFill>
            <a:prstDash val="solid"/>
          </a:ln>
        </p:spPr>
        <p:txBody>
          <a:bodyPr/>
          <a:lstStyle/>
          <a:p>
            <a:endParaRPr lang="en-PH"/>
          </a:p>
        </p:txBody>
      </p:sp>
      <p:sp>
        <p:nvSpPr>
          <p:cNvPr id="19" name="Shape 15"/>
          <p:cNvSpPr/>
          <p:nvPr/>
        </p:nvSpPr>
        <p:spPr>
          <a:xfrm>
            <a:off x="8412480" y="1965960"/>
            <a:ext cx="2880360" cy="0"/>
          </a:xfrm>
          <a:prstGeom prst="line">
            <a:avLst/>
          </a:prstGeom>
          <a:noFill/>
          <a:ln w="15240">
            <a:solidFill>
              <a:srgbClr val="B884FF">
                <a:alpha val="70000"/>
              </a:srgbClr>
            </a:solidFill>
            <a:prstDash val="solid"/>
          </a:ln>
        </p:spPr>
        <p:txBody>
          <a:bodyPr/>
          <a:lstStyle/>
          <a:p>
            <a:endParaRPr lang="en-PH"/>
          </a:p>
        </p:txBody>
      </p:sp>
      <p:sp>
        <p:nvSpPr>
          <p:cNvPr id="20" name="Text 16"/>
          <p:cNvSpPr/>
          <p:nvPr/>
        </p:nvSpPr>
        <p:spPr>
          <a:xfrm>
            <a:off x="8476488" y="1645920"/>
            <a:ext cx="2752344" cy="256032"/>
          </a:xfrm>
          <a:prstGeom prst="rect">
            <a:avLst/>
          </a:prstGeom>
          <a:noFill/>
          <a:ln/>
        </p:spPr>
        <p:txBody>
          <a:bodyPr wrap="square" lIns="0" tIns="0" rIns="0" bIns="0" rtlCol="0" anchor="ctr">
            <a:normAutofit/>
          </a:bodyPr>
          <a:lstStyle/>
          <a:p>
            <a:pPr marL="0" indent="0">
              <a:buNone/>
            </a:pPr>
            <a:r>
              <a:rPr lang="en-US" sz="1300" b="1" dirty="0">
                <a:solidFill>
                  <a:srgbClr val="B884FF"/>
                </a:solidFill>
                <a:latin typeface="Aptos Display" pitchFamily="34" charset="0"/>
                <a:ea typeface="Aptos Display" pitchFamily="34" charset="-122"/>
                <a:cs typeface="Aptos Display" pitchFamily="34" charset="-120"/>
              </a:rPr>
              <a:t>Evaluation contribution</a:t>
            </a:r>
            <a:endParaRPr lang="en-US" sz="1300" dirty="0"/>
          </a:p>
        </p:txBody>
      </p:sp>
      <p:sp>
        <p:nvSpPr>
          <p:cNvPr id="21" name="Text 17"/>
          <p:cNvSpPr/>
          <p:nvPr/>
        </p:nvSpPr>
        <p:spPr>
          <a:xfrm>
            <a:off x="8476488" y="2103120"/>
            <a:ext cx="2752344" cy="612648"/>
          </a:xfrm>
          <a:prstGeom prst="rect">
            <a:avLst/>
          </a:prstGeom>
          <a:noFill/>
          <a:ln/>
        </p:spPr>
        <p:txBody>
          <a:bodyPr wrap="square" lIns="254" tIns="254" rIns="254" bIns="254" rtlCol="0" anchor="ctr">
            <a:normAutofit/>
          </a:bodyPr>
          <a:lstStyle/>
          <a:p>
            <a:pPr marL="0" indent="0">
              <a:buNone/>
            </a:pPr>
            <a:r>
              <a:rPr lang="en-US" sz="1100" dirty="0">
                <a:solidFill>
                  <a:srgbClr val="F4FBFF"/>
                </a:solidFill>
                <a:latin typeface="Aptos" pitchFamily="34" charset="0"/>
                <a:ea typeface="Aptos" pitchFamily="34" charset="-122"/>
                <a:cs typeface="Aptos" pitchFamily="34" charset="-120"/>
              </a:rPr>
              <a:t>Combines lexicon validation and web usability testing using actual collected data.</a:t>
            </a:r>
            <a:endParaRPr lang="en-US" sz="1100" dirty="0"/>
          </a:p>
        </p:txBody>
      </p:sp>
      <p:sp>
        <p:nvSpPr>
          <p:cNvPr id="22" name="Text 18"/>
          <p:cNvSpPr/>
          <p:nvPr/>
        </p:nvSpPr>
        <p:spPr>
          <a:xfrm>
            <a:off x="868680" y="4160520"/>
            <a:ext cx="10469880" cy="594360"/>
          </a:xfrm>
          <a:prstGeom prst="rect">
            <a:avLst/>
          </a:prstGeom>
          <a:noFill/>
          <a:ln/>
        </p:spPr>
        <p:txBody>
          <a:bodyPr wrap="square" lIns="381" tIns="381" rIns="381" bIns="381" rtlCol="0" anchor="ctr">
            <a:normAutofit/>
          </a:bodyPr>
          <a:lstStyle/>
          <a:p>
            <a:pPr marL="0" indent="0" algn="ctr">
              <a:buNone/>
            </a:pPr>
            <a:r>
              <a:rPr lang="en-US" sz="2400" b="1" dirty="0">
                <a:solidFill>
                  <a:srgbClr val="F4FBFF"/>
                </a:solidFill>
                <a:latin typeface="Aptos Display" pitchFamily="34" charset="0"/>
                <a:ea typeface="Aptos Display" pitchFamily="34" charset="-122"/>
                <a:cs typeface="Aptos Display" pitchFamily="34" charset="-120"/>
              </a:rPr>
              <a:t>Pinoy Speak bridges fast-changing Filipino internet language and accessible language technology.</a:t>
            </a:r>
            <a:endParaRPr lang="en-US" sz="2400" dirty="0"/>
          </a:p>
        </p:txBody>
      </p:sp>
      <p:sp>
        <p:nvSpPr>
          <p:cNvPr id="23" name="Text 19"/>
          <p:cNvSpPr/>
          <p:nvPr/>
        </p:nvSpPr>
        <p:spPr>
          <a:xfrm>
            <a:off x="2971800" y="5074920"/>
            <a:ext cx="6263640" cy="411480"/>
          </a:xfrm>
          <a:prstGeom prst="rect">
            <a:avLst/>
          </a:prstGeom>
          <a:noFill/>
          <a:ln/>
        </p:spPr>
        <p:txBody>
          <a:bodyPr wrap="square" lIns="0" tIns="0" rIns="0" bIns="0" rtlCol="0" anchor="ctr"/>
          <a:lstStyle/>
          <a:p>
            <a:pPr marL="0" indent="0" algn="ctr">
              <a:buNone/>
            </a:pPr>
            <a:r>
              <a:rPr lang="en-US" sz="2100" b="1" dirty="0">
                <a:solidFill>
                  <a:srgbClr val="6CE5FF"/>
                </a:solidFill>
                <a:latin typeface="Aptos Display" pitchFamily="34" charset="0"/>
                <a:ea typeface="Aptos Display" pitchFamily="34" charset="-122"/>
                <a:cs typeface="Aptos Display" pitchFamily="34" charset="-120"/>
              </a:rPr>
              <a:t>Thank you. I am ready for your questions.</a:t>
            </a:r>
            <a:endParaRPr lang="en-US" sz="2100" dirty="0"/>
          </a:p>
        </p:txBody>
      </p:sp>
      <p:sp>
        <p:nvSpPr>
          <p:cNvPr id="25"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333333">
                <a:alpha val="0"/>
              </a:srgbClr>
            </a:solidFill>
            <a:prstDash val="solid"/>
          </a:ln>
        </p:spPr>
        <p:txBody>
          <a:bodyPr/>
          <a:lstStyle/>
          <a:p>
            <a:endParaRPr lang="en-PH" dirty="0"/>
          </a:p>
        </p:txBody>
      </p:sp>
      <p:sp>
        <p:nvSpPr>
          <p:cNvPr id="3" name="Shape 1"/>
          <p:cNvSpPr/>
          <p:nvPr/>
        </p:nvSpPr>
        <p:spPr>
          <a:xfrm>
            <a:off x="0" y="0"/>
            <a:ext cx="0" cy="6858000"/>
          </a:xfrm>
          <a:prstGeom prst="line">
            <a:avLst/>
          </a:prstGeom>
          <a:noFill/>
          <a:ln w="5080">
            <a:solidFill>
              <a:srgbClr val="10344D">
                <a:alpha val="14000"/>
              </a:srgbClr>
            </a:solidFill>
            <a:prstDash val="solid"/>
          </a:ln>
        </p:spPr>
        <p:txBody>
          <a:bodyPr/>
          <a:lstStyle/>
          <a:p>
            <a:endParaRPr lang="en-PH"/>
          </a:p>
        </p:txBody>
      </p:sp>
      <p:sp>
        <p:nvSpPr>
          <p:cNvPr id="4" name="Shape 2"/>
          <p:cNvSpPr/>
          <p:nvPr/>
        </p:nvSpPr>
        <p:spPr>
          <a:xfrm>
            <a:off x="914400" y="0"/>
            <a:ext cx="0" cy="6858000"/>
          </a:xfrm>
          <a:prstGeom prst="line">
            <a:avLst/>
          </a:prstGeom>
          <a:noFill/>
          <a:ln w="5080">
            <a:solidFill>
              <a:srgbClr val="10344D">
                <a:alpha val="14000"/>
              </a:srgbClr>
            </a:solidFill>
            <a:prstDash val="solid"/>
          </a:ln>
        </p:spPr>
        <p:txBody>
          <a:bodyPr/>
          <a:lstStyle/>
          <a:p>
            <a:endParaRPr lang="en-PH"/>
          </a:p>
        </p:txBody>
      </p:sp>
      <p:sp>
        <p:nvSpPr>
          <p:cNvPr id="5" name="Shape 3"/>
          <p:cNvSpPr/>
          <p:nvPr/>
        </p:nvSpPr>
        <p:spPr>
          <a:xfrm>
            <a:off x="1828800" y="0"/>
            <a:ext cx="0" cy="6858000"/>
          </a:xfrm>
          <a:prstGeom prst="line">
            <a:avLst/>
          </a:prstGeom>
          <a:noFill/>
          <a:ln w="5080">
            <a:solidFill>
              <a:srgbClr val="10344D">
                <a:alpha val="14000"/>
              </a:srgbClr>
            </a:solidFill>
            <a:prstDash val="solid"/>
          </a:ln>
        </p:spPr>
        <p:txBody>
          <a:bodyPr/>
          <a:lstStyle/>
          <a:p>
            <a:endParaRPr lang="en-PH"/>
          </a:p>
        </p:txBody>
      </p:sp>
      <p:sp>
        <p:nvSpPr>
          <p:cNvPr id="6" name="Shape 4"/>
          <p:cNvSpPr/>
          <p:nvPr/>
        </p:nvSpPr>
        <p:spPr>
          <a:xfrm>
            <a:off x="2743200" y="0"/>
            <a:ext cx="0" cy="6858000"/>
          </a:xfrm>
          <a:prstGeom prst="line">
            <a:avLst/>
          </a:prstGeom>
          <a:noFill/>
          <a:ln w="5080">
            <a:solidFill>
              <a:srgbClr val="10344D">
                <a:alpha val="14000"/>
              </a:srgbClr>
            </a:solidFill>
            <a:prstDash val="solid"/>
          </a:ln>
        </p:spPr>
        <p:txBody>
          <a:bodyPr/>
          <a:lstStyle/>
          <a:p>
            <a:endParaRPr lang="en-PH"/>
          </a:p>
        </p:txBody>
      </p:sp>
      <p:sp>
        <p:nvSpPr>
          <p:cNvPr id="7" name="Shape 5"/>
          <p:cNvSpPr/>
          <p:nvPr/>
        </p:nvSpPr>
        <p:spPr>
          <a:xfrm>
            <a:off x="3657600" y="0"/>
            <a:ext cx="0" cy="6858000"/>
          </a:xfrm>
          <a:prstGeom prst="line">
            <a:avLst/>
          </a:prstGeom>
          <a:noFill/>
          <a:ln w="5080">
            <a:solidFill>
              <a:srgbClr val="10344D">
                <a:alpha val="14000"/>
              </a:srgbClr>
            </a:solidFill>
            <a:prstDash val="solid"/>
          </a:ln>
        </p:spPr>
        <p:txBody>
          <a:bodyPr/>
          <a:lstStyle/>
          <a:p>
            <a:endParaRPr lang="en-PH"/>
          </a:p>
        </p:txBody>
      </p:sp>
      <p:sp>
        <p:nvSpPr>
          <p:cNvPr id="8" name="Shape 6"/>
          <p:cNvSpPr/>
          <p:nvPr/>
        </p:nvSpPr>
        <p:spPr>
          <a:xfrm>
            <a:off x="4572000" y="0"/>
            <a:ext cx="0" cy="6858000"/>
          </a:xfrm>
          <a:prstGeom prst="line">
            <a:avLst/>
          </a:prstGeom>
          <a:noFill/>
          <a:ln w="5080">
            <a:solidFill>
              <a:srgbClr val="10344D">
                <a:alpha val="14000"/>
              </a:srgbClr>
            </a:solidFill>
            <a:prstDash val="solid"/>
          </a:ln>
        </p:spPr>
        <p:txBody>
          <a:bodyPr/>
          <a:lstStyle/>
          <a:p>
            <a:endParaRPr lang="en-PH"/>
          </a:p>
        </p:txBody>
      </p:sp>
      <p:sp>
        <p:nvSpPr>
          <p:cNvPr id="9" name="Shape 7"/>
          <p:cNvSpPr/>
          <p:nvPr/>
        </p:nvSpPr>
        <p:spPr>
          <a:xfrm>
            <a:off x="5486400" y="0"/>
            <a:ext cx="0" cy="6858000"/>
          </a:xfrm>
          <a:prstGeom prst="line">
            <a:avLst/>
          </a:prstGeom>
          <a:noFill/>
          <a:ln w="5080">
            <a:solidFill>
              <a:srgbClr val="10344D">
                <a:alpha val="14000"/>
              </a:srgbClr>
            </a:solidFill>
            <a:prstDash val="solid"/>
          </a:ln>
        </p:spPr>
        <p:txBody>
          <a:bodyPr/>
          <a:lstStyle/>
          <a:p>
            <a:endParaRPr lang="en-PH"/>
          </a:p>
        </p:txBody>
      </p:sp>
      <p:sp>
        <p:nvSpPr>
          <p:cNvPr id="10" name="Shape 8"/>
          <p:cNvSpPr/>
          <p:nvPr/>
        </p:nvSpPr>
        <p:spPr>
          <a:xfrm>
            <a:off x="6400800" y="0"/>
            <a:ext cx="0" cy="6858000"/>
          </a:xfrm>
          <a:prstGeom prst="line">
            <a:avLst/>
          </a:prstGeom>
          <a:noFill/>
          <a:ln w="5080">
            <a:solidFill>
              <a:srgbClr val="10344D">
                <a:alpha val="14000"/>
              </a:srgbClr>
            </a:solidFill>
            <a:prstDash val="solid"/>
          </a:ln>
        </p:spPr>
        <p:txBody>
          <a:bodyPr/>
          <a:lstStyle/>
          <a:p>
            <a:endParaRPr lang="en-PH"/>
          </a:p>
        </p:txBody>
      </p:sp>
      <p:sp>
        <p:nvSpPr>
          <p:cNvPr id="11" name="Shape 9"/>
          <p:cNvSpPr/>
          <p:nvPr/>
        </p:nvSpPr>
        <p:spPr>
          <a:xfrm>
            <a:off x="7315200" y="0"/>
            <a:ext cx="0" cy="6858000"/>
          </a:xfrm>
          <a:prstGeom prst="line">
            <a:avLst/>
          </a:prstGeom>
          <a:noFill/>
          <a:ln w="5080">
            <a:solidFill>
              <a:srgbClr val="10344D">
                <a:alpha val="14000"/>
              </a:srgbClr>
            </a:solidFill>
            <a:prstDash val="solid"/>
          </a:ln>
        </p:spPr>
        <p:txBody>
          <a:bodyPr/>
          <a:lstStyle/>
          <a:p>
            <a:endParaRPr lang="en-PH"/>
          </a:p>
        </p:txBody>
      </p:sp>
      <p:sp>
        <p:nvSpPr>
          <p:cNvPr id="12" name="Shape 10"/>
          <p:cNvSpPr/>
          <p:nvPr/>
        </p:nvSpPr>
        <p:spPr>
          <a:xfrm>
            <a:off x="8229600" y="0"/>
            <a:ext cx="0" cy="6858000"/>
          </a:xfrm>
          <a:prstGeom prst="line">
            <a:avLst/>
          </a:prstGeom>
          <a:noFill/>
          <a:ln w="5080">
            <a:solidFill>
              <a:srgbClr val="10344D">
                <a:alpha val="14000"/>
              </a:srgbClr>
            </a:solidFill>
            <a:prstDash val="solid"/>
          </a:ln>
        </p:spPr>
        <p:txBody>
          <a:bodyPr/>
          <a:lstStyle/>
          <a:p>
            <a:endParaRPr lang="en-PH"/>
          </a:p>
        </p:txBody>
      </p:sp>
      <p:sp>
        <p:nvSpPr>
          <p:cNvPr id="13" name="Shape 11"/>
          <p:cNvSpPr/>
          <p:nvPr/>
        </p:nvSpPr>
        <p:spPr>
          <a:xfrm>
            <a:off x="9144000" y="0"/>
            <a:ext cx="0" cy="6858000"/>
          </a:xfrm>
          <a:prstGeom prst="line">
            <a:avLst/>
          </a:prstGeom>
          <a:noFill/>
          <a:ln w="5080">
            <a:solidFill>
              <a:srgbClr val="10344D">
                <a:alpha val="14000"/>
              </a:srgbClr>
            </a:solidFill>
            <a:prstDash val="solid"/>
          </a:ln>
        </p:spPr>
        <p:txBody>
          <a:bodyPr/>
          <a:lstStyle/>
          <a:p>
            <a:endParaRPr lang="en-PH"/>
          </a:p>
        </p:txBody>
      </p:sp>
      <p:sp>
        <p:nvSpPr>
          <p:cNvPr id="14" name="Shape 12"/>
          <p:cNvSpPr/>
          <p:nvPr/>
        </p:nvSpPr>
        <p:spPr>
          <a:xfrm>
            <a:off x="10058400" y="0"/>
            <a:ext cx="0" cy="6858000"/>
          </a:xfrm>
          <a:prstGeom prst="line">
            <a:avLst/>
          </a:prstGeom>
          <a:noFill/>
          <a:ln w="5080">
            <a:solidFill>
              <a:srgbClr val="10344D">
                <a:alpha val="14000"/>
              </a:srgbClr>
            </a:solidFill>
            <a:prstDash val="solid"/>
          </a:ln>
        </p:spPr>
        <p:txBody>
          <a:bodyPr/>
          <a:lstStyle/>
          <a:p>
            <a:endParaRPr lang="en-PH"/>
          </a:p>
        </p:txBody>
      </p:sp>
      <p:sp>
        <p:nvSpPr>
          <p:cNvPr id="15" name="Shape 13"/>
          <p:cNvSpPr/>
          <p:nvPr/>
        </p:nvSpPr>
        <p:spPr>
          <a:xfrm>
            <a:off x="10972800" y="0"/>
            <a:ext cx="0" cy="6858000"/>
          </a:xfrm>
          <a:prstGeom prst="line">
            <a:avLst/>
          </a:prstGeom>
          <a:noFill/>
          <a:ln w="5080">
            <a:solidFill>
              <a:srgbClr val="10344D">
                <a:alpha val="14000"/>
              </a:srgbClr>
            </a:solidFill>
            <a:prstDash val="solid"/>
          </a:ln>
        </p:spPr>
        <p:txBody>
          <a:bodyPr/>
          <a:lstStyle/>
          <a:p>
            <a:endParaRPr lang="en-PH"/>
          </a:p>
        </p:txBody>
      </p:sp>
      <p:sp>
        <p:nvSpPr>
          <p:cNvPr id="16" name="Shape 14"/>
          <p:cNvSpPr/>
          <p:nvPr/>
        </p:nvSpPr>
        <p:spPr>
          <a:xfrm>
            <a:off x="11887200" y="0"/>
            <a:ext cx="0" cy="6858000"/>
          </a:xfrm>
          <a:prstGeom prst="line">
            <a:avLst/>
          </a:prstGeom>
          <a:noFill/>
          <a:ln w="5080">
            <a:solidFill>
              <a:srgbClr val="10344D">
                <a:alpha val="14000"/>
              </a:srgbClr>
            </a:solidFill>
            <a:prstDash val="solid"/>
          </a:ln>
        </p:spPr>
        <p:txBody>
          <a:bodyPr/>
          <a:lstStyle/>
          <a:p>
            <a:endParaRPr lang="en-PH"/>
          </a:p>
        </p:txBody>
      </p:sp>
      <p:sp>
        <p:nvSpPr>
          <p:cNvPr id="17" name="Shape 15"/>
          <p:cNvSpPr/>
          <p:nvPr/>
        </p:nvSpPr>
        <p:spPr>
          <a:xfrm>
            <a:off x="0" y="0"/>
            <a:ext cx="12191695" cy="0"/>
          </a:xfrm>
          <a:prstGeom prst="line">
            <a:avLst/>
          </a:prstGeom>
          <a:noFill/>
          <a:ln w="5080">
            <a:solidFill>
              <a:srgbClr val="10344D">
                <a:alpha val="12000"/>
              </a:srgbClr>
            </a:solidFill>
            <a:prstDash val="solid"/>
          </a:ln>
        </p:spPr>
        <p:txBody>
          <a:bodyPr/>
          <a:lstStyle/>
          <a:p>
            <a:endParaRPr lang="en-PH"/>
          </a:p>
        </p:txBody>
      </p:sp>
      <p:sp>
        <p:nvSpPr>
          <p:cNvPr id="18" name="Shape 16"/>
          <p:cNvSpPr/>
          <p:nvPr/>
        </p:nvSpPr>
        <p:spPr>
          <a:xfrm>
            <a:off x="0" y="914400"/>
            <a:ext cx="12191695" cy="0"/>
          </a:xfrm>
          <a:prstGeom prst="line">
            <a:avLst/>
          </a:prstGeom>
          <a:noFill/>
          <a:ln w="5080">
            <a:solidFill>
              <a:srgbClr val="10344D">
                <a:alpha val="12000"/>
              </a:srgbClr>
            </a:solidFill>
            <a:prstDash val="solid"/>
          </a:ln>
        </p:spPr>
        <p:txBody>
          <a:bodyPr/>
          <a:lstStyle/>
          <a:p>
            <a:endParaRPr lang="en-PH"/>
          </a:p>
        </p:txBody>
      </p:sp>
      <p:sp>
        <p:nvSpPr>
          <p:cNvPr id="19" name="Shape 17"/>
          <p:cNvSpPr/>
          <p:nvPr/>
        </p:nvSpPr>
        <p:spPr>
          <a:xfrm>
            <a:off x="0" y="1828800"/>
            <a:ext cx="12191695" cy="0"/>
          </a:xfrm>
          <a:prstGeom prst="line">
            <a:avLst/>
          </a:prstGeom>
          <a:noFill/>
          <a:ln w="5080">
            <a:solidFill>
              <a:srgbClr val="10344D">
                <a:alpha val="12000"/>
              </a:srgbClr>
            </a:solidFill>
            <a:prstDash val="solid"/>
          </a:ln>
        </p:spPr>
        <p:txBody>
          <a:bodyPr/>
          <a:lstStyle/>
          <a:p>
            <a:endParaRPr lang="en-PH"/>
          </a:p>
        </p:txBody>
      </p:sp>
      <p:sp>
        <p:nvSpPr>
          <p:cNvPr id="20" name="Shape 18"/>
          <p:cNvSpPr/>
          <p:nvPr/>
        </p:nvSpPr>
        <p:spPr>
          <a:xfrm>
            <a:off x="0" y="2743200"/>
            <a:ext cx="12191695" cy="0"/>
          </a:xfrm>
          <a:prstGeom prst="line">
            <a:avLst/>
          </a:prstGeom>
          <a:noFill/>
          <a:ln w="5080">
            <a:solidFill>
              <a:srgbClr val="10344D">
                <a:alpha val="12000"/>
              </a:srgbClr>
            </a:solidFill>
            <a:prstDash val="solid"/>
          </a:ln>
        </p:spPr>
        <p:txBody>
          <a:bodyPr/>
          <a:lstStyle/>
          <a:p>
            <a:endParaRPr lang="en-PH"/>
          </a:p>
        </p:txBody>
      </p:sp>
      <p:sp>
        <p:nvSpPr>
          <p:cNvPr id="21" name="Shape 19"/>
          <p:cNvSpPr/>
          <p:nvPr/>
        </p:nvSpPr>
        <p:spPr>
          <a:xfrm>
            <a:off x="0" y="3657600"/>
            <a:ext cx="12191695" cy="0"/>
          </a:xfrm>
          <a:prstGeom prst="line">
            <a:avLst/>
          </a:prstGeom>
          <a:noFill/>
          <a:ln w="5080">
            <a:solidFill>
              <a:srgbClr val="10344D">
                <a:alpha val="12000"/>
              </a:srgbClr>
            </a:solidFill>
            <a:prstDash val="solid"/>
          </a:ln>
        </p:spPr>
        <p:txBody>
          <a:bodyPr/>
          <a:lstStyle/>
          <a:p>
            <a:endParaRPr lang="en-PH"/>
          </a:p>
        </p:txBody>
      </p:sp>
      <p:sp>
        <p:nvSpPr>
          <p:cNvPr id="22" name="Shape 20"/>
          <p:cNvSpPr/>
          <p:nvPr/>
        </p:nvSpPr>
        <p:spPr>
          <a:xfrm>
            <a:off x="0" y="4572000"/>
            <a:ext cx="12191695" cy="0"/>
          </a:xfrm>
          <a:prstGeom prst="line">
            <a:avLst/>
          </a:prstGeom>
          <a:noFill/>
          <a:ln w="5080">
            <a:solidFill>
              <a:srgbClr val="10344D">
                <a:alpha val="12000"/>
              </a:srgbClr>
            </a:solidFill>
            <a:prstDash val="solid"/>
          </a:ln>
        </p:spPr>
        <p:txBody>
          <a:bodyPr/>
          <a:lstStyle/>
          <a:p>
            <a:endParaRPr lang="en-PH"/>
          </a:p>
        </p:txBody>
      </p:sp>
      <p:sp>
        <p:nvSpPr>
          <p:cNvPr id="23" name="Shape 21"/>
          <p:cNvSpPr/>
          <p:nvPr/>
        </p:nvSpPr>
        <p:spPr>
          <a:xfrm>
            <a:off x="0" y="5486400"/>
            <a:ext cx="12191695" cy="0"/>
          </a:xfrm>
          <a:prstGeom prst="line">
            <a:avLst/>
          </a:prstGeom>
          <a:noFill/>
          <a:ln w="5080">
            <a:solidFill>
              <a:srgbClr val="10344D">
                <a:alpha val="12000"/>
              </a:srgbClr>
            </a:solidFill>
            <a:prstDash val="solid"/>
          </a:ln>
        </p:spPr>
        <p:txBody>
          <a:bodyPr/>
          <a:lstStyle/>
          <a:p>
            <a:endParaRPr lang="en-PH"/>
          </a:p>
        </p:txBody>
      </p:sp>
      <p:sp>
        <p:nvSpPr>
          <p:cNvPr id="24" name="Shape 22"/>
          <p:cNvSpPr/>
          <p:nvPr/>
        </p:nvSpPr>
        <p:spPr>
          <a:xfrm>
            <a:off x="0" y="6400800"/>
            <a:ext cx="12191695" cy="0"/>
          </a:xfrm>
          <a:prstGeom prst="line">
            <a:avLst/>
          </a:prstGeom>
          <a:noFill/>
          <a:ln w="5080">
            <a:solidFill>
              <a:srgbClr val="10344D">
                <a:alpha val="12000"/>
              </a:srgbClr>
            </a:solidFill>
            <a:prstDash val="solid"/>
          </a:ln>
        </p:spPr>
        <p:txBody>
          <a:bodyPr/>
          <a:lstStyle/>
          <a:p>
            <a:endParaRPr lang="en-PH"/>
          </a:p>
        </p:txBody>
      </p:sp>
      <p:sp>
        <p:nvSpPr>
          <p:cNvPr id="25" name="Text 23"/>
          <p:cNvSpPr/>
          <p:nvPr/>
        </p:nvSpPr>
        <p:spPr>
          <a:xfrm>
            <a:off x="594360" y="411480"/>
            <a:ext cx="8138160" cy="475488"/>
          </a:xfrm>
          <a:prstGeom prst="rect">
            <a:avLst/>
          </a:prstGeom>
          <a:noFill/>
          <a:ln/>
        </p:spPr>
        <p:txBody>
          <a:bodyPr wrap="square" lIns="254" tIns="254" rIns="254" bIns="254" rtlCol="0" anchor="ctr">
            <a:normAutofit/>
          </a:bodyPr>
          <a:lstStyle/>
          <a:p>
            <a:pPr marL="0" indent="0">
              <a:buNone/>
            </a:pPr>
            <a:r>
              <a:rPr lang="en-US" sz="2600" b="1" dirty="0">
                <a:solidFill>
                  <a:srgbClr val="F4FBFF"/>
                </a:solidFill>
                <a:latin typeface="Aptos Display" pitchFamily="34" charset="0"/>
                <a:ea typeface="Aptos Display" pitchFamily="34" charset="-122"/>
                <a:cs typeface="Aptos Display" pitchFamily="34" charset="-120"/>
              </a:rPr>
              <a:t>Key references used in the study</a:t>
            </a:r>
            <a:endParaRPr lang="en-US" sz="2600" dirty="0"/>
          </a:p>
        </p:txBody>
      </p:sp>
      <p:sp>
        <p:nvSpPr>
          <p:cNvPr id="26" name="Shape 24"/>
          <p:cNvSpPr/>
          <p:nvPr/>
        </p:nvSpPr>
        <p:spPr>
          <a:xfrm>
            <a:off x="594360" y="987552"/>
            <a:ext cx="1143000" cy="0"/>
          </a:xfrm>
          <a:prstGeom prst="line">
            <a:avLst/>
          </a:prstGeom>
          <a:noFill/>
          <a:ln w="38100">
            <a:solidFill>
              <a:srgbClr val="2EE8E1"/>
            </a:solidFill>
            <a:prstDash val="solid"/>
          </a:ln>
        </p:spPr>
        <p:txBody>
          <a:bodyPr/>
          <a:lstStyle/>
          <a:p>
            <a:endParaRPr lang="en-PH"/>
          </a:p>
        </p:txBody>
      </p:sp>
      <p:sp>
        <p:nvSpPr>
          <p:cNvPr id="27" name="Text 25"/>
          <p:cNvSpPr/>
          <p:nvPr/>
        </p:nvSpPr>
        <p:spPr>
          <a:xfrm>
            <a:off x="1874520" y="896112"/>
            <a:ext cx="6949440" cy="228600"/>
          </a:xfrm>
          <a:prstGeom prst="rect">
            <a:avLst/>
          </a:prstGeom>
          <a:noFill/>
          <a:ln/>
        </p:spPr>
        <p:txBody>
          <a:bodyPr wrap="square" lIns="0" tIns="0" rIns="0" bIns="0" rtlCol="0" anchor="ctr"/>
          <a:lstStyle/>
          <a:p>
            <a:pPr marL="0" indent="0">
              <a:buNone/>
            </a:pPr>
            <a:r>
              <a:rPr lang="en-US" sz="950" dirty="0">
                <a:solidFill>
                  <a:srgbClr val="A7C3D4"/>
                </a:solidFill>
                <a:latin typeface="Aptos" pitchFamily="34" charset="0"/>
                <a:ea typeface="Aptos" pitchFamily="34" charset="-122"/>
                <a:cs typeface="Aptos" pitchFamily="34" charset="-120"/>
              </a:rPr>
              <a:t>References</a:t>
            </a:r>
            <a:endParaRPr lang="en-US" sz="950" dirty="0"/>
          </a:p>
        </p:txBody>
      </p:sp>
      <p:sp>
        <p:nvSpPr>
          <p:cNvPr id="28" name="Shape 26"/>
          <p:cNvSpPr/>
          <p:nvPr/>
        </p:nvSpPr>
        <p:spPr>
          <a:xfrm>
            <a:off x="9464040" y="475488"/>
            <a:ext cx="2057400" cy="329184"/>
          </a:xfrm>
          <a:prstGeom prst="roundRect">
            <a:avLst>
              <a:gd name="adj" fmla="val 22222"/>
            </a:avLst>
          </a:prstGeom>
          <a:solidFill>
            <a:srgbClr val="B884FF">
              <a:alpha val="14000"/>
            </a:srgbClr>
          </a:solidFill>
          <a:ln w="12700">
            <a:solidFill>
              <a:srgbClr val="B884FF">
                <a:alpha val="70000"/>
              </a:srgbClr>
            </a:solidFill>
            <a:prstDash val="solid"/>
          </a:ln>
        </p:spPr>
        <p:txBody>
          <a:bodyPr/>
          <a:lstStyle/>
          <a:p>
            <a:endParaRPr lang="en-PH"/>
          </a:p>
        </p:txBody>
      </p:sp>
      <p:sp>
        <p:nvSpPr>
          <p:cNvPr id="29" name="Text 27"/>
          <p:cNvSpPr/>
          <p:nvPr/>
        </p:nvSpPr>
        <p:spPr>
          <a:xfrm>
            <a:off x="9537192" y="544068"/>
            <a:ext cx="1911096" cy="164592"/>
          </a:xfrm>
          <a:prstGeom prst="rect">
            <a:avLst/>
          </a:prstGeom>
          <a:noFill/>
          <a:ln/>
        </p:spPr>
        <p:txBody>
          <a:bodyPr wrap="square" lIns="0" tIns="0" rIns="0" bIns="0" rtlCol="0" anchor="ctr"/>
          <a:lstStyle/>
          <a:p>
            <a:pPr marL="0" indent="0" algn="ctr">
              <a:buNone/>
            </a:pPr>
            <a:r>
              <a:rPr lang="en-US" sz="880" b="1" dirty="0">
                <a:solidFill>
                  <a:srgbClr val="F4FBFF"/>
                </a:solidFill>
                <a:latin typeface="Aptos" pitchFamily="34" charset="0"/>
                <a:ea typeface="Aptos" pitchFamily="34" charset="-122"/>
                <a:cs typeface="Aptos" pitchFamily="34" charset="-120"/>
              </a:rPr>
              <a:t>References</a:t>
            </a:r>
            <a:endParaRPr lang="en-US" sz="880" dirty="0"/>
          </a:p>
        </p:txBody>
      </p:sp>
      <p:sp>
        <p:nvSpPr>
          <p:cNvPr id="31" name="Text 28"/>
          <p:cNvSpPr/>
          <p:nvPr/>
        </p:nvSpPr>
        <p:spPr>
          <a:xfrm>
            <a:off x="822960" y="1325880"/>
            <a:ext cx="10515600" cy="2834640"/>
          </a:xfrm>
          <a:prstGeom prst="rect">
            <a:avLst/>
          </a:prstGeom>
          <a:noFill/>
          <a:ln/>
        </p:spPr>
        <p:txBody>
          <a:bodyPr wrap="square" lIns="635" tIns="635" rIns="635" bIns="635" rtlCol="0" anchor="ctr">
            <a:normAutofit/>
          </a:bodyPr>
          <a:lstStyle/>
          <a:p>
            <a:pPr marL="0" indent="0">
              <a:buNone/>
            </a:pPr>
            <a:r>
              <a:rPr lang="en-US" sz="1420" dirty="0">
                <a:solidFill>
                  <a:srgbClr val="F4FBFF"/>
                </a:solidFill>
                <a:latin typeface="Aptos" pitchFamily="34" charset="0"/>
                <a:ea typeface="Aptos" pitchFamily="34" charset="-122"/>
                <a:cs typeface="Aptos" pitchFamily="34" charset="-120"/>
              </a:rPr>
              <a:t>• Bautista (2004); Poplack (1980); Thompson (2003) — code-switching and Taglish</a:t>
            </a:r>
            <a:endParaRPr lang="en-US" sz="1420" dirty="0"/>
          </a:p>
          <a:p>
            <a:pPr marL="0" indent="0">
              <a:buNone/>
            </a:pPr>
            <a:r>
              <a:rPr lang="en-US" sz="1420" dirty="0">
                <a:solidFill>
                  <a:srgbClr val="F4FBFF"/>
                </a:solidFill>
                <a:latin typeface="Aptos" pitchFamily="34" charset="0"/>
                <a:ea typeface="Aptos" pitchFamily="34" charset="-122"/>
                <a:cs typeface="Aptos" pitchFamily="34" charset="-120"/>
              </a:rPr>
              <a:t>• Bojanowski et al. (2017) — FastText subword embeddings</a:t>
            </a:r>
            <a:endParaRPr lang="en-US" sz="1420" dirty="0"/>
          </a:p>
          <a:p>
            <a:pPr marL="0" indent="0">
              <a:buNone/>
            </a:pPr>
            <a:r>
              <a:rPr lang="en-US" sz="1420" dirty="0">
                <a:solidFill>
                  <a:srgbClr val="F4FBFF"/>
                </a:solidFill>
                <a:latin typeface="Aptos" pitchFamily="34" charset="0"/>
                <a:ea typeface="Aptos" pitchFamily="34" charset="-122"/>
                <a:cs typeface="Aptos" pitchFamily="34" charset="-120"/>
              </a:rPr>
              <a:t>• Hamilton et al. (2016); Kutuzov et al. (2018); Bamler &amp; Mandt (2017) — semantic shift</a:t>
            </a:r>
            <a:endParaRPr lang="en-US" sz="1420" dirty="0"/>
          </a:p>
          <a:p>
            <a:pPr marL="0" indent="0">
              <a:buNone/>
            </a:pPr>
            <a:r>
              <a:rPr lang="en-US" sz="1420" dirty="0">
                <a:solidFill>
                  <a:srgbClr val="F4FBFF"/>
                </a:solidFill>
                <a:latin typeface="Aptos" pitchFamily="34" charset="0"/>
                <a:ea typeface="Aptos" pitchFamily="34" charset="-122"/>
                <a:cs typeface="Aptos" pitchFamily="34" charset="-120"/>
              </a:rPr>
              <a:t>• Lewis et al. (2020) — retrieval-augmented generation</a:t>
            </a:r>
            <a:endParaRPr lang="en-US" sz="1420" dirty="0"/>
          </a:p>
          <a:p>
            <a:pPr marL="0" indent="0">
              <a:buNone/>
            </a:pPr>
            <a:r>
              <a:rPr lang="en-US" sz="1420" dirty="0">
                <a:solidFill>
                  <a:srgbClr val="F4FBFF"/>
                </a:solidFill>
                <a:latin typeface="Aptos" pitchFamily="34" charset="0"/>
                <a:ea typeface="Aptos" pitchFamily="34" charset="-122"/>
                <a:cs typeface="Aptos" pitchFamily="34" charset="-120"/>
              </a:rPr>
              <a:t>• Brooke (1996) — usability evaluation</a:t>
            </a:r>
            <a:endParaRPr lang="en-US" sz="1420" dirty="0"/>
          </a:p>
          <a:p>
            <a:pPr marL="0" indent="0">
              <a:buNone/>
            </a:pPr>
            <a:r>
              <a:rPr lang="en-US" sz="1420" dirty="0">
                <a:solidFill>
                  <a:srgbClr val="F4FBFF"/>
                </a:solidFill>
                <a:latin typeface="Aptos" pitchFamily="34" charset="0"/>
                <a:ea typeface="Aptos" pitchFamily="34" charset="-122"/>
                <a:cs typeface="Aptos" pitchFamily="34" charset="-120"/>
              </a:rPr>
              <a:t>• Ocampo &amp; Clariño (2023) — Filipino NLP and native Filipino annotators</a:t>
            </a:r>
            <a:endParaRPr lang="en-US" sz="1420" dirty="0"/>
          </a:p>
        </p:txBody>
      </p:sp>
      <p:sp>
        <p:nvSpPr>
          <p:cNvPr id="34" name="Text 31"/>
          <p:cNvSpPr/>
          <p:nvPr/>
        </p:nvSpPr>
        <p:spPr>
          <a:xfrm>
            <a:off x="1069848" y="4846320"/>
            <a:ext cx="9976104" cy="256032"/>
          </a:xfrm>
          <a:prstGeom prst="rect">
            <a:avLst/>
          </a:prstGeom>
          <a:noFill/>
          <a:ln/>
        </p:spPr>
        <p:txBody>
          <a:bodyPr wrap="square" lIns="0" tIns="0" rIns="0" bIns="0" rtlCol="0" anchor="ctr">
            <a:normAutofit/>
          </a:bodyPr>
          <a:lstStyle/>
          <a:p>
            <a:pPr marL="0" indent="0">
              <a:buNone/>
            </a:pPr>
            <a:endParaRPr lang="en-US" sz="1200" dirty="0"/>
          </a:p>
        </p:txBody>
      </p:sp>
      <p:sp>
        <p:nvSpPr>
          <p:cNvPr id="35" name="Text 32"/>
          <p:cNvSpPr/>
          <p:nvPr/>
        </p:nvSpPr>
        <p:spPr>
          <a:xfrm>
            <a:off x="1069848" y="5303520"/>
            <a:ext cx="9976104" cy="64008"/>
          </a:xfrm>
          <a:prstGeom prst="rect">
            <a:avLst/>
          </a:prstGeom>
          <a:noFill/>
          <a:ln/>
        </p:spPr>
        <p:txBody>
          <a:bodyPr wrap="square" lIns="254" tIns="254" rIns="254" bIns="254" rtlCol="0" anchor="ctr">
            <a:normAutofit fontScale="47500" lnSpcReduction="20000"/>
          </a:bodyPr>
          <a:lstStyle/>
          <a:p>
            <a:pPr marL="0" indent="0">
              <a:buNone/>
            </a:pPr>
            <a:endParaRPr lang="en-US" sz="1100" dirty="0"/>
          </a:p>
        </p:txBody>
      </p:sp>
      <p:sp>
        <p:nvSpPr>
          <p:cNvPr id="30" name="Slide Number Placeholder 0"/>
          <p:cNvSpPr>
            <a:spLocks noGrp="1"/>
          </p:cNvSpPr>
          <p:nvPr>
            <p:ph type="sldNum" sz="quarter" idx="4294967295"/>
          </p:nvPr>
        </p:nvSpPr>
        <p:spPr>
          <a:xfrm>
            <a:off x="1175004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8CB8C7"/>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464</TotalTime>
  <Words>2098</Words>
  <Application>Microsoft Office PowerPoint</Application>
  <PresentationFormat>Widescreen</PresentationFormat>
  <Paragraphs>274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UPLB Institute of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Pinoy Speak: A Trend Analysis and Contextual Lexicon System for Informal Filipino Text</dc:title>
  <dc:subject>Pinoy Speak Capstone Presentation</dc:subject>
  <dc:creator>Carl Timothy E. Clemente</dc:creator>
  <cp:lastModifiedBy>Carl Timothy Clemente</cp:lastModifiedBy>
  <cp:revision>4</cp:revision>
  <dcterms:created xsi:type="dcterms:W3CDTF">2026-05-15T19:18:15Z</dcterms:created>
  <dcterms:modified xsi:type="dcterms:W3CDTF">2026-05-26T06:43:02Z</dcterms:modified>
</cp:coreProperties>
</file>